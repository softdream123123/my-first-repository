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各位好，这次汇报的主题是 AI 智能面试助手的技术解构。它是一个跑在单机上的 Web 应用，用 AI 辅助真人面试官完成面试全流程，同时让候选人自己完成录简历、在线作答、刷题练习和查看反馈。接下来的四十分钟左右，我会分五个部分展开：项目概述与背景、业务流程、技术栈、六个核心模块的源码级讲解，最后是工程收获与展望。第四部分是重点，每个模块我都会讲清楚它当时遇上了什么问题，以及为什么最后那样设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整体结构。全场分五个部分：第一部分是项目概述与背景，回答它解决什么问题、从哪来、边界画在哪；第二部分是业务流程，包含两条主线和一条把两端缝起来的简历驱动链路，还有两个状态机；第三部分是技术栈，讲选型、分层、模块边界和数据模型；第四部分是最核心的，六个模块的源码级讲解，每个模块都是固定三段式，实现、序列图、问题与解决；第五部分是工程收获、已知局限和下一步规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第一部分开始：项目概述与背景。这部分要回答三个问题——这个产品解决什么问题、它是怎么一步步长成现在这样的、以及哪些能力是刻意不做的。最后一条往往比前两条更能说明一个项目的成熟度，因为它划出了设计者主动放弃的边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一句话概括定位：这是一个单机部署的双端 Web 应用，AI 辅助真人面试官完成「出题、记录、评估、报告」这个闭环。系统里有三类角色，admin 负责系统管理，是唯一能建账号的角色；hr 是日常使用者，不能自助注册，只能由 admin 创建；candidate 是终端用户，凭邀请码激活。它解决的痛点在表格左边这一列，一共五条，右边是对应的应对方式。最值得一提的是最后一条：候选人无题可练，而题库资产本身是闲置的。我们的做法是复用同一套题库做刷题闭环，于是同一份简历同时驱动了 HR 侧的补题和候选人侧的推荐。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这一页把系统拆成三条闭环来看。左边是 HR 闭环，从建岗位开始，到读报告、导出文档结束，一共六步。中间是候选人闭环，从拿到邀请码开始，到读脱敏反馈结束。右边这条是简历驱动链路，它就是把前两条缝起来的那条线。请注意每一条步骤下面标注的发起方：第三步和第四步是候选人发起的，其余都是 HR 发起的，这个归属关系在后面的架构里会被反复引用。右下角这句话是整页的结论——简历由候选人单侧提交，却被两个方向消费：HR 侧用它来补题，候选人侧用它来推荐刷题。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看一下它是怎么长出来的，一共四个版本。第一个版本只做 HR 侧，六个模块一次到位，配了四百六十一条用例验证。第二个版本加入候选人侧，为此新增了 candidate 角色，顺势带来了作答邀请、在线作答、脱敏反馈和一个新模块 practice。第三个版本做简历驱动与导出，新增 resume 模块，同时引入了一个新依赖 python-docx。第四个版本做简历上传解析与简历评估，新增两个依赖，加了 evaluate_resume 这个 AI 能力，但注意右下角那句话——它没有改动任何表结构。贯穿这四个版本的约束在底部：技术栈全程没变过，一直没有引入新框架，也没有引入任何中间件。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这一页列的是刻意不做的事，六条。第一条，不保留候选人上传的简历原文件，上传只取文字、不落盘，要留原件请本地自存。第二条，后端不生成 PDF，PDF 由浏览器打印生成，代价是不支持脱离浏览器的后台批量导出。第三条，不向候选人下发逐题分和雷达图，默认只给结论、优点、待改进，是否放开总分由配置项决定。第四条，不做邮件和站内通知，邀请码在系统内展示与复制，由 HR 自行转达。第五条，流式出题不做，只有评估环节走流式。第六条，不支持多 worker 部署，因为有两个关键状态在进程内，所以启动时的 workers 参数必须是 1。这六条每一条都在下面写了允许的替代方案，边界清晰，而不是能力缺失。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讲业务流程。这部分要回答的是「它跑起来是什么样」：两条主线、一条缝合线、两个状态机。前面几页讲的是用户视角的操作序列，最后一页会把这些操作背后的状态约束摊开——那条才是真正约束系统行为的东西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HR 主线一共七步，从建岗位到评估导出。建岗位时定义名称、JD 和评估维度，三个字段都会影响后面出题。新建面试这一步会同步出题，从题库抽五道、由 AI 按 JD 补三道，合起来恒为八道。中间两步——准备提纲和发邀请码——都是可选的。然后是逐题录入回答、标记完成，最后触发流式评估并导出。底部三条是最容易踩的地方。第一条，出题之后不能换题也不能删题，按简历补题是唯一的加题例外，而且只追加。第二条，发邀请码只在进行中的面试可行，已经完成的面试会提前拦截并返回冲突状态。第三条，重新评估失败时会退回已评估状态，旧报告不会丢，回退目标取决于库里有没有旧报告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候选人主线是六步。第一步拿到邀请码，由 HR 自行转达。第二步打开激活页，这里关键的一点是——激活是一个公开端点，不需要先登录。第三步凭码激活并绑定到本场面试，同时创建 candidate 账号。第四步录入简历，可以粘贴，也可以上传文档由系统解析成文字。第五步关联到本场面试，注意这一步是候选人发起的。第六步逐题作答，实时保存，然后交卷，交卷是幂等的。最后等 HR 收口完成后，读脱敏反馈。下面两条是这一页最关键的取舍。左边这条：候选人作答不进入面试状态机，交卷只锁定候选人通道，面试是否完成仍然由 HR 决定；好处是 HR 可以继续补题、修订回答，不会被候选人的交卷卡住。右边这条讲账号复用规则：用户名如果已被候选人占用，必须密码一致才能复用；密码不符返回未授权；被禁用的账号一律不得复用绑定，因为绑定会消耗掉一次性邀请码，导致候选人永远打不开这场面试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这条链路是六个阶段，它把 HR 侧和候选人侧缝在一起。前两个阶段由 HR 发起，第三、第四阶段由候选人发起，第五阶段开始回到 HR。中间这块标注了两处关键调用。第一处，候选人把简历关联到本场面试，这是一个候选人侧的写操作。第二处，HR 按简历补题，这是一个 HR 侧的读加写操作。下面三条是核心事实。第一，简历由候选人单侧提交，而且它出现在面试创建之后，所以关联这个动作也只能由候选人发起。第二，这是 HR 能看到候选人简历的唯一通路。第三，同一份简历可以被多场面试和多次练习复用，因为刷题推荐读的是同一张表。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两个状态机，它们是整个后端行为的真正约束。上面是面试状态机，五个状态，从草稿开始，经过进行中、已完成、评估中，到已评估。红色的虚线是失败回退：评估中断后，如果库里没有旧报告就退回已完成，如果有旧报告就退回已评估，这样已经生成过的报告不会因为一次重评失败而丢掉。蓝色的虚线是正常回退，允许从已完成或已评估退回进行中，也允许从已评估退回评估中，这条支撑了「重新评估」。下面是作答邀请状态机，四个状态，与面试状态机完全解耦。特别注意两个设计：已过期这个状态是在读取时派生的，不落库，由过期时间和当前时刻比较得出；还有一条从已接受指向已撤销的边，它是有意允许的，而且是切断候选人访问的唯一手段。右侧这张表列出了所有合法迁移，没有列出的组合一律返回冲突状态，并且在错误详情里带上原始状态和目标状态，方便定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部分讲技术栈。这部分分五页：技术栈总览、后端严格分层、八个模块与依赖方向、数据模型，以及工程规模。我想提前说明一句：这部分不只是在罗列工具，重点在于这些选型之间怎么彼此咬合，以及哪些约束是被测试钉住的、而不是靠人记住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技术栈一共八项，我按四类说。前三项是底座：后端用 Python 三点一一以上，本机是在三点一三上验证的；Web 框架用 FastAPI，它只做纯 JSON 接口，不渲染页面；数据库用 MySQL 八点零以上，因为要用到 JSON 列和枚举类型，整个系统只有这一个库、十五张表，也没有引入迁移框架。第四项是前端：原生 HTML、CSS 和 JavaScript，用 Vite 构建，没有 UI 框架、没有图表库、也没有状态管理库。往下四项是结构。架构上前后端分离，开发期经 Vite 代理，演示期由后端托管前端产物，因为同源部署，所以整个项目没有一行跨域配置。分层上是严格的三层单向依赖，这条由测试直接断言。AI 能力做了抽象接口，可以在 Mock 和真实实现之间切换，没有 API Key 也能完整演示、完整跑通测试。部署是单机同源，必须单进程运行，因为有两个关键状态在进程内。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这一页是后端的分层，四层。第一层 router，负责 HTTP 端点，做参数校验、角色守卫和统一响应包装，它不做数据访问。第二层 service，负责业务逻辑，做流程编排、事务边界、以及调用 AI 能力，它不直接执行 SQL。第三层 repository，负责数据访问，整个后端只有这一层执行查询。第四层是 ai 包，它是横跨三层之外的独立基础设施，只接收原始值，被 interview、evaluation 和 practice 调用。右边这一栏是测试钉住的禁止项，五条。router 不得引用 repository；repository 不得依赖上层；service 里不得出现数据库执行语句；ai 不依赖任何业务模块；core 对业务模块只做函数体内延迟导入。这五条不是写在文档里的约定，而是测试里的断言——写在文档里的约束会随时间腐化，写成测试的不会。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这一页是八个模块的依赖方向。请先注意读图的方式：箭头表示「依赖于」，方向向下，所以越往下越是基础。最上面是 evaluation，它读取 interview 的回答来生成报告。中间是 interview 和 practice 两条业务线。再往下是三个资源模块：岗位、题库、简历。第四层是 auth，所有业务模块都依赖它做鉴权和数据隔离。最底下是 core 和 ai 两块基础设施。这一页真正的重点在两条红线。第一条从 practice 指向 interview，第二条从 resume 指向 interview，它们都是被架构测试明确禁止的反向边。为什么禁止？如果 practice 依赖 interview，刷题和真实面试就不再解耦；如果 resume 反向依赖任何业务模块，就会把 practice 和 interview 之间的循环依赖引进来。简历只被写入和读取，从不反向调用任何业务模块——这条约束保证了简历表是一张干净的被依赖方，能被两条业务线同时安全复用。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模型一共十五张表，左边这张表按模块分组列了出来。我想重点讲三个设计决定。第一个是快照字段，右边第一栏列了五个，它们共同保证一件事：题库被修改或删除之后，历史面试记录里的题目内容不会变。第二个决定是关于候选人反馈表的。我们没有在报告表上加几列，而是把候选人反馈独立成一张表。原因是两份文本的受众和可见性规则完全不同：HR 的报告包含去留判断，候选人的反馈不含。独立成表让可见性边界落在表这一层——HR 的报告接口在结构上就读不到候选人字段，而不是靠前端不渲染来兜底。第三个决定是两处刻意缺失：报告表不设更新时间字段，因为重新评估就是整行重建；也不存总分，因为改档位不需要重新生成反馈。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最后看一下工程规模，四个数字。第一，后端测试一千零三十四项，全部走 Mock 实现，不依赖网络。第二，四十三条接口路径，展开成六十二个方法路由。第三，十五张数据表，八个业务包。第四，一百二十八项端到端冒烟断言，它们是对真实运行中的服务跑通全链路的，不是单元测试。下面三张卡片是补充。前端另有二十五项 Vitest 单测，还有八个浏览器端的 Mock 联调台，合计七百多条断言。第三个数字是变异检查，做了三十三次——所谓变异检查，是把缺陷重新植回代码里，然后看断言是否会失败；如果断言仍然通过，说明那条测试其实没有测到东西。这三十三次里抓出了五个真 bug 和六处原型与真实契约的偏差。底部这句话很重要：整套测试不需要网络、不需要任何 API Key，检出代码就能完整跑通。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现在进入第四部分，也是这次汇报的重点：六个模块的技术讲解。顺序是 ai 的能力抽象、interview 的出题组装、evaluation 的流式评估、interview 的邀请并发、resume 的上传解析，最后是 auth 的权限守卫。每个模块都按固定三段式展开：先看源码级的实现要点，再看一张对象交互序列图，最后讲一个真实遇到过的问题以及它的解法。这一段想传达的不只是「做了什么」，更重要的是「为什么必须这么做」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第一个模块是 ai 的能力抽象。左边是真实的源码，这是一个抽象基类，定义了十个抽象方法，覆盖三条业务线：HR 侧是出题、逐题评分、多维评分、汇总报告四个；候选人侧是补参考答案、刷题判分、脱敏反馈三个；简历驱动侧是按简历匹配题目、生成准备提纲、简历匹配度评估三个。这一页最重要的一条设计约束在代码的注释里：全部方法只接收原始值，不接收任何 ORM 对象。这条约束带来两个收益：第一，ai 包不依赖任何业务模块，守住了依赖单向；第二，Mock 实现可以在完全不起数据库的情况下被单测。右边第三块讲工厂：按配置返回实现并缓存单例，而且在启动期做配置校验，配置有误就直接启动失败，而不是等第一次调用 AI 才报错。底部三列是这十个方法的分组清单。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AI 调用的序列图，以逐题评分为例。流程是：业务层先向工厂要一个 Provider，工厂返回缓存好的单例；然后业务层调用逐题评分方法；如果是真实实现，它会发起一次 HTTP 调用；结果封装成评分对象返回；最后业务层通过回调发布流式事件。上面这张图本身很直白，真正的难点在下面两个问题。第一个问题是：AI 有可能编造一道题库里根本不存在的题，用它冒充匹配结果，让 HR 以为这道题是从自己题库里挑的。我们的解法是两层结构性保证，而不是靠提示词自觉。第一层，匹配结果的返回类型只有题目编号和理由两个字段，没有题面字段——也就是说，「编造一道新题」这件事在结构上无从表达。第二层，解析时用池内编号集合做过滤，池外的一律丢弃。第二个问题是：真实 Provider 调用失败时，要不要自动降级到 Mock？我们的答案是不降级。静默降级会把规则模板的输出伪装成 AI 评估结果，既误导用户又掩盖故障。失败就返回网关错误，由用户重试——「没有」和「坏了」必须能被区分开。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第二个模块是 interview 的出题组装。目标是：从题库按岗位维度抽 N 道题，默认五道，再由 AI 按 JD 补 M 道，默认三道，合并成题目列表并写入内容快照。左边这段代码是抽取算法，用的是按维度轮询的方式，组内按编号升序，保证各个维度的题目数尽量平均。这里有一个刻意追求的性质：可预测性。相同的数据库状态下，出题结果完全确定，因此测试可以直接断言抽到了哪几道题，而不是只能断言总数量。右边第四块是差额补足公式：需要 AI 生成的数量等于 M 加上 N 减去实际抽到的题库题数，这样总题数恒为 N 加 M、也就是八道，题库不足时由 AI 补齐差额。第五块是事务边界：建面试、出题组装、把状态置为进行中，这三件事在同一个事务里，AI 出题失败就整体回滚——要么面试创建成功且题目齐备，要么什么都没发生，不留半成品。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这一页是出题的序列图。从建面试的请求进来开始，业务层先读岗位与评估维度，然后向题库模块要候选池，拿回一个已按编号升序的池子，接着按轮询算法抽取，如果还缺题目就调用 AI 生成，生成结果批量落库，最后把题目写入面试并提交事务。下面两个问题是这个模块最有意思的地方。第一个问题：出题之后题目列表就写死了，没有换题接口也没有删题接口。但候选人的简历是在面试创建之后才提交的，那时才知道该考什么，怎么办？我们的解法是把「按简历补题」设计成唯一的加题例外，而且只追加、不改动既有题目。第二个问题：HR 连点几次按简历补题，会不会出一堆重复题？这里需要说清楚「幂等」的准确含义。候选池会剔除本场已有的题目编号，所以重复调用不会产生重复题目；但池子变小之后 AI 会挑下一批，所以每次调用都会再加一批题，这是有意允许的累加。因此接口会返回本次新增数量和本场总题数，界面必须显示总题数，否则连点几次会以为界面卡住了。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第三个模块是 evaluation 的流式评估。整个评估有三个阶段，每个阶段发一类事件：逐题评分发题目事件，多维评分发维度事件，汇总报告发报告事件。左边三张卡片描述了这三个阶段。右边是后台线程的真实源码。这里有两个设计我想特别说明。第一个是「先推后写」：结果在最后一次性落库，而且是单事务。这样数据库要么是上一次的完整结果、要么是这一次的完整结果，永远不存在混合状态；失败也不会损失既有数据。第二个是业务与传输分离：业务编排本身是同步的，流式只是传输适配。两者分开之后，业务逻辑才能脱离异步设施单独测试。底部三块补充说明：运行注册表保存在内存里，起一个守护线程并给它独立的数据库会话，因为这个会话对象不是线程安全的；注册表保留三百秒，目的是让断线重连能重放完整的事件序列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这一页是流式评估的完整序列图，分三段。第一段是发起：HR 点开始评估，请求进 router，调用启动运行，这一步会先丢弃上一轮的记录、再注册新的一轮、然后起一个守护线程，随即返回一个已接受状态和流式地址，前台不会被阻塞。第二段是订阅：浏览器用带认证头的请求打开流式接口，服务端在订阅的同时取事件快照、读运行状态，然后重放已推过的事件、转发新事件，终结事件之后关闭连接。第三段是后台：线程内执行业务编排，逐阶段发布事件，最后发布终结事件并安排延时回收。底部是事件契约：题目事件按序号升序推送，然后维度事件、报告事件，最后是完成或错误，这两个终结事件互斥且必居其一；另外每十五秒发一个心跳，防止代理因为空闲而断开连接。特别提醒前端的一点：流式接口需要认证头，而浏览器原生的 EventSource 无法设置自定义请求头，所以必须用 fetch 加流式读取来手动解析分帧。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evaluation 的问题清单，五个，每一个都由并发时序引起。第一个：评估跑了一半，界面永远停在半截。原因是终结事件和运行状态分两次写入，读侧可能读到「状态已终结、但终结事件还没入列」的组合，于是推出一段没有终结事件的截断流。解法是把两者放在同一把锁内写入，读侧也在同一把锁内读事件列表和状态，两边配合保证状态已终结就意味着终结事件一定在重放序列里。第二个：订阅和取快照之间的空隙会漏事件。解法是把订阅、取快照、读状态合并进同一把锁内原子完成。第三个：客户端在重放期间断开，订阅者会永久留在名单里，之后每个事件都往没人消费的队列投递，内存单调增长。解法是让异常捕获必须覆盖重放循环，在最终块里移除订阅者——如果重放不在捕获范围内，生成器在产出点收到退出信号时最终块不会执行。第四个：重新评估时，上一轮的延时回收定时器会误删新一轮的记录。解法是做身份校验，只回收仍然属于当前这一轮的记录。第五个：进程重启留下的孤儿评估。解法是以注册表作为「评估是否真的在跑」的唯一事实来源，按同一规则自愈。最后一句是给前端的：重连会从头重放，这是设计特性而不是缺陷，前端必须按题目编号覆盖，而不是来一条加一条，否则进度会翻倍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第四个模块是作答邀请的并发接受。左边是真实源码里的临界区。先看几个安全属性：邀请码由加密安全随机数生成，二十二个 URL 安全字符，约一百二十八位熵；一次性接受；默认七天有效；可以撤销。右上角是并发示意：同一候选人用两条不同的码，几乎同时请求接受同一场面试。解法是用面试行锁把同一场面试的接受串行化，先到者写入接受记录并返回成功，后到者拿到锁之后以当前读复查，命中已接受记录而被拒绝。右下角是四种失效原因——码不存在、已撤销、已接受、已过期——它们返回的是同一段文案，而且响应里不出现任何面试信息，否则这个公开端点就会变成邀请码探测接口。底部三张卡是三个设计决定。第一，激活是公开端点，因为拿码的人往往还没有账号，要求他先登录会让整条邀请链自相矛盾。第二，账号创建委托给 auth 模块，不在 interview 里复制用户名唯一性、密码哈希、角色约束这三条规则。第三，这个方法的签名刻意不接收当前用户参数，因为绑定到哪个账号是由请求体里的用户名决定的，与调用者身份无关。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这一页展开讲上面那个并发问题。上面是序列图：请求 A 和请求 B 几乎同时到达，它们调用同一个接受方法，但服务端先对面试行加锁，于是两个请求被串行化，先到者写入、后到者复查命中后被拒绝。左下的问题描述是：同一候选人用两条不同的码并发接受同一场面试，如果只靠「先查后写」，并发下会双双通过，结果是候选人列表里同一场面试出现两次。解法就是用面试行锁串行化，并在锁内以当前读复查。底部三张卡回答三个「为什么」。第一，为什么必须用当前读：本事务的快照可能早于并发事务的提交，快照读读不到刚刚写入的那条接受记录，复核就会形同虚设。第二，为什么锁面试行而不是邀请行：对一条尚不存在的接受记录加锁，只会拿到间隙锁，挡不住并发；面试行才是这场绑定的真实归属。第三，为什么加锁位置放在创建账号之后：新建账号会提交事务，而提交会释放本事务已持有的锁，先加锁等于白加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个模块是简历上传解析。左边是真实源码，这个端点的职责被刻意收得很窄：它是不落库、不落盘的纯转换端点——不建简历、不改简历，服务器上也不留那个文件。正因为如此，简历表的结构完全不需要变，不必新增文件路径字段。校验一共四道：第一道是扩展名白名单，只接受两种格式；第二道是文件头魔数复核，因为扩展名由客户端提供，改个名字就能绕过，所以要检查文件开头是不是真的对应那个格式；第三道是解析，文档走文档库、PDF 走 PDF 库；第四道是归一化之后的非空校验。右边是完整流程：上传、四道校验、解析、归一化、回填正文框，最后由候选人确认保存——保存走的是另外的端点，与解析这一步完全分开。底部三张卡。第一张强调不落库不落盘。第二张讲文档里的表格也必须取出来，因为简历里的教育经历、工作经历常常做成表格，只取段落会整块丢掉正文。第三张讲归一化只做四件事——统一换行、去行尾空白、折叠连续空行、去首尾空白——不做重排，因为任何更聪明的处理都会让系统偷偷改掉候选人的原文，而他看到的正文正是要被 AI 消费的内容。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上传环节的四个安全问题。第一个：改了扩展名就能绕过类型检查。解法是在白名单之外再按文件头魔数复核，两道都过才解析。第二个：压缩炸弹。上传体积上限拦不住它，因为五兆的压缩包可以解出几个 G，而文档格式本质上就是一个压缩包。解法是单独设一道解压后展开体积的上限，用压缩中央目录里的原始大小求和来判断，而且不解压，所以这道检查本身几乎不吃内存。第三个：加密的 PDF 被误判为损坏。很多导出工具默认会给 PDF 加一个空密码，只看「是否加密」这个标志会误伤一批正常文件。解法是把判据收紧为「已加密、而且连空密码也解不开」，先尝试用空密码解密，成功就视为可读。第四个：扫描件 PDF 解析出空字符串。解法是归一化后为空就返回参数错误，文案点明这可能是扫描件并提示改用粘贴；旧格式文档、纯文本、图片也都在类型检查处被点名拒收，而不是走到解析才失败。底部解释了为什么这里可以写宽泛的异常捕获：两个解析库在损坏文件上抛出的异常谱系并不稳定，逐个枚举必然漏；而兜底在这里是安全的，因为本模块不落库、不落盘，宽泛捕获不会掩盖数据损坏，只会如实告诉上传方读不出来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第六个模块是 auth 的权限守卫与数据隔离。左边是真实的角色守卫代码，它是一个依赖工厂，返回一个可以挂到路由上的依赖。这里最关键的一条是：集合精确匹配，不做层级包含——不存在「admin 包含 hr」这类隐式规则。所以 HR 侧路由必须显式写出两个角色，候选人是单独一个；admin 不能调用候选人端接口，候选人也调不了 HR 端接口，两个方向都返回禁止访问。为什么要显式列出？因为显式是最容易评审的形式，新增角色时不会有意外的放行。另外，守卫先于请求体校验，即使请求体是空的、角色不符也仍然是禁止访问而不是参数错误。右边是三条数据隔离路径：admin 返回空、不过滤；hr 按创建者等于自己过滤；候选人按资源归属，面试则按「持有该面试的有效邀请」判定。底部结论：这套判据由测试钉住，不靠自觉。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这一页是权限相关的四组对比，左边是错误的做法，右边是正确的做法。第一组：加入候选人角色之后，原有的 HR 侧路由只校验「已登录」，于是候选人的令牌可以直接调用 HR 接口。正确做法是把权限守卫收紧为多角色判定，HR 侧全部接口显式校验 admin 和 hr，候选人侧校验 candidate——这是本期的强制项，不是可选项。第二组：候选人的数据隔离不能复用「创建者等于自己」这个判据，因为候选人根本不是面试的创建者，那是 HR；按它过滤会让候选人看不到自己的任何面试。正确做法是新增一条独立校验路径，判据是「持有该面试的有效邀请」，不引入新机制，直接复用既有的邀请链。第三组：用户名如果已被候选人占用，直接复用账号是危险的，因为「知道对方用户名」就等价于能把他的账号绑到自己的邀请上。正确做法是必须校验密码一致才复用，不符就返回未授权；如果被 HR 或管理员占用则返回冲突。第四组：被禁用的账号能不能被复用绑定？不能。因为绑定会消耗掉一次性邀请码，而该账号此后登录和鉴权都会被拒绝，候选人永远打不开这场面试，HR 也无法重新发码——这是一条无法自行恢复的死路。底部这一句是贯穿全部六条改动的原则：把「谁有权看到什么」写成可执行的路径和判据，而不是写在注释里。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第五部分，先说工程收获，五条。第一条，架构约束要能被测试钉住，而不是靠自觉。测试文件里直接检查「router 不得引用 repository」「service 不得出现数据库执行语句」——写在文档里的约束会腐化，写成测试的不会。第二条，让不该发生的事在结构上无从表达。匹配结果类型只有编号和理由、没有题面字段；候选人反馈是白名单模型，分数不在里面就根本没发给浏览器。靠「前端不渲染」来实现脱敏，等于把分数发出去再要求它别看。第三条，失败要显式，不要静默降级。真实模型调用失败不降级到 Mock，而是返回网关错误；判分失败不阻塞作答，标记为未判分并允许重判——「没有」和「坏了」必须可区分。第四条，先写设计契约再写实现。三十份模块计划书先定签名和字段表，再落代码；前端重建期抓到的五处「原型与真实契约对不上」，根因都是照着原型的内存模拟写字段名。第五条，测试方法本身也要能被审查。前端测试台曾经按按钮文字找「登录」，命中的却是文档顺序靠前的模式切换控件，两条断言全绿，但什么都没测到——「绿」可能只是「没测」的另一种说法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这一页讲已知局限，五条，每条都标了代价或缓解手段。第一条，单进程部署是硬约束，因为流式运行注册表和刷题限流计数都在进程内，所以启动时的 workers 参数必须是 1；要支持多进程，得改用发布订阅或者任务队列加结果后端。第二条，评估和作答都不留历史版本，同一场面试只保留最近一次评估结果，HR 覆盖作答时也只保留最新内容，代价是无法回溯上一次的分数。第三条，邀请码是明文存储的，因为 HR 需要在系统内复制转达；缓解手段是长码加短有效期加一次性加可撤销，四者叠加。第四条，刷题推荐只从候选池里挑，池子上限是一百条，题库越大，排在后面的长尾题目越难被练到——这是一次有意的成本取舍。第五条，上传体积上限拦不住「服务器已经收完的请求体」，因为框架在进入视图函数之前就把请求体缓冲下来了，我们读一小段省的是自己的内存，不是服务器的；真正在请求发出前拦住大文件的是前端那道体积预检，所以这是前后端各一半的防线。底部是一条测试方法上的教训：变异检查做了三十三次，抓出五个真 bug 和六处契约偏差，其中一个是看截图看出来的——当时断言是绿的。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最后讲下一步规划，六项：报告分享链接、语音与视频面试及录音转写、保留简历原文件与回看原件、多候选人横向对比、后端生成 PDF 以支持脱离浏览器的批量导出、以及候选人端导出自己的脱敏反馈。它们现在都处于规划状态，没有一项进入开发。说完规划，回到这个产品本身。它和「把出题工具与刷题应用简单拼装在一起」的区别在于：简历由候选人单侧提交，却同时驱动了 HR 侧的补题和候选人侧的推荐，于是原本互不相干的两端被缝成了一个闭环。最后一句收束：AI 在其中始终扮演辅助角色，每一个 AI 产物都有人确认——HR 确认参考答案、确认准备提纲、确认最终报告。AI 负责把草稿摆到桌面上，决定权始终在人手里。谢谢各位。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E52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8576310" y="4914900"/>
            <a:ext cx="3364230" cy="1943100"/>
            <a:chOff x="8576310" y="4914900"/>
            <a:chExt cx="3364230" cy="1943100"/>
          </a:xfrm>
        </p:grpSpPr>
        <p:sp>
          <p:nvSpPr>
            <p:cNvPr id="3" name="Line 3"/>
            <p:cNvSpPr/>
            <p:nvPr/>
          </p:nvSpPr>
          <p:spPr>
            <a:xfrm>
              <a:off x="10258425" y="5886450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0" y="971550"/>
                  </a:moveTo>
                  <a:lnTo>
                    <a:pt x="1682115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9978390" y="5724525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0" y="971550"/>
                  </a:moveTo>
                  <a:lnTo>
                    <a:pt x="1682115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9697402" y="5562600"/>
              <a:ext cx="1683067" cy="971550"/>
            </a:xfrm>
            <a:custGeom>
              <a:avLst/>
              <a:gdLst/>
              <a:ahLst/>
              <a:cxnLst/>
              <a:rect l="l" t="t" r="r" b="b"/>
              <a:pathLst>
                <a:path w="1683067" h="971550">
                  <a:moveTo>
                    <a:pt x="0" y="971550"/>
                  </a:moveTo>
                  <a:lnTo>
                    <a:pt x="1683067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417368" y="5400675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0" y="971550"/>
                  </a:moveTo>
                  <a:lnTo>
                    <a:pt x="1682115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136380" y="5238750"/>
              <a:ext cx="1683068" cy="971550"/>
            </a:xfrm>
            <a:custGeom>
              <a:avLst/>
              <a:gdLst/>
              <a:ahLst/>
              <a:cxnLst/>
              <a:rect l="l" t="t" r="r" b="b"/>
              <a:pathLst>
                <a:path w="1683068" h="971550">
                  <a:moveTo>
                    <a:pt x="0" y="971550"/>
                  </a:moveTo>
                  <a:lnTo>
                    <a:pt x="1683068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856345" y="5076825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0" y="971550"/>
                  </a:moveTo>
                  <a:lnTo>
                    <a:pt x="1682115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576310" y="4914900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0" y="971550"/>
                  </a:moveTo>
                  <a:lnTo>
                    <a:pt x="1682115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576310" y="5886450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1682115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856345" y="5724525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1682115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136380" y="5562600"/>
              <a:ext cx="1683068" cy="971550"/>
            </a:xfrm>
            <a:custGeom>
              <a:avLst/>
              <a:gdLst/>
              <a:ahLst/>
              <a:cxnLst/>
              <a:rect l="l" t="t" r="r" b="b"/>
              <a:pathLst>
                <a:path w="1683068" h="971550">
                  <a:moveTo>
                    <a:pt x="1683068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417368" y="5400675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1682115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697402" y="5238750"/>
              <a:ext cx="1683067" cy="971550"/>
            </a:xfrm>
            <a:custGeom>
              <a:avLst/>
              <a:gdLst/>
              <a:ahLst/>
              <a:cxnLst/>
              <a:rect l="l" t="t" r="r" b="b"/>
              <a:pathLst>
                <a:path w="1683067" h="971550">
                  <a:moveTo>
                    <a:pt x="1683067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78390" y="5076825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1682115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258425" y="4914900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1682115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668828" y="6505575"/>
              <a:ext cx="57150" cy="57150"/>
            </a:xfrm>
            <a:prstGeom prst="ellipse">
              <a:avLst/>
            </a:prstGeom>
            <a:solidFill>
              <a:srgbClr val="F57C00">
                <a:alpha val="7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790872" y="5210175"/>
              <a:ext cx="57150" cy="57150"/>
            </a:xfrm>
            <a:prstGeom prst="ellipse">
              <a:avLst/>
            </a:prstGeom>
            <a:solidFill>
              <a:srgbClr val="F57C00">
                <a:alpha val="75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949815" y="5048250"/>
              <a:ext cx="57150" cy="57150"/>
            </a:xfrm>
            <a:prstGeom prst="ellipse">
              <a:avLst/>
            </a:prstGeom>
            <a:solidFill>
              <a:srgbClr val="00897B">
                <a:alpha val="75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1636692" y="5700712"/>
              <a:ext cx="47625" cy="47625"/>
            </a:xfrm>
            <a:prstGeom prst="ellipse">
              <a:avLst/>
            </a:prstGeom>
            <a:solidFill>
              <a:srgbClr val="EAF2FB">
                <a:alpha val="350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3403511" y="2610802"/>
            <a:ext cx="5384978" cy="1256348"/>
            <a:chOff x="3403511" y="2610802"/>
            <a:chExt cx="5384978" cy="1256348"/>
          </a:xfrm>
        </p:grpSpPr>
        <p:sp>
          <p:nvSpPr>
            <p:cNvPr id="22" name="TextBox 22"/>
            <p:cNvSpPr txBox="1"/>
            <p:nvPr/>
          </p:nvSpPr>
          <p:spPr>
            <a:xfrm>
              <a:off x="5254562" y="261080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AF2FB">
                      <a:alphaMod val="62000"/>
                    </a:srgbClr>
                  </a:solidFill>
                  <a:latin typeface="Arial"/>
                  <a:ea typeface="Microsoft YaHei"/>
                  <a:cs typeface="Arial"/>
                </a:rPr>
                <a:t>AI INTERVIEW ASSISTANT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03511" y="2891790"/>
              <a:ext cx="538497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智能面试助手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91200" y="3638550"/>
              <a:ext cx="609600" cy="381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3906269" y="3977640"/>
            <a:ext cx="4379462" cy="980122"/>
            <a:chOff x="3906269" y="3977640"/>
            <a:chExt cx="4379462" cy="980122"/>
          </a:xfrm>
        </p:grpSpPr>
        <p:sp>
          <p:nvSpPr>
            <p:cNvPr id="26" name="TextBox 26"/>
            <p:cNvSpPr txBox="1"/>
            <p:nvPr/>
          </p:nvSpPr>
          <p:spPr>
            <a:xfrm>
              <a:off x="3906269" y="3977640"/>
              <a:ext cx="43794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技术解构 —— 架构、模块与工程取舍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143500" y="4552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993862" y="4744402"/>
              <a:ext cx="22042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AF2FB">
                      <a:alphaMod val="62000"/>
                    </a:srgbClr>
                  </a:solidFill>
                  <a:latin typeface="Arial"/>
                  <a:ea typeface="Microsoft YaHei"/>
                  <a:cs typeface="Arial"/>
                </a:rPr>
                <a:t>35 页 · 技术答辩 · 2026-09-23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79705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262360" y="6677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开篇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P02 / 35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7300" y="1428750"/>
            <a:ext cx="9525" cy="4476750"/>
            <a:chOff x="1257300" y="1428750"/>
            <a:chExt cx="9525" cy="4476750"/>
          </a:xfrm>
        </p:grpSpPr>
        <p:sp>
          <p:nvSpPr>
            <p:cNvPr id="11" name="Line 11"/>
            <p:cNvSpPr/>
            <p:nvPr/>
          </p:nvSpPr>
          <p:spPr>
            <a:xfrm>
              <a:off x="1257300" y="1428750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638300"/>
            <a:ext cx="11026140" cy="695325"/>
            <a:chOff x="571500" y="1638300"/>
            <a:chExt cx="11026140" cy="695325"/>
          </a:xfrm>
        </p:grpSpPr>
        <p:sp>
          <p:nvSpPr>
            <p:cNvPr id="13" name="TextBox 13"/>
            <p:cNvSpPr txBox="1"/>
            <p:nvPr/>
          </p:nvSpPr>
          <p:spPr>
            <a:xfrm>
              <a:off x="571500" y="1638300"/>
              <a:ext cx="46724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39240" y="1653540"/>
              <a:ext cx="197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项目概述与背景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48765" y="2020252"/>
              <a:ext cx="37071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定位、三条业务闭环、版本演进，以及刻意画出的边界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92409" y="1832610"/>
              <a:ext cx="705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P03–P07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324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71500" y="2533650"/>
            <a:ext cx="11026140" cy="695325"/>
            <a:chOff x="571500" y="2533650"/>
            <a:chExt cx="11026140" cy="695325"/>
          </a:xfrm>
        </p:grpSpPr>
        <p:sp>
          <p:nvSpPr>
            <p:cNvPr id="19" name="TextBox 19"/>
            <p:cNvSpPr txBox="1"/>
            <p:nvPr/>
          </p:nvSpPr>
          <p:spPr>
            <a:xfrm>
              <a:off x="571500" y="253365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39240" y="25488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业务流程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48765" y="291560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两条主线、一条缝合线、两个状态机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36224" y="2727960"/>
              <a:ext cx="6614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P08–P12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219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71500" y="3429000"/>
            <a:ext cx="11026140" cy="695325"/>
            <a:chOff x="571500" y="3429000"/>
            <a:chExt cx="11026140" cy="695325"/>
          </a:xfrm>
        </p:grpSpPr>
        <p:sp>
          <p:nvSpPr>
            <p:cNvPr id="25" name="TextBox 25"/>
            <p:cNvSpPr txBox="1"/>
            <p:nvPr/>
          </p:nvSpPr>
          <p:spPr>
            <a:xfrm>
              <a:off x="571500" y="342900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39240" y="3444240"/>
              <a:ext cx="8738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技术栈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48765" y="38109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选型、分层、模块边界与数据模型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80039" y="3623310"/>
              <a:ext cx="617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P13–P18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09600" y="4114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71500" y="4324350"/>
            <a:ext cx="11026140" cy="695325"/>
            <a:chOff x="571500" y="4324350"/>
            <a:chExt cx="11026140" cy="695325"/>
          </a:xfrm>
        </p:grpSpPr>
        <p:sp>
          <p:nvSpPr>
            <p:cNvPr id="31" name="TextBox 31"/>
            <p:cNvSpPr txBox="1"/>
            <p:nvPr/>
          </p:nvSpPr>
          <p:spPr>
            <a:xfrm>
              <a:off x="571500" y="432435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39240" y="4339590"/>
              <a:ext cx="2253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核心模块技术讲解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48765" y="4706302"/>
              <a:ext cx="37301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六个模块 × 固定三段式 —— 实现 → 序列图 → 问题与解决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36224" y="4518660"/>
              <a:ext cx="6614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P19–P32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501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71500" y="5219700"/>
            <a:ext cx="11026140" cy="695325"/>
            <a:chOff x="571500" y="5219700"/>
            <a:chExt cx="11026140" cy="695325"/>
          </a:xfrm>
        </p:grpSpPr>
        <p:sp>
          <p:nvSpPr>
            <p:cNvPr id="37" name="TextBox 37"/>
            <p:cNvSpPr txBox="1"/>
            <p:nvPr/>
          </p:nvSpPr>
          <p:spPr>
            <a:xfrm>
              <a:off x="571500" y="521970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39240" y="5234940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收获与展望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48765" y="5601652"/>
              <a:ext cx="29403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工程收获、已知局限与踩过的坑、V1.1 规划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92409" y="5414010"/>
              <a:ext cx="705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P33–P35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30" grpId="0"/>
      <p:bldP spid="36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E52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6677025" cy="6858000"/>
            <a:chOff x="0" y="0"/>
            <a:chExt cx="6677025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F57C00">
                <a:alpha val="85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667500" y="1714500"/>
              <a:ext cx="9525" cy="3429000"/>
            </a:xfrm>
            <a:prstGeom prst="rect">
              <a:avLst/>
            </a:prstGeom>
            <a:solidFill>
              <a:srgbClr val="EAF2FB">
                <a:alpha val="16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95325" y="1928812"/>
            <a:ext cx="1752183" cy="2286000"/>
            <a:chOff x="695325" y="1928812"/>
            <a:chExt cx="1752183" cy="2286000"/>
          </a:xfrm>
        </p:grpSpPr>
        <p:sp>
          <p:nvSpPr>
            <p:cNvPr id="6" name="TextBox 6"/>
            <p:cNvSpPr txBox="1"/>
            <p:nvPr/>
          </p:nvSpPr>
          <p:spPr>
            <a:xfrm>
              <a:off x="695325" y="1928812"/>
              <a:ext cx="1752183" cy="2286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b="1" dirty="0">
                  <a:solidFill>
                    <a:srgbClr val="EAF2FB">
                      <a:alphaMod val="14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" y="3543300"/>
              <a:ext cx="533400" cy="47625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96290" y="3834765"/>
            <a:ext cx="3626263" cy="903923"/>
            <a:chOff x="796290" y="3834765"/>
            <a:chExt cx="3626263" cy="903923"/>
          </a:xfrm>
        </p:grpSpPr>
        <p:sp>
          <p:nvSpPr>
            <p:cNvPr id="9" name="TextBox 9"/>
            <p:cNvSpPr txBox="1"/>
            <p:nvPr/>
          </p:nvSpPr>
          <p:spPr>
            <a:xfrm>
              <a:off x="796290" y="3834765"/>
              <a:ext cx="362626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项目概述与背景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1055" y="4464368"/>
              <a:ext cx="33861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它解决什么问题，从哪来，边界画在哪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50455" y="2447449"/>
            <a:ext cx="4145280" cy="2400776"/>
            <a:chOff x="7450455" y="2447449"/>
            <a:chExt cx="4145280" cy="2400776"/>
          </a:xfrm>
        </p:grpSpPr>
        <p:sp>
          <p:nvSpPr>
            <p:cNvPr id="12" name="TextBox 12"/>
            <p:cNvSpPr txBox="1"/>
            <p:nvPr/>
          </p:nvSpPr>
          <p:spPr>
            <a:xfrm>
              <a:off x="7455218" y="24474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AF2FB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本节内容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0455" y="288321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产品定位与它解决的问题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16033" y="29156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P04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467600" y="32385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50455" y="341661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三条业务闭环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16033" y="34490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P05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467600" y="37719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50455" y="3950018"/>
              <a:ext cx="2814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前世今生：MVP-1 → MVP-4 演进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16033" y="39824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P06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467600" y="43053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50455" y="44834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刻意画出的边界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16033" y="45158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P07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467600" y="48387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827722" y="6178391"/>
            <a:ext cx="10765156" cy="167640"/>
            <a:chOff x="827722" y="6178391"/>
            <a:chExt cx="10765156" cy="167640"/>
          </a:xfrm>
        </p:grpSpPr>
        <p:sp>
          <p:nvSpPr>
            <p:cNvPr id="26" name="TextBox 26"/>
            <p:cNvSpPr txBox="1"/>
            <p:nvPr/>
          </p:nvSpPr>
          <p:spPr>
            <a:xfrm>
              <a:off x="8277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P03 / 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41094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产品定位与它解决的问题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19242" y="6677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01 项目概述与背景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P04 / 35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409700"/>
            <a:ext cx="10972800" cy="533400"/>
            <a:chOff x="609600" y="1409700"/>
            <a:chExt cx="10972800" cy="5334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10972800" cy="533400"/>
            </a:xfrm>
            <a:prstGeom prst="roundRect">
              <a:avLst>
                <a:gd name="adj" fmla="val 1428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47625" cy="5334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09638" y="1576388"/>
              <a:ext cx="200025" cy="200025"/>
              <a:chOff x="909638" y="1576388"/>
              <a:chExt cx="200025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98538" y="16652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2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2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54088" y="162083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2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2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09638" y="15763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79208" y="1605439"/>
              <a:ext cx="72481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单机部署的</a:t>
              </a:r>
              <a:r>
                <a:rPr lang="zh-CN" sz="12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双端</a:t>
              </a:r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Web 应用 —— AI 辅助真人面试官完成「出题 → 记录 → 评估 → 报告」闭环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2095500"/>
            <a:ext cx="10972800" cy="495300"/>
            <a:chOff x="609600" y="2095500"/>
            <a:chExt cx="10972800" cy="495300"/>
          </a:xfrm>
        </p:grpSpPr>
        <p:sp>
          <p:nvSpPr>
            <p:cNvPr id="19" name="Rectangle 19"/>
            <p:cNvSpPr/>
            <p:nvPr/>
          </p:nvSpPr>
          <p:spPr>
            <a:xfrm>
              <a:off x="609600" y="2095500"/>
              <a:ext cx="35052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57250" y="2257425"/>
              <a:ext cx="152400" cy="180975"/>
              <a:chOff x="857250" y="2257425"/>
              <a:chExt cx="152400" cy="18097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57250" y="23717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42975" y="2366962"/>
                <a:ext cx="666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71438">
                    <a:moveTo>
                      <a:pt x="66675" y="14288"/>
                    </a:moveTo>
                    <a:cubicBezTo>
                      <a:pt x="66675" y="52388"/>
                      <a:pt x="42862" y="71438"/>
                      <a:pt x="33338" y="71438"/>
                    </a:cubicBezTo>
                    <a:cubicBezTo>
                      <a:pt x="23812" y="71438"/>
                      <a:pt x="0" y="52388"/>
                      <a:pt x="0" y="14288"/>
                    </a:cubicBezTo>
                    <a:cubicBezTo>
                      <a:pt x="9525" y="14288"/>
                      <a:pt x="23812" y="9525"/>
                      <a:pt x="33338" y="0"/>
                    </a:cubicBezTo>
                    <a:cubicBezTo>
                      <a:pt x="42862" y="9525"/>
                      <a:pt x="57150" y="14288"/>
                      <a:pt x="66675" y="14288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6300" y="22574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128712" y="2174081"/>
              <a:ext cx="4943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admin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1570" y="2398395"/>
              <a:ext cx="18828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系统管理 · 唯一可建账号的角色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43400" y="2095500"/>
              <a:ext cx="35052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562475" y="2257425"/>
              <a:ext cx="171450" cy="161925"/>
              <a:chOff x="4562475" y="2257425"/>
              <a:chExt cx="171450" cy="1619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562475" y="2295525"/>
                <a:ext cx="1714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23825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04775"/>
                    </a:lnTo>
                    <a:cubicBezTo>
                      <a:pt x="171450" y="115296"/>
                      <a:pt x="162921" y="123825"/>
                      <a:pt x="152400" y="123825"/>
                    </a:cubicBezTo>
                    <a:lnTo>
                      <a:pt x="19050" y="123825"/>
                    </a:lnTo>
                    <a:cubicBezTo>
                      <a:pt x="8529" y="123825"/>
                      <a:pt x="0" y="115296"/>
                      <a:pt x="0" y="104775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610100" y="2257425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57150" y="0"/>
                    </a:lnTo>
                    <a:cubicBezTo>
                      <a:pt x="67671" y="0"/>
                      <a:pt x="76200" y="8529"/>
                      <a:pt x="76200" y="19050"/>
                    </a:cubicBezTo>
                    <a:lnTo>
                      <a:pt x="76200" y="381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48200" y="2343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562475" y="2352675"/>
                <a:ext cx="171450" cy="27171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7171">
                    <a:moveTo>
                      <a:pt x="0" y="0"/>
                    </a:moveTo>
                    <a:cubicBezTo>
                      <a:pt x="53921" y="27171"/>
                      <a:pt x="117529" y="27171"/>
                      <a:pt x="171450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862512" y="2174081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65370" y="2398395"/>
              <a:ext cx="1619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日常使用者 · 不可自助注册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77200" y="2095500"/>
              <a:ext cx="35052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324850" y="2257425"/>
              <a:ext cx="142875" cy="171450"/>
              <a:chOff x="8324850" y="2257425"/>
              <a:chExt cx="142875" cy="1714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43900" y="22574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24850" y="2371725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0" y="5715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410575" y="23907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596312" y="2174081"/>
              <a:ext cx="8394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candidate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99170" y="2398395"/>
              <a:ext cx="1488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终端用户 · 凭邀请码激活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9600" y="2857500"/>
            <a:ext cx="10972800" cy="3086100"/>
            <a:chOff x="609600" y="2857500"/>
            <a:chExt cx="10972800" cy="3086100"/>
          </a:xfrm>
        </p:grpSpPr>
        <p:sp>
          <p:nvSpPr>
            <p:cNvPr id="42" name="Rectangle 42"/>
            <p:cNvSpPr/>
            <p:nvPr/>
          </p:nvSpPr>
          <p:spPr>
            <a:xfrm>
              <a:off x="609600" y="2857500"/>
              <a:ext cx="10972800" cy="4191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609600" y="3276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CE5EE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6765" y="30108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痛点现状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63515" y="30108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本产品的应对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5086350" y="285750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09600" y="3375660"/>
            <a:ext cx="10972800" cy="446246"/>
            <a:chOff x="609600" y="3375660"/>
            <a:chExt cx="10972800" cy="446246"/>
          </a:xfrm>
        </p:grpSpPr>
        <p:sp>
          <p:nvSpPr>
            <p:cNvPr id="48" name="Line 48"/>
            <p:cNvSpPr/>
            <p:nvPr/>
          </p:nvSpPr>
          <p:spPr>
            <a:xfrm>
              <a:off x="609600" y="3810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4860" y="3375660"/>
              <a:ext cx="31325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出题靠人肉翻题库，题意与岗位 JD 脱节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62562" y="3383756"/>
              <a:ext cx="3339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从题库按岗位维度抽取，并由 AI 按 JD 补充；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62562" y="3593306"/>
              <a:ext cx="3150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候选人提交简历后可按简历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追加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更贴合的题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3810000"/>
            <a:ext cx="10972800" cy="545306"/>
            <a:chOff x="609600" y="3810000"/>
            <a:chExt cx="10972800" cy="545306"/>
          </a:xfrm>
        </p:grpSpPr>
        <p:sp>
          <p:nvSpPr>
            <p:cNvPr id="53" name="Rectangle 53"/>
            <p:cNvSpPr/>
            <p:nvPr/>
          </p:nvSpPr>
          <p:spPr>
            <a:xfrm>
              <a:off x="609600" y="3810000"/>
              <a:ext cx="10972800" cy="533400"/>
            </a:xfrm>
            <a:prstGeom prst="rect">
              <a:avLst/>
            </a:prstGeom>
            <a:solidFill>
              <a:srgbClr val="F2F6FA">
                <a:alpha val="55000"/>
              </a:srgbClr>
            </a:solidFill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609600" y="4343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4860" y="390906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面试记录散落，面完想不起答了什么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262562" y="3917156"/>
              <a:ext cx="33804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作答（HR 录入或候选人线上作答）统一落库，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62562" y="412670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并附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题目快照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，事后可逐题复看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09600" y="4442460"/>
            <a:ext cx="10972800" cy="446246"/>
            <a:chOff x="609600" y="4442460"/>
            <a:chExt cx="10972800" cy="446246"/>
          </a:xfrm>
        </p:grpSpPr>
        <p:sp>
          <p:nvSpPr>
            <p:cNvPr id="59" name="Line 59"/>
            <p:cNvSpPr/>
            <p:nvPr/>
          </p:nvSpPr>
          <p:spPr>
            <a:xfrm>
              <a:off x="609600" y="487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4860" y="444246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面完写评估报告耗时且口径不一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262562" y="4450556"/>
              <a:ext cx="38569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三阶段流式评估：逐题评分 → 多维评分 → 汇总报告，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262562" y="4660106"/>
              <a:ext cx="3076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全线同一套 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0–10 分制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，口径不再因人而异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9600" y="4876800"/>
            <a:ext cx="10972800" cy="545306"/>
            <a:chOff x="609600" y="4876800"/>
            <a:chExt cx="10972800" cy="545306"/>
          </a:xfrm>
        </p:grpSpPr>
        <p:sp>
          <p:nvSpPr>
            <p:cNvPr id="64" name="Rectangle 64"/>
            <p:cNvSpPr/>
            <p:nvPr/>
          </p:nvSpPr>
          <p:spPr>
            <a:xfrm>
              <a:off x="609600" y="4876800"/>
              <a:ext cx="10972800" cy="533400"/>
            </a:xfrm>
            <a:prstGeom prst="rect">
              <a:avLst/>
            </a:prstGeom>
            <a:solidFill>
              <a:srgbClr val="F2F6FA">
                <a:alpha val="55000"/>
              </a:srgbClr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609600" y="5410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84860" y="497586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候选人面完杳无音信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262562" y="4983956"/>
              <a:ext cx="2986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评估完成后候选人可自助查看</a:t>
              </a:r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脱敏反馈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62562" y="5193506"/>
              <a:ext cx="2986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只讲结论、优点与待改进，不含去留判断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09600" y="5509260"/>
            <a:ext cx="10972800" cy="446246"/>
            <a:chOff x="609600" y="5509260"/>
            <a:chExt cx="10972800" cy="446246"/>
          </a:xfrm>
        </p:grpSpPr>
        <p:sp>
          <p:nvSpPr>
            <p:cNvPr id="70" name="Line 70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CE5EE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84860" y="550926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候选人无题可练，题库资产闲置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262562" y="551735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复用同一题库做刷题闭环；同一份简历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262562" y="5726906"/>
              <a:ext cx="2608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同时驱动 HR 侧补题与候选人侧推荐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1" grpId="0"/>
      <p:bldP spid="52" grpId="0"/>
      <p:bldP spid="58" grpId="0"/>
      <p:bldP spid="63" grpId="0"/>
      <p:bldP spid="69" grpId="0"/>
      <p:bldP spid="7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2269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三条业务闭环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19242" y="6677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01 项目概述与背景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P05 / 35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1409700"/>
            <a:ext cx="3505200" cy="3924300"/>
            <a:chOff x="609600" y="1409700"/>
            <a:chExt cx="3505200" cy="39243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3505200" cy="39243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" y="1409700"/>
              <a:ext cx="3505200" cy="685800"/>
            </a:xfrm>
            <a:custGeom>
              <a:avLst/>
              <a:gdLst/>
              <a:ahLst/>
              <a:cxnLst/>
              <a:rect l="l" t="t" r="r" b="b"/>
              <a:pathLst>
                <a:path w="3505200" h="6858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685800"/>
                  </a:lnTo>
                  <a:lnTo>
                    <a:pt x="0" y="6858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565C0">
                <a:alpha val="10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69156" y="1631156"/>
              <a:ext cx="185738" cy="175419"/>
              <a:chOff x="869156" y="1631156"/>
              <a:chExt cx="185738" cy="17541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69156" y="1672431"/>
                <a:ext cx="185738" cy="134144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34144">
                    <a:moveTo>
                      <a:pt x="0" y="20637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65100" y="0"/>
                    </a:lnTo>
                    <a:cubicBezTo>
                      <a:pt x="176498" y="0"/>
                      <a:pt x="185738" y="9240"/>
                      <a:pt x="185738" y="20637"/>
                    </a:cubicBezTo>
                    <a:lnTo>
                      <a:pt x="185738" y="113506"/>
                    </a:lnTo>
                    <a:cubicBezTo>
                      <a:pt x="185738" y="124904"/>
                      <a:pt x="176498" y="134144"/>
                      <a:pt x="165100" y="134144"/>
                    </a:cubicBezTo>
                    <a:lnTo>
                      <a:pt x="20638" y="134144"/>
                    </a:lnTo>
                    <a:cubicBezTo>
                      <a:pt x="9240" y="134144"/>
                      <a:pt x="0" y="124904"/>
                      <a:pt x="0" y="113506"/>
                    </a:cubicBez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20750" y="1631156"/>
                <a:ext cx="82550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41275">
                    <a:moveTo>
                      <a:pt x="0" y="41275"/>
                    </a:move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61912" y="0"/>
                    </a:lnTo>
                    <a:cubicBezTo>
                      <a:pt x="73310" y="0"/>
                      <a:pt x="82550" y="9240"/>
                      <a:pt x="82550" y="20637"/>
                    </a:cubicBezTo>
                    <a:lnTo>
                      <a:pt x="82550" y="412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62025" y="1724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69156" y="1734344"/>
                <a:ext cx="185738" cy="29435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29435">
                    <a:moveTo>
                      <a:pt x="0" y="0"/>
                    </a:moveTo>
                    <a:cubicBezTo>
                      <a:pt x="58414" y="29435"/>
                      <a:pt x="127324" y="29435"/>
                      <a:pt x="185738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81100" y="1628775"/>
              <a:ext cx="8201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38200" y="2095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971550" y="235267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1565C0">
                  <a:alpha val="28000"/>
                </a:srgbClr>
              </a:solidFill>
              <a:prstDash val="dash"/>
            </a:ln>
          </p:spPr>
        </p:sp>
        <p:sp>
          <p:nvSpPr>
            <p:cNvPr id="21" name="Ellipse 21"/>
            <p:cNvSpPr/>
            <p:nvPr/>
          </p:nvSpPr>
          <p:spPr>
            <a:xfrm>
              <a:off x="866775" y="2247900"/>
              <a:ext cx="209550" cy="2095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2095" y="2301716"/>
              <a:ext cx="589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85862" y="2278856"/>
              <a:ext cx="20659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建岗位（名称 + JD + 维度）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66775" y="2667000"/>
              <a:ext cx="209550" cy="2095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6281" y="27208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85862" y="26979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建面试并同步出题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66775" y="3086100"/>
              <a:ext cx="209550" cy="2095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6281" y="31399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85862" y="31170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逐题录入或修订回答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866775" y="3505200"/>
              <a:ext cx="209550" cy="2095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6281" y="35590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85862" y="35361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标记完成，收口本场面试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66775" y="3924300"/>
              <a:ext cx="209550" cy="2095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6281" y="39781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85862" y="3955256"/>
              <a:ext cx="16141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触发流式评估（SSE）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866775" y="4343400"/>
              <a:ext cx="209550" cy="2095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6281" y="43972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85862" y="4374356"/>
              <a:ext cx="1918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读报告，导出 DOCX / PDF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38200" y="4762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5818" y="4923949"/>
              <a:ext cx="23458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产出：面试记录 · 评估报告 · 导出件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343400" y="1409700"/>
            <a:ext cx="3505200" cy="3924300"/>
            <a:chOff x="4343400" y="1409700"/>
            <a:chExt cx="3505200" cy="3924300"/>
          </a:xfrm>
        </p:grpSpPr>
        <p:sp>
          <p:nvSpPr>
            <p:cNvPr id="42" name="Rectangle 42"/>
            <p:cNvSpPr/>
            <p:nvPr/>
          </p:nvSpPr>
          <p:spPr>
            <a:xfrm>
              <a:off x="4343400" y="1409700"/>
              <a:ext cx="3505200" cy="39243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4343400" y="1409700"/>
              <a:ext cx="3505200" cy="685800"/>
            </a:xfrm>
            <a:custGeom>
              <a:avLst/>
              <a:gdLst/>
              <a:ahLst/>
              <a:cxnLst/>
              <a:rect l="l" t="t" r="r" b="b"/>
              <a:pathLst>
                <a:path w="3505200" h="6858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685800"/>
                  </a:lnTo>
                  <a:lnTo>
                    <a:pt x="0" y="6858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897B">
                <a:alpha val="10000"/>
              </a:srgbClr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633912" y="1631156"/>
              <a:ext cx="154781" cy="185738"/>
              <a:chOff x="4633912" y="1631156"/>
              <a:chExt cx="154781" cy="185738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654550" y="1631156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633912" y="1754981"/>
                <a:ext cx="82550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61912">
                    <a:moveTo>
                      <a:pt x="0" y="61912"/>
                    </a:moveTo>
                    <a:lnTo>
                      <a:pt x="0" y="41275"/>
                    </a:lnTo>
                    <a:cubicBezTo>
                      <a:pt x="0" y="18479"/>
                      <a:pt x="18479" y="0"/>
                      <a:pt x="41275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726781" y="1775619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4914900" y="16287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候选人闭环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4572000" y="2095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4705350" y="235267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00897B">
                  <a:alpha val="28000"/>
                </a:srgbClr>
              </a:solidFill>
              <a:prstDash val="dash"/>
            </a:ln>
          </p:spPr>
        </p:sp>
        <p:sp>
          <p:nvSpPr>
            <p:cNvPr id="51" name="Ellipse 51"/>
            <p:cNvSpPr/>
            <p:nvPr/>
          </p:nvSpPr>
          <p:spPr>
            <a:xfrm>
              <a:off x="4600575" y="2247900"/>
              <a:ext cx="209550" cy="2095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675895" y="2301716"/>
              <a:ext cx="589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919662" y="227885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凭邀请码激活（公开端点）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4600575" y="2667000"/>
              <a:ext cx="209550" cy="2095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660081" y="27208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19662" y="26979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录入简历（粘贴或上传）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4600575" y="3086100"/>
              <a:ext cx="209550" cy="2095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660081" y="31399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19662" y="31170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关联到本场面试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4600575" y="3505200"/>
              <a:ext cx="209550" cy="2095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660081" y="35590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919662" y="35361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在线作答（实时保存）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4600575" y="3924300"/>
              <a:ext cx="209550" cy="2095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660081" y="39781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919662" y="39552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交卷（幂等，锁定通道）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4600575" y="4343400"/>
              <a:ext cx="209550" cy="2095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660081" y="43972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919662" y="4374356"/>
              <a:ext cx="17866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等 HR 收口，读脱敏反馈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4572000" y="4762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559618" y="4923949"/>
              <a:ext cx="1754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产出：脱敏反馈 · 刷题记录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8077200" y="1409700"/>
            <a:ext cx="3505200" cy="3924300"/>
            <a:chOff x="8077200" y="1409700"/>
            <a:chExt cx="3505200" cy="3924300"/>
          </a:xfrm>
        </p:grpSpPr>
        <p:sp>
          <p:nvSpPr>
            <p:cNvPr id="72" name="Rectangle 72"/>
            <p:cNvSpPr/>
            <p:nvPr/>
          </p:nvSpPr>
          <p:spPr>
            <a:xfrm>
              <a:off x="8077200" y="1409700"/>
              <a:ext cx="3505200" cy="39243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8077200" y="1409700"/>
              <a:ext cx="3505200" cy="685800"/>
            </a:xfrm>
            <a:custGeom>
              <a:avLst/>
              <a:gdLst/>
              <a:ahLst/>
              <a:cxnLst/>
              <a:rect l="l" t="t" r="r" b="b"/>
              <a:pathLst>
                <a:path w="3505200" h="6858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685800"/>
                  </a:lnTo>
                  <a:lnTo>
                    <a:pt x="0" y="6858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7C00">
                <a:alpha val="10000"/>
              </a:srgbClr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8357394" y="1631156"/>
              <a:ext cx="144463" cy="185738"/>
              <a:chOff x="8357394" y="1631156"/>
              <a:chExt cx="144463" cy="185738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450262" y="1631156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57394" y="1631156"/>
                <a:ext cx="144463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85738">
                    <a:moveTo>
                      <a:pt x="123825" y="185738"/>
                    </a:moveTo>
                    <a:lnTo>
                      <a:pt x="20638" y="185738"/>
                    </a:lnTo>
                    <a:cubicBezTo>
                      <a:pt x="9240" y="185738"/>
                      <a:pt x="0" y="176498"/>
                      <a:pt x="0" y="165100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8" y="0"/>
                    </a:cubicBezTo>
                    <a:lnTo>
                      <a:pt x="92869" y="0"/>
                    </a:lnTo>
                    <a:lnTo>
                      <a:pt x="144463" y="51594"/>
                    </a:lnTo>
                    <a:lnTo>
                      <a:pt x="144463" y="165100"/>
                    </a:lnTo>
                    <a:cubicBezTo>
                      <a:pt x="144463" y="176498"/>
                      <a:pt x="135223" y="185738"/>
                      <a:pt x="123825" y="185738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398669" y="1693069"/>
                <a:ext cx="103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9525">
                    <a:moveTo>
                      <a:pt x="0" y="0"/>
                    </a:moveTo>
                    <a:lnTo>
                      <a:pt x="10319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398669" y="1734344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98669" y="1775619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8648700" y="16287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简历驱动链路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8305800" y="2095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8439150" y="235267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F57C00">
                  <a:alpha val="28000"/>
                </a:srgbClr>
              </a:solidFill>
              <a:prstDash val="dash"/>
            </a:ln>
          </p:spPr>
        </p:sp>
        <p:sp>
          <p:nvSpPr>
            <p:cNvPr id="83" name="Ellipse 83"/>
            <p:cNvSpPr/>
            <p:nvPr/>
          </p:nvSpPr>
          <p:spPr>
            <a:xfrm>
              <a:off x="8334375" y="2247900"/>
              <a:ext cx="209550" cy="2095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409695" y="2301716"/>
              <a:ext cx="589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653462" y="2278856"/>
              <a:ext cx="15730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建面试并发邀请码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8334375" y="2667000"/>
              <a:ext cx="209550" cy="2095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393881" y="27208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653462" y="26979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候选人激活并录简历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8334375" y="3086100"/>
              <a:ext cx="209550" cy="2095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393881" y="31399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653462" y="31170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候选人把简历关联到面试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8334375" y="3505200"/>
              <a:ext cx="209550" cy="2095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393881" y="35590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653462" y="3536156"/>
              <a:ext cx="19016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读到简历，按简历补题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8334375" y="3924300"/>
              <a:ext cx="209550" cy="2095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393881" y="39781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653462" y="39552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生成准备提纲，进入面试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8334375" y="4343400"/>
              <a:ext cx="209550" cy="2095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393881" y="43972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653462" y="4374356"/>
              <a:ext cx="8747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评估 → 报告</a:t>
              </a:r>
            </a:p>
          </p:txBody>
        </p:sp>
        <p:sp>
          <p:nvSpPr>
            <p:cNvPr id="101" name="Line 101"/>
            <p:cNvSpPr/>
            <p:nvPr/>
          </p:nvSpPr>
          <p:spPr>
            <a:xfrm>
              <a:off x="8305800" y="4762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293418" y="4923949"/>
              <a:ext cx="17905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产出：HR 可读的候选人简历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609600" y="5524500"/>
            <a:ext cx="10972800" cy="419100"/>
            <a:chOff x="609600" y="5524500"/>
            <a:chExt cx="10972800" cy="419100"/>
          </a:xfrm>
        </p:grpSpPr>
        <p:sp>
          <p:nvSpPr>
            <p:cNvPr id="104" name="Rectangle 104"/>
            <p:cNvSpPr/>
            <p:nvPr/>
          </p:nvSpPr>
          <p:spPr>
            <a:xfrm>
              <a:off x="609600" y="5524500"/>
              <a:ext cx="10972800" cy="419100"/>
            </a:xfrm>
            <a:prstGeom prst="roundRect">
              <a:avLst>
                <a:gd name="adj" fmla="val 18182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108" name="Group 108"/>
            <p:cNvGrpSpPr/>
            <p:nvPr/>
          </p:nvGrpSpPr>
          <p:grpSpPr>
            <a:xfrm>
              <a:off x="828675" y="5648325"/>
              <a:ext cx="171450" cy="171450"/>
              <a:chOff x="828675" y="5648325"/>
              <a:chExt cx="171450" cy="17145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828675" y="5648325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2"/>
                    </a:lnTo>
                    <a:moveTo>
                      <a:pt x="146685" y="24765"/>
                    </a:moveTo>
                    <a:lnTo>
                      <a:pt x="140018" y="31432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862737" y="5686425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892492" y="5781675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1127760" y="5661660"/>
              <a:ext cx="64099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简历由</a:t>
              </a:r>
              <a:r>
                <a:rPr lang="zh-CN" sz="12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候选人单侧提交</a:t>
              </a:r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被 HR 侧（补题）与候选人侧（刷题推荐）</a:t>
              </a:r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两个方向消费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71" grpId="0"/>
      <p:bldP spid="103" grpId="0"/>
      <p:bldP spid="1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525040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前世今生：MVP-1 → MVP-4 演进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19242" y="6677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01 项目概述与背景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P06 / 35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90575" y="1333500"/>
            <a:ext cx="10610850" cy="1162050"/>
            <a:chOff x="790575" y="1333500"/>
            <a:chExt cx="10610850" cy="1162050"/>
          </a:xfrm>
        </p:grpSpPr>
        <p:sp>
          <p:nvSpPr>
            <p:cNvPr id="11" name="Rectangle 11"/>
            <p:cNvSpPr/>
            <p:nvPr/>
          </p:nvSpPr>
          <p:spPr>
            <a:xfrm>
              <a:off x="790575" y="1333500"/>
              <a:ext cx="238125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42975" y="146685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6501" y="1530191"/>
              <a:ext cx="3625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MVP-1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1545" y="18078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2026-09-15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8688" y="2050256"/>
              <a:ext cx="787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侧闭环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1545" y="2284095"/>
              <a:ext cx="9035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461 条用例验证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533775" y="1333500"/>
              <a:ext cx="238125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686175" y="146685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93887" y="1530191"/>
              <a:ext cx="3941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MVP-2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74745" y="1807845"/>
              <a:ext cx="745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2026-09-20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71888" y="20502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4745" y="22840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受邀者自助作答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76975" y="1333500"/>
              <a:ext cx="238125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29375" y="146685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37087" y="1530191"/>
              <a:ext cx="3941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MVP-3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17945" y="1807845"/>
              <a:ext cx="745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2026-09-20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15088" y="20502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简历驱动与导出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17945" y="228409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按简历补题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020175" y="1333500"/>
              <a:ext cx="238125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14288">
              <a:solidFill>
                <a:srgbClr val="F57C0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172575" y="146685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80287" y="1530191"/>
              <a:ext cx="3941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MVP-4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61145" y="1807845"/>
              <a:ext cx="745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2026-09-22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58288" y="2050256"/>
              <a:ext cx="14863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简历解析与 AI 评估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61145" y="22840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不改任何表结构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" y="2495550"/>
            <a:ext cx="10972800" cy="352425"/>
            <a:chOff x="609600" y="2495550"/>
            <a:chExt cx="10972800" cy="352425"/>
          </a:xfrm>
        </p:grpSpPr>
        <p:sp>
          <p:nvSpPr>
            <p:cNvPr id="36" name="Line 36"/>
            <p:cNvSpPr/>
            <p:nvPr/>
          </p:nvSpPr>
          <p:spPr>
            <a:xfrm>
              <a:off x="1981200" y="2495550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9050">
              <a:solidFill>
                <a:srgbClr val="DCE5EE"/>
              </a:solidFill>
              <a:prstDash val="dash"/>
            </a:ln>
          </p:spPr>
        </p:sp>
        <p:sp>
          <p:nvSpPr>
            <p:cNvPr id="37" name="Line 37"/>
            <p:cNvSpPr/>
            <p:nvPr/>
          </p:nvSpPr>
          <p:spPr>
            <a:xfrm>
              <a:off x="4724400" y="2495550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9050">
              <a:solidFill>
                <a:srgbClr val="DCE5EE"/>
              </a:solidFill>
              <a:prstDash val="dash"/>
            </a:ln>
          </p:spPr>
        </p:sp>
        <p:sp>
          <p:nvSpPr>
            <p:cNvPr id="38" name="Line 38"/>
            <p:cNvSpPr/>
            <p:nvPr/>
          </p:nvSpPr>
          <p:spPr>
            <a:xfrm>
              <a:off x="7467600" y="2495550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9050">
              <a:solidFill>
                <a:srgbClr val="DCE5EE"/>
              </a:solidFill>
              <a:prstDash val="dash"/>
            </a:ln>
          </p:spPr>
        </p:sp>
        <p:sp>
          <p:nvSpPr>
            <p:cNvPr id="39" name="Line 39"/>
            <p:cNvSpPr/>
            <p:nvPr/>
          </p:nvSpPr>
          <p:spPr>
            <a:xfrm>
              <a:off x="10210800" y="2495550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9050">
              <a:solidFill>
                <a:srgbClr val="DCE5EE"/>
              </a:solidFill>
              <a:prstDash val="dash"/>
            </a:ln>
          </p:spPr>
        </p:sp>
        <p:sp>
          <p:nvSpPr>
            <p:cNvPr id="40" name="Line 40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solidFill>
                <a:srgbClr val="DCE5EE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609600" y="2762250"/>
              <a:ext cx="9601200" cy="9525"/>
            </a:xfrm>
            <a:custGeom>
              <a:avLst/>
              <a:gdLst/>
              <a:ahLst/>
              <a:cxnLst/>
              <a:rect l="l" t="t" r="r" b="b"/>
              <a:pathLst>
                <a:path w="9601200" h="9525">
                  <a:moveTo>
                    <a:pt x="0" y="0"/>
                  </a:moveTo>
                  <a:lnTo>
                    <a:pt x="9601200" y="0"/>
                  </a:lnTo>
                </a:path>
              </a:pathLst>
            </a:custGeom>
            <a:noFill/>
            <a:ln w="28575">
              <a:solidFill>
                <a:srgbClr val="1565C0">
                  <a:alpha val="35000"/>
                </a:srgbClr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895475" y="2676525"/>
              <a:ext cx="171450" cy="1714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943100" y="2724150"/>
              <a:ext cx="85725" cy="66675"/>
            </a:xfrm>
            <a:custGeom>
              <a:avLst/>
              <a:gdLst/>
              <a:ahLst/>
              <a:cxnLst/>
              <a:rect l="l" t="t" r="r" b="b"/>
              <a:pathLst>
                <a:path w="85725" h="66675">
                  <a:moveTo>
                    <a:pt x="0" y="38100"/>
                  </a:moveTo>
                  <a:lnTo>
                    <a:pt x="28575" y="66675"/>
                  </a:lnTo>
                  <a:lnTo>
                    <a:pt x="85725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44" name="Ellipse 44"/>
            <p:cNvSpPr/>
            <p:nvPr/>
          </p:nvSpPr>
          <p:spPr>
            <a:xfrm>
              <a:off x="4638675" y="2676525"/>
              <a:ext cx="171450" cy="1714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4686300" y="2724150"/>
              <a:ext cx="85725" cy="66675"/>
            </a:xfrm>
            <a:custGeom>
              <a:avLst/>
              <a:gdLst/>
              <a:ahLst/>
              <a:cxnLst/>
              <a:rect l="l" t="t" r="r" b="b"/>
              <a:pathLst>
                <a:path w="85725" h="66675">
                  <a:moveTo>
                    <a:pt x="0" y="38100"/>
                  </a:moveTo>
                  <a:lnTo>
                    <a:pt x="28575" y="66675"/>
                  </a:lnTo>
                  <a:lnTo>
                    <a:pt x="85725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46" name="Ellipse 46"/>
            <p:cNvSpPr/>
            <p:nvPr/>
          </p:nvSpPr>
          <p:spPr>
            <a:xfrm>
              <a:off x="7381875" y="2676525"/>
              <a:ext cx="171450" cy="1714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7429500" y="2724150"/>
              <a:ext cx="85725" cy="66675"/>
            </a:xfrm>
            <a:custGeom>
              <a:avLst/>
              <a:gdLst/>
              <a:ahLst/>
              <a:cxnLst/>
              <a:rect l="l" t="t" r="r" b="b"/>
              <a:pathLst>
                <a:path w="85725" h="66675">
                  <a:moveTo>
                    <a:pt x="0" y="38100"/>
                  </a:moveTo>
                  <a:lnTo>
                    <a:pt x="28575" y="66675"/>
                  </a:lnTo>
                  <a:lnTo>
                    <a:pt x="85725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48" name="Ellipse 48"/>
            <p:cNvSpPr/>
            <p:nvPr/>
          </p:nvSpPr>
          <p:spPr>
            <a:xfrm>
              <a:off x="10125075" y="2676525"/>
              <a:ext cx="171450" cy="1714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172700" y="2724150"/>
              <a:ext cx="85725" cy="66675"/>
            </a:xfrm>
            <a:custGeom>
              <a:avLst/>
              <a:gdLst/>
              <a:ahLst/>
              <a:cxnLst/>
              <a:rect l="l" t="t" r="r" b="b"/>
              <a:pathLst>
                <a:path w="85725" h="66675">
                  <a:moveTo>
                    <a:pt x="0" y="38100"/>
                  </a:moveTo>
                  <a:lnTo>
                    <a:pt x="28575" y="66675"/>
                  </a:lnTo>
                  <a:lnTo>
                    <a:pt x="85725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596265" y="3201352"/>
            <a:ext cx="10986135" cy="999173"/>
            <a:chOff x="596265" y="3201352"/>
            <a:chExt cx="10986135" cy="999173"/>
          </a:xfrm>
        </p:grpSpPr>
        <p:sp>
          <p:nvSpPr>
            <p:cNvPr id="51" name="TextBox 51"/>
            <p:cNvSpPr txBox="1"/>
            <p:nvPr/>
          </p:nvSpPr>
          <p:spPr>
            <a:xfrm>
              <a:off x="596265" y="32013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新增模块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1447800" y="325755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7218" y="3457099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auth · position · question ·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7218" y="3647599"/>
              <a:ext cx="1847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interview · evaluation · ai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8170" y="3865245"/>
              <a:ext cx="20536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八个 package 中的六个，一次到位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340418" y="34570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+ practice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340418" y="3647599"/>
              <a:ext cx="22034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新增 candidate 角色驱动两件事：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341370" y="3865245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作答邀请、在线作答与脱敏反馈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83618" y="3457099"/>
              <a:ext cx="6442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+ resume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83618" y="364759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按简历补题 · 准备助手 · DOCX 导出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84570" y="386524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简历成为两端之间的缝合线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6818" y="3457099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无新模块 —— 只加能力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826818" y="3647599"/>
              <a:ext cx="11924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evaluate_resume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27770" y="3865245"/>
              <a:ext cx="1619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上传解析 + 简历匹配度评估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609600" y="4191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596265" y="4363402"/>
            <a:ext cx="10986135" cy="656273"/>
            <a:chOff x="596265" y="4363402"/>
            <a:chExt cx="10986135" cy="656273"/>
          </a:xfrm>
        </p:grpSpPr>
        <p:sp>
          <p:nvSpPr>
            <p:cNvPr id="67" name="TextBox 67"/>
            <p:cNvSpPr txBox="1"/>
            <p:nvPr/>
          </p:nvSpPr>
          <p:spPr>
            <a:xfrm>
              <a:off x="596265" y="43634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新增依赖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1447800" y="441960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97218" y="4619149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FastAPI · SQLAlchemy · MySQL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98170" y="48367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选定后至今未换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340418" y="46191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无新依赖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341370" y="483679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复用既有栈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83618" y="4619149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python-docx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84570" y="48367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服务 DOCX 导出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826818" y="4619149"/>
              <a:ext cx="17905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pypdf · python-multipart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827770" y="48367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服务上传解析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09600" y="5334000"/>
            <a:ext cx="10972800" cy="557212"/>
            <a:chOff x="609600" y="5334000"/>
            <a:chExt cx="10972800" cy="557212"/>
          </a:xfrm>
        </p:grpSpPr>
        <p:sp>
          <p:nvSpPr>
            <p:cNvPr id="78" name="Rectangle 78"/>
            <p:cNvSpPr/>
            <p:nvPr/>
          </p:nvSpPr>
          <p:spPr>
            <a:xfrm>
              <a:off x="609600" y="5334000"/>
              <a:ext cx="10972800" cy="533400"/>
            </a:xfrm>
            <a:prstGeom prst="roundRect">
              <a:avLst>
                <a:gd name="adj" fmla="val 1428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09600" y="5334000"/>
              <a:ext cx="47625" cy="5334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882650" y="5511800"/>
              <a:ext cx="177800" cy="177800"/>
              <a:chOff x="882650" y="5511800"/>
              <a:chExt cx="177800" cy="177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927100" y="55118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82650" y="55562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242060" y="5452110"/>
              <a:ext cx="35269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一条贯穿四个版本的约束：技术栈全程不变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243965" y="5677852"/>
              <a:ext cx="68125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原生 HTML/CSS/JS + FastAPI + MySQL —— 不引入新框架，不引入中间件（无 Redis / 无消息队列）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0" grpId="0"/>
      <p:bldP spid="66" grpId="0"/>
      <p:bldP spid="77" grpId="0"/>
      <p:bldP spid="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26372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刻意画出的边界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19242" y="6677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01 项目概述与背景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P07 / 35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52575"/>
            <a:ext cx="10972800" cy="609600"/>
            <a:chOff x="609600" y="1552575"/>
            <a:chExt cx="10972800" cy="609600"/>
          </a:xfrm>
        </p:grpSpPr>
        <p:sp>
          <p:nvSpPr>
            <p:cNvPr id="11" name="Ellipse 11"/>
            <p:cNvSpPr/>
            <p:nvPr/>
          </p:nvSpPr>
          <p:spPr>
            <a:xfrm>
              <a:off x="657225" y="1552575"/>
              <a:ext cx="323850" cy="323850"/>
            </a:xfrm>
            <a:prstGeom prst="ellipse">
              <a:avLst/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8984" y="1640681"/>
              <a:ext cx="80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1609725"/>
              <a:ext cx="43815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25082" y="167306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17358" y="1624489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保留候选人上传的简历原文件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20215" y="1877378"/>
              <a:ext cx="42745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上传仅取文字、不落盘、不建文件记录 —— 要留原件请本地自存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152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09600" y="2295525"/>
            <a:ext cx="10972800" cy="609600"/>
            <a:chOff x="609600" y="2295525"/>
            <a:chExt cx="10972800" cy="609600"/>
          </a:xfrm>
        </p:grpSpPr>
        <p:sp>
          <p:nvSpPr>
            <p:cNvPr id="19" name="Ellipse 19"/>
            <p:cNvSpPr/>
            <p:nvPr/>
          </p:nvSpPr>
          <p:spPr>
            <a:xfrm>
              <a:off x="657225" y="2295525"/>
              <a:ext cx="323850" cy="323850"/>
            </a:xfrm>
            <a:prstGeom prst="ellipse">
              <a:avLst/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7419" y="238363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43000" y="2352675"/>
              <a:ext cx="43815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25082" y="24160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17358" y="2367439"/>
              <a:ext cx="114035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后端生成 PDF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20215" y="2620328"/>
              <a:ext cx="5999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PDF 由浏览器打印生成（</a:t>
              </a:r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window.print()</a:t>
              </a:r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）—— 代价是不支持脱离浏览器的后台批量导出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2895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609600" y="3038475"/>
            <a:ext cx="10972800" cy="609600"/>
            <a:chOff x="609600" y="3038475"/>
            <a:chExt cx="10972800" cy="609600"/>
          </a:xfrm>
        </p:grpSpPr>
        <p:sp>
          <p:nvSpPr>
            <p:cNvPr id="27" name="Ellipse 27"/>
            <p:cNvSpPr/>
            <p:nvPr/>
          </p:nvSpPr>
          <p:spPr>
            <a:xfrm>
              <a:off x="657225" y="3038475"/>
              <a:ext cx="323850" cy="323850"/>
            </a:xfrm>
            <a:prstGeom prst="ellipse">
              <a:avLst/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7419" y="312658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43000" y="3095625"/>
              <a:ext cx="43815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25082" y="315896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17358" y="3110389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向候选人下发逐题分与雷达图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20215" y="3363278"/>
              <a:ext cx="50182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默认不下发；仅由配置项 </a:t>
              </a:r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CANDIDATE_FEEDBACK_LEVEL</a:t>
              </a:r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 决定是否放开</a:t>
              </a:r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总分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09600" y="3638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09600" y="3781425"/>
            <a:ext cx="10972800" cy="609600"/>
            <a:chOff x="609600" y="3781425"/>
            <a:chExt cx="10972800" cy="609600"/>
          </a:xfrm>
        </p:grpSpPr>
        <p:sp>
          <p:nvSpPr>
            <p:cNvPr id="35" name="Ellipse 35"/>
            <p:cNvSpPr/>
            <p:nvPr/>
          </p:nvSpPr>
          <p:spPr>
            <a:xfrm>
              <a:off x="657225" y="3781425"/>
              <a:ext cx="323850" cy="323850"/>
            </a:xfrm>
            <a:prstGeom prst="ellipse">
              <a:avLst/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7419" y="386953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143000" y="3838575"/>
              <a:ext cx="43815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25082" y="39019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17358" y="3853339"/>
              <a:ext cx="13638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邮件 / 站内通知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20215" y="4106228"/>
              <a:ext cx="46885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邀请码在系统内展示与复制，由 HR 自行转达 —— 系统不承担送达保证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09600" y="4381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09600" y="4524375"/>
            <a:ext cx="10972800" cy="609600"/>
            <a:chOff x="609600" y="4524375"/>
            <a:chExt cx="10972800" cy="609600"/>
          </a:xfrm>
        </p:grpSpPr>
        <p:sp>
          <p:nvSpPr>
            <p:cNvPr id="43" name="Ellipse 43"/>
            <p:cNvSpPr/>
            <p:nvPr/>
          </p:nvSpPr>
          <p:spPr>
            <a:xfrm>
              <a:off x="657225" y="4524375"/>
              <a:ext cx="323850" cy="323850"/>
            </a:xfrm>
            <a:prstGeom prst="ellipse">
              <a:avLst/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7419" y="461248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143000" y="4581525"/>
              <a:ext cx="43815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25082" y="464486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17358" y="4596289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流式出题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20215" y="4849178"/>
              <a:ext cx="42055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只有评估环节走 SSE 流式；出题与准备提纲都是同步整批返回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09600" y="5124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609600" y="5267325"/>
            <a:ext cx="10972800" cy="609600"/>
            <a:chOff x="609600" y="5267325"/>
            <a:chExt cx="10972800" cy="609600"/>
          </a:xfrm>
        </p:grpSpPr>
        <p:sp>
          <p:nvSpPr>
            <p:cNvPr id="51" name="Ellipse 51"/>
            <p:cNvSpPr/>
            <p:nvPr/>
          </p:nvSpPr>
          <p:spPr>
            <a:xfrm>
              <a:off x="657225" y="5267325"/>
              <a:ext cx="323850" cy="323850"/>
            </a:xfrm>
            <a:prstGeom prst="ellipse">
              <a:avLst/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7419" y="535543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143000" y="5324475"/>
              <a:ext cx="43815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225082" y="53878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717358" y="5339239"/>
              <a:ext cx="13545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多 worker 部署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720215" y="5592128"/>
              <a:ext cx="4780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SSE 运行注册表与刷题限流计数都在进程内，</a:t>
              </a:r>
              <a:r>
                <a:rPr lang="zh-CN" sz="105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--workers 1</a:t>
              </a:r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 是硬性要求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609600" y="5867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34" grpId="0"/>
      <p:bldP spid="42" grpId="0"/>
      <p:bldP spid="50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E52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6677025" cy="6858000"/>
            <a:chOff x="0" y="0"/>
            <a:chExt cx="6677025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F57C00">
                <a:alpha val="85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667500" y="1714500"/>
              <a:ext cx="9525" cy="3429000"/>
            </a:xfrm>
            <a:prstGeom prst="rect">
              <a:avLst/>
            </a:prstGeom>
            <a:solidFill>
              <a:srgbClr val="EAF2FB">
                <a:alpha val="16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95325" y="1928812"/>
            <a:ext cx="2183487" cy="2286000"/>
            <a:chOff x="695325" y="1928812"/>
            <a:chExt cx="2183487" cy="2286000"/>
          </a:xfrm>
        </p:grpSpPr>
        <p:sp>
          <p:nvSpPr>
            <p:cNvPr id="6" name="TextBox 6"/>
            <p:cNvSpPr txBox="1"/>
            <p:nvPr/>
          </p:nvSpPr>
          <p:spPr>
            <a:xfrm>
              <a:off x="695325" y="1928812"/>
              <a:ext cx="2183487" cy="2286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b="1" dirty="0">
                  <a:solidFill>
                    <a:srgbClr val="EAF2FB">
                      <a:alphaMod val="14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" y="3543300"/>
              <a:ext cx="533400" cy="47625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96290" y="3834765"/>
            <a:ext cx="3213735" cy="903923"/>
            <a:chOff x="796290" y="3834765"/>
            <a:chExt cx="3213735" cy="903923"/>
          </a:xfrm>
        </p:grpSpPr>
        <p:sp>
          <p:nvSpPr>
            <p:cNvPr id="9" name="TextBox 9"/>
            <p:cNvSpPr txBox="1"/>
            <p:nvPr/>
          </p:nvSpPr>
          <p:spPr>
            <a:xfrm>
              <a:off x="796290" y="3834765"/>
              <a:ext cx="210807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业务流程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1055" y="4464368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两条主线、一条缝合线、两个状态机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50455" y="2447449"/>
            <a:ext cx="4145281" cy="2400776"/>
            <a:chOff x="7450455" y="2447449"/>
            <a:chExt cx="4145281" cy="2400776"/>
          </a:xfrm>
        </p:grpSpPr>
        <p:sp>
          <p:nvSpPr>
            <p:cNvPr id="12" name="TextBox 12"/>
            <p:cNvSpPr txBox="1"/>
            <p:nvPr/>
          </p:nvSpPr>
          <p:spPr>
            <a:xfrm>
              <a:off x="7455218" y="24474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AF2FB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本节内容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0455" y="2883218"/>
              <a:ext cx="31593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HR 主线：出题 → 记录 → 评估 → 报告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16033" y="29156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P09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467600" y="32385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50455" y="3416618"/>
              <a:ext cx="34748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候选人主线：激活 → 简历 → 作答 → 反馈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54372" y="34490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P10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467600" y="37719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50455" y="395001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简历驱动链路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92710" y="3982402"/>
              <a:ext cx="2030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P11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467600" y="43053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50455" y="4483418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两个状态机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54372" y="45158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P12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467600" y="48387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827722" y="6178391"/>
            <a:ext cx="10765156" cy="167640"/>
            <a:chOff x="827722" y="6178391"/>
            <a:chExt cx="10765156" cy="167640"/>
          </a:xfrm>
        </p:grpSpPr>
        <p:sp>
          <p:nvSpPr>
            <p:cNvPr id="26" name="TextBox 26"/>
            <p:cNvSpPr txBox="1"/>
            <p:nvPr/>
          </p:nvSpPr>
          <p:spPr>
            <a:xfrm>
              <a:off x="8277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P08 / 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4" cy="487680"/>
            <a:chOff x="579120" y="521970"/>
            <a:chExt cx="11016614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589448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主线：出题 → 记录 → 评估 → 报告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40961" y="667702"/>
              <a:ext cx="854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02 业务流程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P09 / 35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38350" y="1866900"/>
            <a:ext cx="8067675" cy="1"/>
            <a:chOff x="2038350" y="1866900"/>
            <a:chExt cx="8067675" cy="1"/>
          </a:xfrm>
        </p:grpSpPr>
        <p:sp>
          <p:nvSpPr>
            <p:cNvPr id="11" name="Line 11"/>
            <p:cNvSpPr/>
            <p:nvPr/>
          </p:nvSpPr>
          <p:spPr>
            <a:xfrm>
              <a:off x="2038350" y="1866900"/>
              <a:ext cx="1143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3629025" y="1866900"/>
              <a:ext cx="1143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5219700" y="1866900"/>
              <a:ext cx="1143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6810375" y="1866900"/>
              <a:ext cx="1143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8401050" y="1866900"/>
              <a:ext cx="1143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9991725" y="1866900"/>
              <a:ext cx="1143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1409700"/>
            <a:ext cx="1400175" cy="914400"/>
            <a:chOff x="609600" y="1409700"/>
            <a:chExt cx="1400175" cy="914400"/>
          </a:xfrm>
        </p:grpSpPr>
        <p:sp>
          <p:nvSpPr>
            <p:cNvPr id="18" name="Rectangle 18"/>
            <p:cNvSpPr/>
            <p:nvPr/>
          </p:nvSpPr>
          <p:spPr>
            <a:xfrm>
              <a:off x="609600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1518" y="1552099"/>
              <a:ext cx="1518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8660" y="17945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建岗位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422" y="2063591"/>
              <a:ext cx="9125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名称 / JD / 维度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00275" y="1409700"/>
            <a:ext cx="1400175" cy="914400"/>
            <a:chOff x="2200275" y="1409700"/>
            <a:chExt cx="1400175" cy="914400"/>
          </a:xfrm>
        </p:grpSpPr>
        <p:sp>
          <p:nvSpPr>
            <p:cNvPr id="23" name="Rectangle 23"/>
            <p:cNvSpPr/>
            <p:nvPr/>
          </p:nvSpPr>
          <p:spPr>
            <a:xfrm>
              <a:off x="2200275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02192" y="155209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99335" y="1794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新建面试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04098" y="2063591"/>
              <a:ext cx="7077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5 题库 + 3 AI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90950" y="1409700"/>
            <a:ext cx="1400175" cy="914400"/>
            <a:chOff x="3790950" y="1409700"/>
            <a:chExt cx="1400175" cy="914400"/>
          </a:xfrm>
        </p:grpSpPr>
        <p:sp>
          <p:nvSpPr>
            <p:cNvPr id="28" name="Rectangle 28"/>
            <p:cNvSpPr/>
            <p:nvPr/>
          </p:nvSpPr>
          <p:spPr>
            <a:xfrm>
              <a:off x="3790950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733925" y="1485900"/>
              <a:ext cx="381000" cy="171450"/>
            </a:xfrm>
            <a:prstGeom prst="roundRect">
              <a:avLst>
                <a:gd name="adj" fmla="val 16667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05362" y="1528762"/>
              <a:ext cx="238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可选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92868" y="155209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90010" y="1794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准备提纲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94772" y="20635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按岗位生成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81625" y="1409700"/>
            <a:ext cx="1400175" cy="914400"/>
            <a:chOff x="5381625" y="1409700"/>
            <a:chExt cx="1400175" cy="914400"/>
          </a:xfrm>
        </p:grpSpPr>
        <p:sp>
          <p:nvSpPr>
            <p:cNvPr id="35" name="Rectangle 35"/>
            <p:cNvSpPr/>
            <p:nvPr/>
          </p:nvSpPr>
          <p:spPr>
            <a:xfrm>
              <a:off x="5381625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324600" y="1485900"/>
              <a:ext cx="381000" cy="171450"/>
            </a:xfrm>
            <a:prstGeom prst="roundRect">
              <a:avLst>
                <a:gd name="adj" fmla="val 16667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96038" y="1528762"/>
              <a:ext cx="238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可选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83542" y="155209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80685" y="1794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发邀请码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85448" y="2063591"/>
              <a:ext cx="8884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仅 ongoing 可发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972300" y="1409700"/>
            <a:ext cx="1400175" cy="914400"/>
            <a:chOff x="6972300" y="1409700"/>
            <a:chExt cx="1400175" cy="914400"/>
          </a:xfrm>
        </p:grpSpPr>
        <p:sp>
          <p:nvSpPr>
            <p:cNvPr id="42" name="Rectangle 42"/>
            <p:cNvSpPr/>
            <p:nvPr/>
          </p:nvSpPr>
          <p:spPr>
            <a:xfrm>
              <a:off x="6972300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74218" y="155209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71360" y="1794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录入回答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76122" y="20635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实时保存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562975" y="1409700"/>
            <a:ext cx="1400175" cy="914400"/>
            <a:chOff x="8562975" y="1409700"/>
            <a:chExt cx="1400175" cy="914400"/>
          </a:xfrm>
        </p:grpSpPr>
        <p:sp>
          <p:nvSpPr>
            <p:cNvPr id="47" name="Rectangle 47"/>
            <p:cNvSpPr/>
            <p:nvPr/>
          </p:nvSpPr>
          <p:spPr>
            <a:xfrm>
              <a:off x="8562975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64892" y="155209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62035" y="1794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标记完成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66798" y="20635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收口本场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153650" y="1409700"/>
            <a:ext cx="1400175" cy="914400"/>
            <a:chOff x="10153650" y="1409700"/>
            <a:chExt cx="1400175" cy="914400"/>
          </a:xfrm>
        </p:grpSpPr>
        <p:sp>
          <p:nvSpPr>
            <p:cNvPr id="52" name="Rectangle 52"/>
            <p:cNvSpPr/>
            <p:nvPr/>
          </p:nvSpPr>
          <p:spPr>
            <a:xfrm>
              <a:off x="10153650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F57C0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255568" y="155209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07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52710" y="1794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评估导出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57472" y="2063591"/>
              <a:ext cx="6475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SSE → DOCX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96265" y="2553652"/>
            <a:ext cx="10986135" cy="213360"/>
            <a:chOff x="596265" y="2553652"/>
            <a:chExt cx="10986135" cy="213360"/>
          </a:xfrm>
        </p:grpSpPr>
        <p:sp>
          <p:nvSpPr>
            <p:cNvPr id="57" name="TextBox 57"/>
            <p:cNvSpPr txBox="1"/>
            <p:nvPr/>
          </p:nvSpPr>
          <p:spPr>
            <a:xfrm>
              <a:off x="596265" y="25536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三条易踩规则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1809750" y="2609850"/>
              <a:ext cx="9772650" cy="9525"/>
            </a:xfrm>
            <a:custGeom>
              <a:avLst/>
              <a:gdLst/>
              <a:ahLst/>
              <a:cxnLst/>
              <a:rect l="l" t="t" r="r" b="b"/>
              <a:pathLst>
                <a:path w="9772650" h="9525">
                  <a:moveTo>
                    <a:pt x="0" y="0"/>
                  </a:moveTo>
                  <a:lnTo>
                    <a:pt x="97726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609600" y="2781300"/>
            <a:ext cx="10972800" cy="876300"/>
            <a:chOff x="609600" y="2781300"/>
            <a:chExt cx="10972800" cy="876300"/>
          </a:xfrm>
        </p:grpSpPr>
        <p:sp>
          <p:nvSpPr>
            <p:cNvPr id="60" name="Rectangle 60"/>
            <p:cNvSpPr/>
            <p:nvPr/>
          </p:nvSpPr>
          <p:spPr>
            <a:xfrm>
              <a:off x="609600" y="2781300"/>
              <a:ext cx="109728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9600" y="2781300"/>
              <a:ext cx="38100" cy="876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56439" y="2959111"/>
              <a:ext cx="192114" cy="165051"/>
              <a:chOff x="856439" y="2959111"/>
              <a:chExt cx="192114" cy="16505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952500" y="30194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56439" y="29591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52500" y="3086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66" name="Rectangle 66"/>
            <p:cNvSpPr/>
            <p:nvPr/>
          </p:nvSpPr>
          <p:spPr>
            <a:xfrm>
              <a:off x="1181100" y="2933700"/>
              <a:ext cx="723900" cy="228600"/>
            </a:xfrm>
            <a:prstGeom prst="roundRect">
              <a:avLst>
                <a:gd name="adj" fmla="val 16667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255586" y="2998470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易踩点一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080260" y="2975610"/>
              <a:ext cx="41841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出题后</a:t>
              </a:r>
              <a:r>
                <a:rPr lang="zh-CN" sz="12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不能换题、不能删题</a:t>
              </a:r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补题是唯一的加题例外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082165" y="3277552"/>
              <a:ext cx="50873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补题只追加、不改动既有题目；序号续接本场最大值，注明来源为简历匹配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09600" y="3771900"/>
            <a:ext cx="10972800" cy="876300"/>
            <a:chOff x="609600" y="3771900"/>
            <a:chExt cx="10972800" cy="876300"/>
          </a:xfrm>
        </p:grpSpPr>
        <p:sp>
          <p:nvSpPr>
            <p:cNvPr id="71" name="Rectangle 71"/>
            <p:cNvSpPr/>
            <p:nvPr/>
          </p:nvSpPr>
          <p:spPr>
            <a:xfrm>
              <a:off x="609600" y="3771900"/>
              <a:ext cx="109728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09600" y="3771900"/>
              <a:ext cx="38100" cy="876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856439" y="3949711"/>
              <a:ext cx="192114" cy="165051"/>
              <a:chOff x="856439" y="3949711"/>
              <a:chExt cx="192114" cy="165051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952500" y="40100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56439" y="39497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952500" y="4076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77" name="Rectangle 77"/>
            <p:cNvSpPr/>
            <p:nvPr/>
          </p:nvSpPr>
          <p:spPr>
            <a:xfrm>
              <a:off x="1181100" y="3924300"/>
              <a:ext cx="723900" cy="228600"/>
            </a:xfrm>
            <a:prstGeom prst="roundRect">
              <a:avLst>
                <a:gd name="adj" fmla="val 16667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255586" y="3989070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易踩点二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080260" y="3966210"/>
              <a:ext cx="46047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发邀请码只在 </a:t>
              </a:r>
              <a:r>
                <a:rPr lang="zh-CN" sz="1200" b="1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ongoing</a:t>
              </a:r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可行 —— </a:t>
              </a:r>
              <a:r>
                <a:rPr lang="zh-CN" sz="12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completed 及之后提前拦截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2082165" y="4268152"/>
              <a:ext cx="42285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越权调用返回 409，并在 detail 里带上 {from, to} 便于定位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609600" y="4762500"/>
            <a:ext cx="10972800" cy="876300"/>
            <a:chOff x="609600" y="4762500"/>
            <a:chExt cx="10972800" cy="876300"/>
          </a:xfrm>
        </p:grpSpPr>
        <p:sp>
          <p:nvSpPr>
            <p:cNvPr id="82" name="Rectangle 82"/>
            <p:cNvSpPr/>
            <p:nvPr/>
          </p:nvSpPr>
          <p:spPr>
            <a:xfrm>
              <a:off x="609600" y="4762500"/>
              <a:ext cx="109728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09600" y="4762500"/>
              <a:ext cx="38100" cy="876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56439" y="4940311"/>
              <a:ext cx="192114" cy="165051"/>
              <a:chOff x="856439" y="4940311"/>
              <a:chExt cx="192114" cy="165051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952500" y="50006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56439" y="49403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952500" y="5067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88" name="Rectangle 88"/>
            <p:cNvSpPr/>
            <p:nvPr/>
          </p:nvSpPr>
          <p:spPr>
            <a:xfrm>
              <a:off x="1181100" y="4914900"/>
              <a:ext cx="723900" cy="228600"/>
            </a:xfrm>
            <a:prstGeom prst="roundRect">
              <a:avLst>
                <a:gd name="adj" fmla="val 16667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255586" y="4979670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易踩点三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2080260" y="4956810"/>
              <a:ext cx="33604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重新评估失败</a:t>
              </a:r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退回 evaluated，旧报告不丢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2082165" y="5258752"/>
              <a:ext cx="54246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回退目标由「库里有没有旧报告」决定：有则回 evaluated，无则回 completed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  <p:bldP spid="27" grpId="0"/>
      <p:bldP spid="34" grpId="0"/>
      <p:bldP spid="41" grpId="0"/>
      <p:bldP spid="46" grpId="0"/>
      <p:bldP spid="51" grpId="0"/>
      <p:bldP spid="56" grpId="0"/>
      <p:bldP spid="59" grpId="0"/>
      <p:bldP spid="70" grpId="0"/>
      <p:bldP spid="81" grpId="0"/>
      <p:bldP spid="9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4" cy="487680"/>
            <a:chOff x="579120" y="521970"/>
            <a:chExt cx="11016614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648336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候选人主线：激活 → 简历 → 作答 → 反馈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40961" y="667702"/>
              <a:ext cx="854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02 业务流程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P10 / 35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352675" y="2000250"/>
            <a:ext cx="7486650" cy="1"/>
            <a:chOff x="2352675" y="2000250"/>
            <a:chExt cx="7486650" cy="1"/>
          </a:xfrm>
        </p:grpSpPr>
        <p:sp>
          <p:nvSpPr>
            <p:cNvPr id="11" name="Line 11"/>
            <p:cNvSpPr/>
            <p:nvPr/>
          </p:nvSpPr>
          <p:spPr>
            <a:xfrm>
              <a:off x="2352675" y="2000250"/>
              <a:ext cx="76200" cy="1"/>
            </a:xfrm>
            <a:prstGeom prst="line">
              <a:avLst/>
            </a:prstGeom>
            <a:noFill/>
            <a:ln w="19050">
              <a:solidFill>
                <a:srgbClr val="00897B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4200525" y="2000250"/>
              <a:ext cx="76200" cy="1"/>
            </a:xfrm>
            <a:prstGeom prst="line">
              <a:avLst/>
            </a:prstGeom>
            <a:noFill/>
            <a:ln w="19050">
              <a:solidFill>
                <a:srgbClr val="00897B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6057900" y="2000250"/>
              <a:ext cx="76200" cy="1"/>
            </a:xfrm>
            <a:prstGeom prst="line">
              <a:avLst/>
            </a:prstGeom>
            <a:noFill/>
            <a:ln w="19050">
              <a:solidFill>
                <a:srgbClr val="00897B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7905750" y="2000250"/>
              <a:ext cx="76200" cy="1"/>
            </a:xfrm>
            <a:prstGeom prst="line">
              <a:avLst/>
            </a:prstGeom>
            <a:noFill/>
            <a:ln w="19050">
              <a:solidFill>
                <a:srgbClr val="00897B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9763125" y="2000250"/>
              <a:ext cx="76200" cy="1"/>
            </a:xfrm>
            <a:prstGeom prst="line">
              <a:avLst/>
            </a:prstGeom>
            <a:noFill/>
            <a:ln w="19050">
              <a:solidFill>
                <a:srgbClr val="00897B"/>
              </a:solidFill>
              <a:tailEnd type="triangle" w="lg" len="lg"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1409700"/>
            <a:ext cx="1714500" cy="1181100"/>
            <a:chOff x="609600" y="1409700"/>
            <a:chExt cx="1714500" cy="1181100"/>
          </a:xfrm>
        </p:grpSpPr>
        <p:sp>
          <p:nvSpPr>
            <p:cNvPr id="17" name="Rectangle 17"/>
            <p:cNvSpPr/>
            <p:nvPr/>
          </p:nvSpPr>
          <p:spPr>
            <a:xfrm>
              <a:off x="609600" y="1409700"/>
              <a:ext cx="1714500" cy="11811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0568" y="1571149"/>
              <a:ext cx="1518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6758" y="18626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拿到邀请码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2472" y="2177891"/>
              <a:ext cx="8282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由 HR 自行转达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2472" y="2368391"/>
              <a:ext cx="10029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系统内展示 + 复制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457450" y="1409700"/>
            <a:ext cx="1714500" cy="1181100"/>
            <a:chOff x="2457450" y="1409700"/>
            <a:chExt cx="1714500" cy="1181100"/>
          </a:xfrm>
        </p:grpSpPr>
        <p:sp>
          <p:nvSpPr>
            <p:cNvPr id="23" name="Rectangle 23"/>
            <p:cNvSpPr/>
            <p:nvPr/>
          </p:nvSpPr>
          <p:spPr>
            <a:xfrm>
              <a:off x="2457450" y="1409700"/>
              <a:ext cx="1714500" cy="11811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4288">
              <a:solidFill>
                <a:srgbClr val="00897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578418" y="157114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74608" y="1862614"/>
              <a:ext cx="4234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激活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0322" y="21778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公开端点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80322" y="23683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无需先登录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05300" y="1409700"/>
            <a:ext cx="1714500" cy="1181100"/>
            <a:chOff x="4305300" y="1409700"/>
            <a:chExt cx="1714500" cy="1181100"/>
          </a:xfrm>
        </p:grpSpPr>
        <p:sp>
          <p:nvSpPr>
            <p:cNvPr id="29" name="Rectangle 29"/>
            <p:cNvSpPr/>
            <p:nvPr/>
          </p:nvSpPr>
          <p:spPr>
            <a:xfrm>
              <a:off x="4305300" y="1409700"/>
              <a:ext cx="1714500" cy="11811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26268" y="157114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22458" y="18626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录入简历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28172" y="21778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粘贴或上传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28172" y="2368391"/>
              <a:ext cx="9246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DOCX / PDF 解析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53150" y="1409700"/>
            <a:ext cx="1714500" cy="1181100"/>
            <a:chOff x="6153150" y="1409700"/>
            <a:chExt cx="1714500" cy="1181100"/>
          </a:xfrm>
        </p:grpSpPr>
        <p:sp>
          <p:nvSpPr>
            <p:cNvPr id="35" name="Rectangle 35"/>
            <p:cNvSpPr/>
            <p:nvPr/>
          </p:nvSpPr>
          <p:spPr>
            <a:xfrm>
              <a:off x="6153150" y="1409700"/>
              <a:ext cx="1714500" cy="11811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74118" y="157114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0308" y="18626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关联面试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6022" y="21778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绑定到本场面试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76022" y="23683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候选人单侧发起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01000" y="1409700"/>
            <a:ext cx="1714500" cy="1181100"/>
            <a:chOff x="8001000" y="1409700"/>
            <a:chExt cx="1714500" cy="1181100"/>
          </a:xfrm>
        </p:grpSpPr>
        <p:sp>
          <p:nvSpPr>
            <p:cNvPr id="41" name="Rectangle 41"/>
            <p:cNvSpPr/>
            <p:nvPr/>
          </p:nvSpPr>
          <p:spPr>
            <a:xfrm>
              <a:off x="8001000" y="1409700"/>
              <a:ext cx="1714500" cy="11811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4288">
              <a:solidFill>
                <a:srgbClr val="F57C0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21968" y="157114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18158" y="18626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作答交卷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23872" y="21778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实时保存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23872" y="23683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交卷幂等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848850" y="1409700"/>
            <a:ext cx="1733550" cy="1181100"/>
            <a:chOff x="9848850" y="1409700"/>
            <a:chExt cx="1733550" cy="1181100"/>
          </a:xfrm>
        </p:grpSpPr>
        <p:sp>
          <p:nvSpPr>
            <p:cNvPr id="47" name="Rectangle 47"/>
            <p:cNvSpPr/>
            <p:nvPr/>
          </p:nvSpPr>
          <p:spPr>
            <a:xfrm>
              <a:off x="9848850" y="1409700"/>
              <a:ext cx="1733550" cy="11811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969818" y="157114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06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66008" y="18626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读脱敏反馈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71722" y="21778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评估完成后开放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71722" y="23683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默认不下发分数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9600" y="2857500"/>
            <a:ext cx="5391150" cy="3086100"/>
            <a:chOff x="609600" y="2857500"/>
            <a:chExt cx="5391150" cy="3086100"/>
          </a:xfrm>
        </p:grpSpPr>
        <p:sp>
          <p:nvSpPr>
            <p:cNvPr id="53" name="Rectangle 53"/>
            <p:cNvSpPr/>
            <p:nvPr/>
          </p:nvSpPr>
          <p:spPr>
            <a:xfrm>
              <a:off x="609600" y="2857500"/>
              <a:ext cx="5391150" cy="3086100"/>
            </a:xfrm>
            <a:prstGeom prst="roundRect">
              <a:avLst>
                <a:gd name="adj" fmla="val 2469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09600" y="2857500"/>
              <a:ext cx="5391150" cy="457200"/>
            </a:xfrm>
            <a:custGeom>
              <a:avLst/>
              <a:gdLst/>
              <a:ahLst/>
              <a:cxnLst/>
              <a:rect l="l" t="t" r="r" b="b"/>
              <a:pathLst>
                <a:path w="5391150" h="457200">
                  <a:moveTo>
                    <a:pt x="76200" y="0"/>
                  </a:moveTo>
                  <a:lnTo>
                    <a:pt x="5314950" y="0"/>
                  </a:lnTo>
                  <a:cubicBezTo>
                    <a:pt x="5357034" y="0"/>
                    <a:pt x="5391150" y="34116"/>
                    <a:pt x="5391150" y="76200"/>
                  </a:cubicBezTo>
                  <a:lnTo>
                    <a:pt x="5391150" y="457200"/>
                  </a:lnTo>
                  <a:lnTo>
                    <a:pt x="0" y="4572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66775" y="3009900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0" y="76200"/>
                  </a:moveTo>
                  <a:lnTo>
                    <a:pt x="38100" y="76200"/>
                  </a:lnTo>
                  <a:lnTo>
                    <a:pt x="66675" y="152400"/>
                  </a:lnTo>
                  <a:lnTo>
                    <a:pt x="104775" y="0"/>
                  </a:lnTo>
                  <a:lnTo>
                    <a:pt x="133350" y="76200"/>
                  </a:lnTo>
                  <a:lnTo>
                    <a:pt x="171450" y="7620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64908" y="3005614"/>
              <a:ext cx="2994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关键取舍一 · 交卷不推进面试状态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847725" y="36480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14412" y="3612356"/>
              <a:ext cx="4086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候选人作答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不进入面试状态机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交卷只锁定候选人通道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847725" y="40671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14412" y="4031456"/>
              <a:ext cx="29367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面试是否完成、何时评估，仍由 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决定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847725" y="44862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14412" y="4450556"/>
              <a:ext cx="3791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因此可能出现：候选人已交卷，而面试仍是 </a:t>
              </a:r>
              <a:r>
                <a:rPr lang="zh-CN" sz="112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ongoing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847725" y="49053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14412" y="4869656"/>
              <a:ext cx="37090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好处：HR 可继续补题、修订回答，不会被交卷卡住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38200" y="5295900"/>
              <a:ext cx="4933950" cy="419100"/>
            </a:xfrm>
            <a:prstGeom prst="roundRect">
              <a:avLst>
                <a:gd name="adj" fmla="val 1363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7265" y="5449252"/>
              <a:ext cx="39448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交卷写 </a:t>
              </a:r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submitted_at</a:t>
              </a:r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，并设计为幂等 —— 重复交卷不报错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191250" y="2857500"/>
            <a:ext cx="5562314" cy="3086100"/>
            <a:chOff x="6191250" y="2857500"/>
            <a:chExt cx="5562314" cy="3086100"/>
          </a:xfrm>
        </p:grpSpPr>
        <p:sp>
          <p:nvSpPr>
            <p:cNvPr id="68" name="Rectangle 68"/>
            <p:cNvSpPr/>
            <p:nvPr/>
          </p:nvSpPr>
          <p:spPr>
            <a:xfrm>
              <a:off x="6191250" y="2857500"/>
              <a:ext cx="5391150" cy="3086100"/>
            </a:xfrm>
            <a:prstGeom prst="roundRect">
              <a:avLst>
                <a:gd name="adj" fmla="val 2469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6191250" y="2857500"/>
              <a:ext cx="5391150" cy="457200"/>
            </a:xfrm>
            <a:custGeom>
              <a:avLst/>
              <a:gdLst/>
              <a:ahLst/>
              <a:cxnLst/>
              <a:rect l="l" t="t" r="r" b="b"/>
              <a:pathLst>
                <a:path w="5391150" h="457200">
                  <a:moveTo>
                    <a:pt x="76200" y="0"/>
                  </a:moveTo>
                  <a:lnTo>
                    <a:pt x="5314950" y="0"/>
                  </a:lnTo>
                  <a:cubicBezTo>
                    <a:pt x="5357034" y="0"/>
                    <a:pt x="5391150" y="34116"/>
                    <a:pt x="5391150" y="76200"/>
                  </a:cubicBezTo>
                  <a:lnTo>
                    <a:pt x="5391150" y="457200"/>
                  </a:lnTo>
                  <a:lnTo>
                    <a:pt x="0" y="4572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897B">
                <a:alpha val="10000"/>
              </a:srgbClr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448425" y="3000377"/>
              <a:ext cx="171448" cy="171448"/>
              <a:chOff x="6448425" y="3000377"/>
              <a:chExt cx="171448" cy="171448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448425" y="3000377"/>
                <a:ext cx="171448" cy="171448"/>
              </a:xfrm>
              <a:custGeom>
                <a:avLst/>
                <a:gdLst/>
                <a:ahLst/>
                <a:cxnLst/>
                <a:rect l="l" t="t" r="r" b="b"/>
                <a:pathLst>
                  <a:path w="171448" h="171448">
                    <a:moveTo>
                      <a:pt x="129111" y="8028"/>
                    </a:moveTo>
                    <a:lnTo>
                      <a:pt x="163420" y="42337"/>
                    </a:lnTo>
                    <a:cubicBezTo>
                      <a:pt x="168560" y="47476"/>
                      <a:pt x="171448" y="54447"/>
                      <a:pt x="171448" y="61715"/>
                    </a:cubicBezTo>
                    <a:cubicBezTo>
                      <a:pt x="171448" y="68984"/>
                      <a:pt x="168560" y="75955"/>
                      <a:pt x="163420" y="81094"/>
                    </a:cubicBezTo>
                    <a:lnTo>
                      <a:pt x="138246" y="106269"/>
                    </a:lnTo>
                    <a:cubicBezTo>
                      <a:pt x="133107" y="111409"/>
                      <a:pt x="126136" y="114296"/>
                      <a:pt x="118867" y="114296"/>
                    </a:cubicBezTo>
                    <a:cubicBezTo>
                      <a:pt x="111599" y="114296"/>
                      <a:pt x="104628" y="111409"/>
                      <a:pt x="99489" y="106269"/>
                    </a:cubicBezTo>
                    <a:lnTo>
                      <a:pt x="96622" y="103402"/>
                    </a:lnTo>
                    <a:lnTo>
                      <a:pt x="34157" y="165867"/>
                    </a:lnTo>
                    <a:cubicBezTo>
                      <a:pt x="30992" y="169031"/>
                      <a:pt x="26814" y="170980"/>
                      <a:pt x="22355" y="171372"/>
                    </a:cubicBezTo>
                    <a:lnTo>
                      <a:pt x="20688" y="171448"/>
                    </a:lnTo>
                    <a:lnTo>
                      <a:pt x="9525" y="171448"/>
                    </a:lnTo>
                    <a:cubicBezTo>
                      <a:pt x="4696" y="171448"/>
                      <a:pt x="632" y="167833"/>
                      <a:pt x="67" y="163038"/>
                    </a:cubicBezTo>
                    <a:lnTo>
                      <a:pt x="0" y="161923"/>
                    </a:lnTo>
                    <a:lnTo>
                      <a:pt x="0" y="150760"/>
                    </a:lnTo>
                    <a:cubicBezTo>
                      <a:pt x="1" y="146287"/>
                      <a:pt x="1576" y="141958"/>
                      <a:pt x="4448" y="138530"/>
                    </a:cubicBezTo>
                    <a:lnTo>
                      <a:pt x="5582" y="137292"/>
                    </a:lnTo>
                    <a:lnTo>
                      <a:pt x="9525" y="133348"/>
                    </a:lnTo>
                    <a:lnTo>
                      <a:pt x="28575" y="133348"/>
                    </a:lnTo>
                    <a:lnTo>
                      <a:pt x="28575" y="114298"/>
                    </a:lnTo>
                    <a:lnTo>
                      <a:pt x="47625" y="114298"/>
                    </a:lnTo>
                    <a:lnTo>
                      <a:pt x="47625" y="95248"/>
                    </a:lnTo>
                    <a:lnTo>
                      <a:pt x="68047" y="74827"/>
                    </a:lnTo>
                    <a:lnTo>
                      <a:pt x="65180" y="71960"/>
                    </a:lnTo>
                    <a:cubicBezTo>
                      <a:pt x="60040" y="66820"/>
                      <a:pt x="57152" y="59849"/>
                      <a:pt x="57152" y="52581"/>
                    </a:cubicBezTo>
                    <a:cubicBezTo>
                      <a:pt x="57152" y="45312"/>
                      <a:pt x="60040" y="38342"/>
                      <a:pt x="65180" y="33202"/>
                    </a:cubicBezTo>
                    <a:lnTo>
                      <a:pt x="90354" y="8028"/>
                    </a:lnTo>
                    <a:cubicBezTo>
                      <a:pt x="95493" y="2888"/>
                      <a:pt x="102464" y="0"/>
                      <a:pt x="109733" y="0"/>
                    </a:cubicBezTo>
                    <a:cubicBezTo>
                      <a:pt x="117001" y="0"/>
                      <a:pt x="123972" y="2888"/>
                      <a:pt x="129111" y="8028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562725" y="3057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746558" y="3005614"/>
              <a:ext cx="2408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关键取舍二 · 账号复用规则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429375" y="364807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596062" y="3612356"/>
              <a:ext cx="3717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用户名已被 </a:t>
              </a:r>
              <a:r>
                <a:rPr lang="zh-CN" sz="112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candidate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占用 → </a:t>
              </a:r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必须密码一致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才复用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429375" y="406717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96062" y="4031456"/>
              <a:ext cx="3265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密码不符即 </a:t>
              </a:r>
              <a:r>
                <a:rPr lang="zh-CN" sz="112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401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，不暴露该用户名是否已存在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429375" y="448627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596062" y="4450556"/>
              <a:ext cx="25506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用户名已被 </a:t>
              </a:r>
              <a:r>
                <a:rPr lang="zh-CN" sz="112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hr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/ </a:t>
              </a:r>
              <a:r>
                <a:rPr lang="zh-CN" sz="112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admin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占用 → </a:t>
              </a:r>
              <a:r>
                <a:rPr lang="zh-CN" sz="112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409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429375" y="490537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96062" y="4869656"/>
              <a:ext cx="2747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被禁用的账号 → </a:t>
              </a:r>
              <a:r>
                <a:rPr lang="zh-CN" sz="11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不得复用绑定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（401）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419850" y="5295900"/>
              <a:ext cx="4933950" cy="419100"/>
            </a:xfrm>
            <a:prstGeom prst="roundRect">
              <a:avLst>
                <a:gd name="adj" fmla="val 1363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58915" y="5449252"/>
              <a:ext cx="51946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禁用账号一旦被绑定，会消耗掉一次性邀请码 —— 候选人永远打不开这场面试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8" grpId="0"/>
      <p:bldP spid="34" grpId="0"/>
      <p:bldP spid="40" grpId="0"/>
      <p:bldP spid="46" grpId="0"/>
      <p:bldP spid="52" grpId="0"/>
      <p:bldP spid="67" grpId="0"/>
      <p:bldP spid="8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4" cy="487680"/>
            <a:chOff x="579120" y="521970"/>
            <a:chExt cx="11016614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2269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简历驱动链路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40961" y="667702"/>
              <a:ext cx="854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02 业务流程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62252" y="6178391"/>
              <a:ext cx="4306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P11 / 35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1447800"/>
            <a:ext cx="10972800" cy="838200"/>
            <a:chOff x="609600" y="1447800"/>
            <a:chExt cx="10972800" cy="838200"/>
          </a:xfrm>
        </p:grpSpPr>
        <p:sp>
          <p:nvSpPr>
            <p:cNvPr id="11" name="Polygon 11"/>
            <p:cNvSpPr/>
            <p:nvPr/>
          </p:nvSpPr>
          <p:spPr>
            <a:xfrm>
              <a:off x="609600" y="1447800"/>
              <a:ext cx="1714500" cy="838200"/>
            </a:xfrm>
            <a:custGeom>
              <a:avLst/>
              <a:gdLst/>
              <a:ahLst/>
              <a:cxnLst/>
              <a:rect l="l" t="t" r="r" b="b"/>
              <a:pathLst>
                <a:path w="1714500" h="838200">
                  <a:moveTo>
                    <a:pt x="0" y="0"/>
                  </a:moveTo>
                  <a:lnTo>
                    <a:pt x="1371600" y="0"/>
                  </a:lnTo>
                  <a:lnTo>
                    <a:pt x="1714500" y="419100"/>
                  </a:lnTo>
                  <a:lnTo>
                    <a:pt x="1371600" y="838200"/>
                  </a:lnTo>
                  <a:lnTo>
                    <a:pt x="0" y="838200"/>
                  </a:lnTo>
                  <a:lnTo>
                    <a:pt x="342900" y="419100"/>
                  </a:lnTo>
                  <a:close/>
                </a:path>
              </a:pathLst>
            </a:custGeom>
            <a:solidFill>
              <a:srgbClr val="0B2E5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68265" y="1707356"/>
              <a:ext cx="787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HR 建面试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6665" y="196834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AF2FB">
                      <a:alphaMod val="75000"/>
                    </a:srgbClr>
                  </a:solidFill>
                  <a:latin typeface="Consolas"/>
                  <a:ea typeface="Microsoft YaHei"/>
                  <a:cs typeface="Consolas"/>
                </a:rPr>
                <a:t>STAGE 01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2457450" y="1447800"/>
              <a:ext cx="1714500" cy="838200"/>
            </a:xfrm>
            <a:custGeom>
              <a:avLst/>
              <a:gdLst/>
              <a:ahLst/>
              <a:cxnLst/>
              <a:rect l="l" t="t" r="r" b="b"/>
              <a:pathLst>
                <a:path w="1714500" h="838200">
                  <a:moveTo>
                    <a:pt x="0" y="0"/>
                  </a:moveTo>
                  <a:lnTo>
                    <a:pt x="1371600" y="0"/>
                  </a:lnTo>
                  <a:lnTo>
                    <a:pt x="1714500" y="419100"/>
                  </a:lnTo>
                  <a:lnTo>
                    <a:pt x="1371600" y="838200"/>
                  </a:lnTo>
                  <a:lnTo>
                    <a:pt x="0" y="838200"/>
                  </a:lnTo>
                  <a:lnTo>
                    <a:pt x="342900" y="41910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29854" y="1707356"/>
              <a:ext cx="9601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HR 发邀请码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49453" y="19683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AF2FB">
                      <a:alphaMod val="75000"/>
                    </a:srgbClr>
                  </a:solidFill>
                  <a:latin typeface="Consolas"/>
                  <a:ea typeface="Microsoft YaHei"/>
                  <a:cs typeface="Consolas"/>
                </a:rPr>
                <a:t>STAGE 02</a:t>
              </a:r>
            </a:p>
          </p:txBody>
        </p:sp>
        <p:sp>
          <p:nvSpPr>
            <p:cNvPr id="17" name="Polygon 17"/>
            <p:cNvSpPr/>
            <p:nvPr/>
          </p:nvSpPr>
          <p:spPr>
            <a:xfrm>
              <a:off x="4314825" y="1447800"/>
              <a:ext cx="1714500" cy="838200"/>
            </a:xfrm>
            <a:custGeom>
              <a:avLst/>
              <a:gdLst/>
              <a:ahLst/>
              <a:cxnLst/>
              <a:rect l="l" t="t" r="r" b="b"/>
              <a:pathLst>
                <a:path w="1714500" h="838200">
                  <a:moveTo>
                    <a:pt x="0" y="0"/>
                  </a:moveTo>
                  <a:lnTo>
                    <a:pt x="1371600" y="0"/>
                  </a:lnTo>
                  <a:lnTo>
                    <a:pt x="1714500" y="419100"/>
                  </a:lnTo>
                  <a:lnTo>
                    <a:pt x="1371600" y="838200"/>
                  </a:lnTo>
                  <a:lnTo>
                    <a:pt x="0" y="838200"/>
                  </a:lnTo>
                  <a:lnTo>
                    <a:pt x="342900" y="419100"/>
                  </a:lnTo>
                  <a:close/>
                </a:path>
              </a:pathLst>
            </a:custGeom>
            <a:solidFill>
              <a:srgbClr val="00897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21734" y="17073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候选人激活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06828" y="19683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AF2FB">
                      <a:alphaMod val="75000"/>
                    </a:srgbClr>
                  </a:solidFill>
                  <a:latin typeface="Consolas"/>
                  <a:ea typeface="Microsoft YaHei"/>
                  <a:cs typeface="Consolas"/>
                </a:rPr>
                <a:t>STAGE 03</a:t>
              </a:r>
            </a:p>
          </p:txBody>
        </p:sp>
        <p:sp>
          <p:nvSpPr>
            <p:cNvPr id="20" name="Polygon 20"/>
            <p:cNvSpPr/>
            <p:nvPr/>
          </p:nvSpPr>
          <p:spPr>
            <a:xfrm>
              <a:off x="6162675" y="1447800"/>
              <a:ext cx="1714500" cy="838200"/>
            </a:xfrm>
            <a:custGeom>
              <a:avLst/>
              <a:gdLst/>
              <a:ahLst/>
              <a:cxnLst/>
              <a:rect l="l" t="t" r="r" b="b"/>
              <a:pathLst>
                <a:path w="1714500" h="838200">
                  <a:moveTo>
                    <a:pt x="0" y="0"/>
                  </a:moveTo>
                  <a:lnTo>
                    <a:pt x="1371600" y="0"/>
                  </a:lnTo>
                  <a:lnTo>
                    <a:pt x="1714500" y="419100"/>
                  </a:lnTo>
                  <a:lnTo>
                    <a:pt x="1371600" y="838200"/>
                  </a:lnTo>
                  <a:lnTo>
                    <a:pt x="0" y="838200"/>
                  </a:lnTo>
                  <a:lnTo>
                    <a:pt x="342900" y="419100"/>
                  </a:lnTo>
                  <a:close/>
                </a:path>
              </a:pathLst>
            </a:custGeom>
            <a:solidFill>
              <a:srgbClr val="00897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83323" y="17073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录并关联简历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54678" y="19683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AF2FB">
                      <a:alphaMod val="75000"/>
                    </a:srgbClr>
                  </a:solidFill>
                  <a:latin typeface="Consolas"/>
                  <a:ea typeface="Microsoft YaHei"/>
                  <a:cs typeface="Consolas"/>
                </a:rPr>
                <a:t>STAGE 04</a:t>
              </a:r>
            </a:p>
          </p:txBody>
        </p:sp>
        <p:sp>
          <p:nvSpPr>
            <p:cNvPr id="23" name="Polygon 23"/>
            <p:cNvSpPr/>
            <p:nvPr/>
          </p:nvSpPr>
          <p:spPr>
            <a:xfrm>
              <a:off x="8020050" y="1447800"/>
              <a:ext cx="1714500" cy="838200"/>
            </a:xfrm>
            <a:custGeom>
              <a:avLst/>
              <a:gdLst/>
              <a:ahLst/>
              <a:cxnLst/>
              <a:rect l="l" t="t" r="r" b="b"/>
              <a:pathLst>
                <a:path w="1714500" h="838200">
                  <a:moveTo>
                    <a:pt x="0" y="0"/>
                  </a:moveTo>
                  <a:lnTo>
                    <a:pt x="1371600" y="0"/>
                  </a:lnTo>
                  <a:lnTo>
                    <a:pt x="1714500" y="419100"/>
                  </a:lnTo>
                  <a:lnTo>
                    <a:pt x="1371600" y="838200"/>
                  </a:lnTo>
                  <a:lnTo>
                    <a:pt x="0" y="838200"/>
                  </a:lnTo>
                  <a:lnTo>
                    <a:pt x="342900" y="41910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6959" y="17073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按简历补题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12053" y="19683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AF2FB">
                      <a:alphaMod val="75000"/>
                    </a:srgbClr>
                  </a:solidFill>
                  <a:latin typeface="Consolas"/>
                  <a:ea typeface="Microsoft YaHei"/>
                  <a:cs typeface="Consolas"/>
                </a:rPr>
                <a:t>STAGE 05</a:t>
              </a:r>
            </a:p>
          </p:txBody>
        </p:sp>
        <p:sp>
          <p:nvSpPr>
            <p:cNvPr id="26" name="Polygon 26"/>
            <p:cNvSpPr/>
            <p:nvPr/>
          </p:nvSpPr>
          <p:spPr>
            <a:xfrm>
              <a:off x="9867900" y="1447800"/>
              <a:ext cx="1714500" cy="838200"/>
            </a:xfrm>
            <a:custGeom>
              <a:avLst/>
              <a:gdLst/>
              <a:ahLst/>
              <a:cxnLst/>
              <a:rect l="l" t="t" r="r" b="b"/>
              <a:pathLst>
                <a:path w="1714500" h="838200">
                  <a:moveTo>
                    <a:pt x="0" y="0"/>
                  </a:moveTo>
                  <a:lnTo>
                    <a:pt x="1371600" y="0"/>
                  </a:lnTo>
                  <a:lnTo>
                    <a:pt x="1714500" y="419100"/>
                  </a:lnTo>
                  <a:lnTo>
                    <a:pt x="1371600" y="838200"/>
                  </a:lnTo>
                  <a:lnTo>
                    <a:pt x="0" y="838200"/>
                  </a:lnTo>
                  <a:lnTo>
                    <a:pt x="342900" y="419100"/>
                  </a:lnTo>
                  <a:close/>
                </a:path>
              </a:pathLst>
            </a:custGeom>
            <a:solidFill>
              <a:srgbClr val="F57C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74809" y="17073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收口与报告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59903" y="19683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AF2FB">
                      <a:alphaMod val="75000"/>
                    </a:srgbClr>
                  </a:solidFill>
                  <a:latin typeface="Consolas"/>
                  <a:ea typeface="Microsoft YaHei"/>
                  <a:cs typeface="Consolas"/>
                </a:rPr>
                <a:t>STAGE 06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22521" y="2485549"/>
            <a:ext cx="10269176" cy="393382"/>
            <a:chOff x="1122521" y="2485549"/>
            <a:chExt cx="10269176" cy="393382"/>
          </a:xfrm>
        </p:grpSpPr>
        <p:sp>
          <p:nvSpPr>
            <p:cNvPr id="30" name="TextBox 30"/>
            <p:cNvSpPr txBox="1"/>
            <p:nvPr/>
          </p:nvSpPr>
          <p:spPr>
            <a:xfrm>
              <a:off x="1122521" y="24855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面试 + 8 道题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46787" y="2711291"/>
              <a:ext cx="4306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发起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70371" y="24855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一次性邀请码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94637" y="2711291"/>
              <a:ext cx="4306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发起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45867" y="24855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账号 + 绑定面试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55619" y="27112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候选人发起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04397" y="24855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简历归属候选人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03469" y="27112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候选人发起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9893" y="2485549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追加题 + 准备提纲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57237" y="2711291"/>
              <a:ext cx="4306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发起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49102" y="248554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报告 + DOCX 导出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05087" y="2711291"/>
              <a:ext cx="4306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发起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9600" y="3028950"/>
            <a:ext cx="10972800" cy="704850"/>
            <a:chOff x="609600" y="3028950"/>
            <a:chExt cx="10972800" cy="704850"/>
          </a:xfrm>
        </p:grpSpPr>
        <p:sp>
          <p:nvSpPr>
            <p:cNvPr id="43" name="Rectangle 43"/>
            <p:cNvSpPr/>
            <p:nvPr/>
          </p:nvSpPr>
          <p:spPr>
            <a:xfrm>
              <a:off x="609600" y="3028950"/>
              <a:ext cx="10972800" cy="704850"/>
            </a:xfrm>
            <a:prstGeom prst="roundRect">
              <a:avLst>
                <a:gd name="adj" fmla="val 10811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6770" y="31603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两处关键调用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38200" y="3352800"/>
              <a:ext cx="3200400" cy="266700"/>
            </a:xfrm>
            <a:prstGeom prst="roundRect">
              <a:avLst>
                <a:gd name="adj" fmla="val 14286"/>
              </a:avLst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0120" y="3436620"/>
              <a:ext cx="2586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PUT /candidate/interviews/{id}/resume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40518" y="34285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候选人把简历关联到本场面试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524750" y="3352800"/>
              <a:ext cx="2857500" cy="266700"/>
            </a:xfrm>
            <a:prstGeom prst="roundRect">
              <a:avLst>
                <a:gd name="adj" fmla="val 14286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46670" y="3436620"/>
              <a:ext cx="2612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POST /interviews/{id}/questions/match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84168" y="3428524"/>
              <a:ext cx="9361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HR 按简历补题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57225" y="4012406"/>
            <a:ext cx="5896689" cy="1028700"/>
            <a:chOff x="657225" y="4012406"/>
            <a:chExt cx="5896689" cy="1028700"/>
          </a:xfrm>
        </p:grpSpPr>
        <p:sp>
          <p:nvSpPr>
            <p:cNvPr id="52" name="Ellipse 52"/>
            <p:cNvSpPr/>
            <p:nvPr/>
          </p:nvSpPr>
          <p:spPr>
            <a:xfrm>
              <a:off x="657225" y="40481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23912" y="4012406"/>
              <a:ext cx="57300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简历由</a:t>
              </a:r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候选人单侧提交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，出现在面试创建</a:t>
              </a:r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之后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因此关联动作也由候选人发起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57225" y="44481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23912" y="4412456"/>
              <a:ext cx="54013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这是 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能看到候选人简历的唯一通路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（简历表不反向依赖任何业务模块）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7225" y="48482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23912" y="4812506"/>
              <a:ext cx="50727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同一份简历可被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多场面试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与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多次练习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复用 —— 刷题推荐读的是同一张表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9600" y="5295900"/>
            <a:ext cx="10972800" cy="571500"/>
            <a:chOff x="609600" y="5295900"/>
            <a:chExt cx="10972800" cy="571500"/>
          </a:xfrm>
        </p:grpSpPr>
        <p:sp>
          <p:nvSpPr>
            <p:cNvPr id="59" name="Rectangle 59"/>
            <p:cNvSpPr/>
            <p:nvPr/>
          </p:nvSpPr>
          <p:spPr>
            <a:xfrm>
              <a:off x="609600" y="5295900"/>
              <a:ext cx="10972800" cy="571500"/>
            </a:xfrm>
            <a:prstGeom prst="roundRect">
              <a:avLst>
                <a:gd name="adj" fmla="val 13333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71538" y="5481638"/>
              <a:ext cx="200025" cy="200024"/>
              <a:chOff x="871538" y="5481638"/>
              <a:chExt cx="200025" cy="200024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71538" y="56372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027113" y="54816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93762" y="5503862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4" y="155575"/>
                      <a:pt x="166688" y="138162"/>
                      <a:pt x="166688" y="116681"/>
                    </a:cubicBezTo>
                    <a:cubicBezTo>
                      <a:pt x="166688" y="95201"/>
                      <a:pt x="149274" y="77787"/>
                      <a:pt x="127794" y="77787"/>
                    </a:cubicBezTo>
                    <a:lnTo>
                      <a:pt x="38894" y="77787"/>
                    </a:lnTo>
                    <a:cubicBezTo>
                      <a:pt x="17413" y="77787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243012" y="54030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谁写入、谁消费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243965" y="5620702"/>
              <a:ext cx="58080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候选人写入（唯一写方） · HR 消费（按简历补题） · 候选人消费（按简历推荐刷题）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2" grpId="0"/>
      <p:bldP spid="51" grpId="0"/>
      <p:bldP spid="58" grpId="0"/>
      <p:bldP spid="6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4" cy="487680"/>
            <a:chOff x="579120" y="521970"/>
            <a:chExt cx="11016614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190119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两个状态机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40961" y="667702"/>
              <a:ext cx="854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02 业务流程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P12 / 35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6265" y="1391602"/>
            <a:ext cx="7606665" cy="213360"/>
            <a:chOff x="596265" y="1391602"/>
            <a:chExt cx="7606665" cy="213360"/>
          </a:xfrm>
        </p:grpSpPr>
        <p:sp>
          <p:nvSpPr>
            <p:cNvPr id="11" name="TextBox 11"/>
            <p:cNvSpPr txBox="1"/>
            <p:nvPr/>
          </p:nvSpPr>
          <p:spPr>
            <a:xfrm>
              <a:off x="596265" y="139160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面试状态机 · 5 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97065" y="14077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与作答邀请</a:t>
              </a:r>
              <a:r>
                <a:rPr lang="zh-CN" sz="90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完全解耦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254901" y="1358741"/>
            <a:ext cx="3317474" cy="546259"/>
            <a:chOff x="4254901" y="1358741"/>
            <a:chExt cx="3317474" cy="546259"/>
          </a:xfrm>
        </p:grpSpPr>
        <p:sp>
          <p:nvSpPr>
            <p:cNvPr id="14" name="Freeform 14"/>
            <p:cNvSpPr/>
            <p:nvPr/>
          </p:nvSpPr>
          <p:spPr>
            <a:xfrm>
              <a:off x="4400550" y="1581150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428750" y="323850"/>
                  </a:moveTo>
                  <a:cubicBezTo>
                    <a:pt x="1428750" y="0"/>
                    <a:pt x="0" y="0"/>
                    <a:pt x="0" y="285750"/>
                  </a:cubicBezTo>
                </a:path>
              </a:pathLst>
            </a:custGeom>
            <a:noFill/>
            <a:ln w="14288">
              <a:solidFill>
                <a:srgbClr val="C62828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15" name="Freeform 15"/>
            <p:cNvSpPr/>
            <p:nvPr/>
          </p:nvSpPr>
          <p:spPr>
            <a:xfrm>
              <a:off x="6143625" y="1581150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0" y="323850"/>
                  </a:moveTo>
                  <a:cubicBezTo>
                    <a:pt x="0" y="0"/>
                    <a:pt x="1428750" y="0"/>
                    <a:pt x="1428750" y="285750"/>
                  </a:cubicBezTo>
                </a:path>
              </a:pathLst>
            </a:custGeom>
            <a:noFill/>
            <a:ln w="14288">
              <a:solidFill>
                <a:srgbClr val="C62828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54901" y="1606391"/>
              <a:ext cx="18343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失败回退：无旧报告 → completed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54103" y="1358741"/>
              <a:ext cx="12077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有旧报告 → evaluated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1905000"/>
            <a:ext cx="7581900" cy="571500"/>
            <a:chOff x="609600" y="1905000"/>
            <a:chExt cx="7581900" cy="571500"/>
          </a:xfrm>
        </p:grpSpPr>
        <p:sp>
          <p:nvSpPr>
            <p:cNvPr id="19" name="Line 19"/>
            <p:cNvSpPr/>
            <p:nvPr/>
          </p:nvSpPr>
          <p:spPr>
            <a:xfrm>
              <a:off x="1847850" y="2190750"/>
              <a:ext cx="3048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20" name="Line 20"/>
            <p:cNvSpPr/>
            <p:nvPr/>
          </p:nvSpPr>
          <p:spPr>
            <a:xfrm>
              <a:off x="3429000" y="2190750"/>
              <a:ext cx="314325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21" name="Line 21"/>
            <p:cNvSpPr/>
            <p:nvPr/>
          </p:nvSpPr>
          <p:spPr>
            <a:xfrm>
              <a:off x="5019675" y="2190750"/>
              <a:ext cx="3048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22" name="Line 22"/>
            <p:cNvSpPr/>
            <p:nvPr/>
          </p:nvSpPr>
          <p:spPr>
            <a:xfrm>
              <a:off x="6600825" y="2190750"/>
              <a:ext cx="314325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19050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93A1B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77220" y="2031206"/>
              <a:ext cx="5030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draft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7756" y="225409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草稿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190750" y="19050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485049" y="203120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ongoing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18661" y="22540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进行中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781425" y="19050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63585" y="2031206"/>
              <a:ext cx="8739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completed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09336" y="22540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62575" y="19050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F57C0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536109" y="20312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evaluating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90486" y="22540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评估中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53250" y="19050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2E7D3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52662" y="2031206"/>
              <a:ext cx="8394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evaluated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1161" y="22540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已评估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857500" y="2476500"/>
            <a:ext cx="5048250" cy="916781"/>
            <a:chOff x="2857500" y="2476500"/>
            <a:chExt cx="5048250" cy="916781"/>
          </a:xfrm>
        </p:grpSpPr>
        <p:sp>
          <p:nvSpPr>
            <p:cNvPr id="39" name="Freeform 39"/>
            <p:cNvSpPr/>
            <p:nvPr/>
          </p:nvSpPr>
          <p:spPr>
            <a:xfrm>
              <a:off x="3200400" y="2476500"/>
              <a:ext cx="895350" cy="381000"/>
            </a:xfrm>
            <a:custGeom>
              <a:avLst/>
              <a:gdLst/>
              <a:ahLst/>
              <a:cxnLst/>
              <a:rect l="l" t="t" r="r" b="b"/>
              <a:pathLst>
                <a:path w="895350" h="381000">
                  <a:moveTo>
                    <a:pt x="895350" y="0"/>
                  </a:moveTo>
                  <a:lnTo>
                    <a:pt x="895350" y="381000"/>
                  </a:lnTo>
                  <a:lnTo>
                    <a:pt x="0" y="381000"/>
                  </a:lnTo>
                  <a:lnTo>
                    <a:pt x="0" y="38100"/>
                  </a:lnTo>
                </a:path>
              </a:pathLst>
            </a:custGeom>
            <a:noFill/>
            <a:ln w="14288">
              <a:solidFill>
                <a:srgbClr val="1565C0"/>
              </a:solidFill>
              <a:prstDash val="lgDash"/>
              <a:tailEnd type="triangle" w="med" len="med"/>
            </a:ln>
          </p:spPr>
        </p:sp>
        <p:sp>
          <p:nvSpPr>
            <p:cNvPr id="40" name="Freeform 40"/>
            <p:cNvSpPr/>
            <p:nvPr/>
          </p:nvSpPr>
          <p:spPr>
            <a:xfrm>
              <a:off x="6143625" y="2476500"/>
              <a:ext cx="1381125" cy="419100"/>
            </a:xfrm>
            <a:custGeom>
              <a:avLst/>
              <a:gdLst/>
              <a:ahLst/>
              <a:cxnLst/>
              <a:rect l="l" t="t" r="r" b="b"/>
              <a:pathLst>
                <a:path w="1381125" h="419100">
                  <a:moveTo>
                    <a:pt x="1381125" y="0"/>
                  </a:moveTo>
                  <a:lnTo>
                    <a:pt x="1381125" y="419100"/>
                  </a:lnTo>
                  <a:lnTo>
                    <a:pt x="0" y="419100"/>
                  </a:lnTo>
                  <a:lnTo>
                    <a:pt x="0" y="38100"/>
                  </a:lnTo>
                </a:path>
              </a:pathLst>
            </a:custGeom>
            <a:noFill/>
            <a:ln w="14288">
              <a:solidFill>
                <a:srgbClr val="1565C0"/>
              </a:solidFill>
              <a:prstDash val="lgDash"/>
              <a:tailEnd type="triangle" w="med" len="med"/>
            </a:ln>
          </p:spPr>
        </p:sp>
        <p:sp>
          <p:nvSpPr>
            <p:cNvPr id="41" name="Freeform 41"/>
            <p:cNvSpPr/>
            <p:nvPr/>
          </p:nvSpPr>
          <p:spPr>
            <a:xfrm>
              <a:off x="2857500" y="2476500"/>
              <a:ext cx="5048250" cy="685800"/>
            </a:xfrm>
            <a:custGeom>
              <a:avLst/>
              <a:gdLst/>
              <a:ahLst/>
              <a:cxnLst/>
              <a:rect l="l" t="t" r="r" b="b"/>
              <a:pathLst>
                <a:path w="5048250" h="685800">
                  <a:moveTo>
                    <a:pt x="5048250" y="0"/>
                  </a:moveTo>
                  <a:lnTo>
                    <a:pt x="5048250" y="685800"/>
                  </a:lnTo>
                  <a:lnTo>
                    <a:pt x="0" y="685800"/>
                  </a:lnTo>
                  <a:lnTo>
                    <a:pt x="0" y="38100"/>
                  </a:lnTo>
                </a:path>
              </a:pathLst>
            </a:custGeom>
            <a:noFill/>
            <a:ln w="14288">
              <a:solidFill>
                <a:srgbClr val="1565C0"/>
              </a:solidFill>
              <a:prstDash val="lgDash"/>
              <a:tailEnd type="triangle" w="med" len="med"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32822" y="2711291"/>
              <a:ext cx="11836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completed → ongoing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95072" y="2958941"/>
              <a:ext cx="13282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evaluated → evaluating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66272" y="3225641"/>
              <a:ext cx="16415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evaluated → ongoing（重评）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96265" y="3620452"/>
            <a:ext cx="1636871" cy="213360"/>
            <a:chOff x="596265" y="3620452"/>
            <a:chExt cx="1636871" cy="213360"/>
          </a:xfrm>
        </p:grpSpPr>
        <p:sp>
          <p:nvSpPr>
            <p:cNvPr id="46" name="TextBox 46"/>
            <p:cNvSpPr txBox="1"/>
            <p:nvPr/>
          </p:nvSpPr>
          <p:spPr>
            <a:xfrm>
              <a:off x="596265" y="36204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作答邀请状态机 · 4 态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9600" y="3676650"/>
            <a:ext cx="7581900" cy="1145381"/>
            <a:chOff x="609600" y="3676650"/>
            <a:chExt cx="7581900" cy="1145381"/>
          </a:xfrm>
        </p:grpSpPr>
        <p:sp>
          <p:nvSpPr>
            <p:cNvPr id="48" name="Freeform 48"/>
            <p:cNvSpPr/>
            <p:nvPr/>
          </p:nvSpPr>
          <p:spPr>
            <a:xfrm>
              <a:off x="1571625" y="3676650"/>
              <a:ext cx="3886200" cy="247650"/>
            </a:xfrm>
            <a:custGeom>
              <a:avLst/>
              <a:gdLst/>
              <a:ahLst/>
              <a:cxnLst/>
              <a:rect l="l" t="t" r="r" b="b"/>
              <a:pathLst>
                <a:path w="3886200" h="247650">
                  <a:moveTo>
                    <a:pt x="0" y="247650"/>
                  </a:moveTo>
                  <a:cubicBezTo>
                    <a:pt x="0" y="0"/>
                    <a:pt x="3886200" y="0"/>
                    <a:pt x="3886200" y="247650"/>
                  </a:cubicBezTo>
                </a:path>
              </a:pathLst>
            </a:custGeom>
            <a:noFill/>
            <a:ln w="14288">
              <a:solidFill>
                <a:srgbClr val="00897B"/>
              </a:solidFill>
              <a:prstDash val="lgDash"/>
              <a:tailEnd type="triangle" w="med" len="med"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986135" y="3682841"/>
              <a:ext cx="10571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pending → revoked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1847850" y="4171950"/>
              <a:ext cx="838200" cy="1"/>
            </a:xfrm>
            <a:prstGeom prst="line">
              <a:avLst/>
            </a:prstGeom>
            <a:noFill/>
            <a:ln w="14288">
              <a:solidFill>
                <a:srgbClr val="00897B"/>
              </a:solidFill>
              <a:tailEnd type="triangle" w="med" len="med"/>
            </a:ln>
          </p:spPr>
        </p:sp>
        <p:sp>
          <p:nvSpPr>
            <p:cNvPr id="51" name="Line 51"/>
            <p:cNvSpPr/>
            <p:nvPr/>
          </p:nvSpPr>
          <p:spPr>
            <a:xfrm>
              <a:off x="3962400" y="4171950"/>
              <a:ext cx="838200" cy="1"/>
            </a:xfrm>
            <a:prstGeom prst="line">
              <a:avLst/>
            </a:prstGeom>
            <a:noFill/>
            <a:ln w="14288">
              <a:solidFill>
                <a:srgbClr val="00897B"/>
              </a:solidFill>
              <a:tailEnd type="triangle" w="med" len="med"/>
            </a:ln>
          </p:spPr>
        </p:sp>
        <p:sp>
          <p:nvSpPr>
            <p:cNvPr id="52" name="Freeform 52"/>
            <p:cNvSpPr/>
            <p:nvPr/>
          </p:nvSpPr>
          <p:spPr>
            <a:xfrm>
              <a:off x="1228725" y="4457700"/>
              <a:ext cx="6343650" cy="323850"/>
            </a:xfrm>
            <a:custGeom>
              <a:avLst/>
              <a:gdLst/>
              <a:ahLst/>
              <a:cxnLst/>
              <a:rect l="l" t="t" r="r" b="b"/>
              <a:pathLst>
                <a:path w="6343650" h="323850">
                  <a:moveTo>
                    <a:pt x="0" y="0"/>
                  </a:moveTo>
                  <a:cubicBezTo>
                    <a:pt x="0" y="323850"/>
                    <a:pt x="6343650" y="323850"/>
                    <a:pt x="6343650" y="0"/>
                  </a:cubicBezTo>
                </a:path>
              </a:pathLst>
            </a:custGeom>
            <a:noFill/>
            <a:ln w="14288">
              <a:solidFill>
                <a:srgbClr val="93A1B0"/>
              </a:solidFill>
              <a:prstDash val="lgDash"/>
              <a:tailEnd type="triangle" w="med" len="med"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255752" y="4654391"/>
              <a:ext cx="18704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pending → expired（读取时派生）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9600" y="38862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03899" y="401240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pending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7511" y="42352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待接受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724150" y="38862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2E7D32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949440" y="4012406"/>
              <a:ext cx="787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accepted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152061" y="42352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已接受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838700" y="38862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111433" y="4012406"/>
              <a:ext cx="692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revoked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266611" y="42352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已撤销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953250" y="38862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2F6FA"/>
            </a:solidFill>
            <a:ln w="14288">
              <a:solidFill>
                <a:srgbClr val="93A1B0"/>
              </a:solidFill>
              <a:custDash>
                <a:ds d="400000" sp="266666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47549" y="401240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expired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31141" y="4235291"/>
              <a:ext cx="882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已过期 · 不落库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9600" y="5143500"/>
            <a:ext cx="7581900" cy="685800"/>
            <a:chOff x="609600" y="5143500"/>
            <a:chExt cx="7581900" cy="685800"/>
          </a:xfrm>
        </p:grpSpPr>
        <p:sp>
          <p:nvSpPr>
            <p:cNvPr id="67" name="Rectangle 67"/>
            <p:cNvSpPr/>
            <p:nvPr/>
          </p:nvSpPr>
          <p:spPr>
            <a:xfrm>
              <a:off x="609600" y="5143500"/>
              <a:ext cx="7581900" cy="685800"/>
            </a:xfrm>
            <a:prstGeom prst="roundRect">
              <a:avLst>
                <a:gd name="adj" fmla="val 11111"/>
              </a:avLst>
            </a:prstGeom>
            <a:solidFill>
              <a:srgbClr val="F2F6F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866775" y="5324477"/>
              <a:ext cx="171448" cy="171448"/>
              <a:chOff x="866775" y="5324477"/>
              <a:chExt cx="171448" cy="171448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866775" y="5324477"/>
                <a:ext cx="171448" cy="171448"/>
              </a:xfrm>
              <a:custGeom>
                <a:avLst/>
                <a:gdLst/>
                <a:ahLst/>
                <a:cxnLst/>
                <a:rect l="l" t="t" r="r" b="b"/>
                <a:pathLst>
                  <a:path w="171448" h="171448">
                    <a:moveTo>
                      <a:pt x="129111" y="8028"/>
                    </a:moveTo>
                    <a:lnTo>
                      <a:pt x="163420" y="42337"/>
                    </a:lnTo>
                    <a:cubicBezTo>
                      <a:pt x="168560" y="47476"/>
                      <a:pt x="171448" y="54447"/>
                      <a:pt x="171448" y="61715"/>
                    </a:cubicBezTo>
                    <a:cubicBezTo>
                      <a:pt x="171448" y="68984"/>
                      <a:pt x="168560" y="75955"/>
                      <a:pt x="163420" y="81094"/>
                    </a:cubicBezTo>
                    <a:lnTo>
                      <a:pt x="138246" y="106269"/>
                    </a:lnTo>
                    <a:cubicBezTo>
                      <a:pt x="133107" y="111409"/>
                      <a:pt x="126136" y="114296"/>
                      <a:pt x="118867" y="114296"/>
                    </a:cubicBezTo>
                    <a:cubicBezTo>
                      <a:pt x="111599" y="114296"/>
                      <a:pt x="104628" y="111409"/>
                      <a:pt x="99489" y="106269"/>
                    </a:cubicBezTo>
                    <a:lnTo>
                      <a:pt x="96622" y="103402"/>
                    </a:lnTo>
                    <a:lnTo>
                      <a:pt x="34157" y="165867"/>
                    </a:lnTo>
                    <a:cubicBezTo>
                      <a:pt x="30992" y="169031"/>
                      <a:pt x="26814" y="170980"/>
                      <a:pt x="22355" y="171372"/>
                    </a:cubicBezTo>
                    <a:lnTo>
                      <a:pt x="20688" y="171448"/>
                    </a:lnTo>
                    <a:lnTo>
                      <a:pt x="9525" y="171448"/>
                    </a:lnTo>
                    <a:cubicBezTo>
                      <a:pt x="4696" y="171448"/>
                      <a:pt x="632" y="167833"/>
                      <a:pt x="67" y="163038"/>
                    </a:cubicBezTo>
                    <a:lnTo>
                      <a:pt x="0" y="161923"/>
                    </a:lnTo>
                    <a:lnTo>
                      <a:pt x="0" y="150760"/>
                    </a:lnTo>
                    <a:cubicBezTo>
                      <a:pt x="1" y="146287"/>
                      <a:pt x="1576" y="141958"/>
                      <a:pt x="4448" y="138530"/>
                    </a:cubicBezTo>
                    <a:lnTo>
                      <a:pt x="5582" y="137292"/>
                    </a:lnTo>
                    <a:lnTo>
                      <a:pt x="9525" y="133348"/>
                    </a:lnTo>
                    <a:lnTo>
                      <a:pt x="28575" y="133348"/>
                    </a:lnTo>
                    <a:lnTo>
                      <a:pt x="28575" y="114298"/>
                    </a:lnTo>
                    <a:lnTo>
                      <a:pt x="47625" y="114298"/>
                    </a:lnTo>
                    <a:lnTo>
                      <a:pt x="47625" y="95248"/>
                    </a:lnTo>
                    <a:lnTo>
                      <a:pt x="68047" y="74827"/>
                    </a:lnTo>
                    <a:lnTo>
                      <a:pt x="65180" y="71960"/>
                    </a:lnTo>
                    <a:cubicBezTo>
                      <a:pt x="60040" y="66820"/>
                      <a:pt x="57152" y="59849"/>
                      <a:pt x="57152" y="52581"/>
                    </a:cubicBezTo>
                    <a:cubicBezTo>
                      <a:pt x="57152" y="45312"/>
                      <a:pt x="60040" y="38342"/>
                      <a:pt x="65180" y="33202"/>
                    </a:cubicBezTo>
                    <a:lnTo>
                      <a:pt x="90354" y="8028"/>
                    </a:lnTo>
                    <a:cubicBezTo>
                      <a:pt x="95493" y="2888"/>
                      <a:pt x="102464" y="0"/>
                      <a:pt x="109733" y="0"/>
                    </a:cubicBezTo>
                    <a:cubicBezTo>
                      <a:pt x="117001" y="0"/>
                      <a:pt x="123972" y="2888"/>
                      <a:pt x="129111" y="8028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81075" y="53816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167765" y="5277802"/>
              <a:ext cx="50029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expired 读取时派生、不落库</a:t>
              </a:r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状态由 expires_at 与当前时间比较得出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67765" y="5544502"/>
              <a:ext cx="45352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accepted → revoked 有意允许</a:t>
              </a:r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这是切断候选人访问的唯一手段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8420100" y="1409700"/>
            <a:ext cx="3162300" cy="4533900"/>
            <a:chOff x="8420100" y="1409700"/>
            <a:chExt cx="3162300" cy="4533900"/>
          </a:xfrm>
        </p:grpSpPr>
        <p:sp>
          <p:nvSpPr>
            <p:cNvPr id="74" name="Rectangle 74"/>
            <p:cNvSpPr/>
            <p:nvPr/>
          </p:nvSpPr>
          <p:spPr>
            <a:xfrm>
              <a:off x="8420100" y="1409700"/>
              <a:ext cx="3162300" cy="4533900"/>
            </a:xfrm>
            <a:prstGeom prst="roundRect">
              <a:avLst>
                <a:gd name="adj" fmla="val 2410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596312" y="15549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合法迁移表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8610600" y="17907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99170" y="19030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面试状态机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98218" y="212359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draft → ongoing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598218" y="2371249"/>
              <a:ext cx="1398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ongoing → completed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598218" y="2618899"/>
              <a:ext cx="1398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completed → ongoing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598218" y="2866549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completed → evaluating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598218" y="3114199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evaluating → evaluated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598218" y="3361849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evaluating → completed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98218" y="360949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evaluated → ongoing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598218" y="3857149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evaluated → evaluating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8610600" y="41148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599170" y="4227195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作答邀请状态机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598218" y="444769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pending → accepted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598218" y="4695349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pending → revoked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598218" y="4942999"/>
              <a:ext cx="1213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pending → expired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8610600" y="5257800"/>
              <a:ext cx="278130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8767762" y="5414962"/>
              <a:ext cx="142875" cy="142875"/>
              <a:chOff x="8767762" y="5414962"/>
              <a:chExt cx="142875" cy="142875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8767762" y="54149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823325" y="54705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0"/>
                    </a:moveTo>
                    <a:lnTo>
                      <a:pt x="31750" y="31750"/>
                    </a:lnTo>
                    <a:moveTo>
                      <a:pt x="3175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8998268" y="5400199"/>
              <a:ext cx="15124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未列出的迁移一律 409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999220" y="5598795"/>
              <a:ext cx="1219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detail: {from, to}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38" grpId="0"/>
      <p:bldP spid="45" grpId="0"/>
      <p:bldP spid="47" grpId="0"/>
      <p:bldP spid="66" grpId="0"/>
      <p:bldP spid="73" grpId="0"/>
      <p:bldP spid="9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E52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6677025" cy="6858000"/>
            <a:chOff x="0" y="0"/>
            <a:chExt cx="6677025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F57C00">
                <a:alpha val="85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667500" y="1714500"/>
              <a:ext cx="9525" cy="3429000"/>
            </a:xfrm>
            <a:prstGeom prst="rect">
              <a:avLst/>
            </a:prstGeom>
            <a:solidFill>
              <a:srgbClr val="EAF2FB">
                <a:alpha val="16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95325" y="1928812"/>
            <a:ext cx="2183487" cy="2286000"/>
            <a:chOff x="695325" y="1928812"/>
            <a:chExt cx="2183487" cy="2286000"/>
          </a:xfrm>
        </p:grpSpPr>
        <p:sp>
          <p:nvSpPr>
            <p:cNvPr id="6" name="TextBox 6"/>
            <p:cNvSpPr txBox="1"/>
            <p:nvPr/>
          </p:nvSpPr>
          <p:spPr>
            <a:xfrm>
              <a:off x="695325" y="1928812"/>
              <a:ext cx="2183487" cy="2286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b="1" dirty="0">
                  <a:solidFill>
                    <a:srgbClr val="EAF2FB">
                      <a:alphaMod val="14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" y="3543300"/>
              <a:ext cx="533400" cy="47625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96290" y="3834765"/>
            <a:ext cx="3016567" cy="903923"/>
            <a:chOff x="796290" y="3834765"/>
            <a:chExt cx="3016567" cy="903923"/>
          </a:xfrm>
        </p:grpSpPr>
        <p:sp>
          <p:nvSpPr>
            <p:cNvPr id="9" name="TextBox 9"/>
            <p:cNvSpPr txBox="1"/>
            <p:nvPr/>
          </p:nvSpPr>
          <p:spPr>
            <a:xfrm>
              <a:off x="796290" y="3834765"/>
              <a:ext cx="160201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技术栈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1055" y="446436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选型、分层、模块边界与数据模型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50455" y="2333149"/>
            <a:ext cx="4145281" cy="2934176"/>
            <a:chOff x="7450455" y="2333149"/>
            <a:chExt cx="4145281" cy="2934176"/>
          </a:xfrm>
        </p:grpSpPr>
        <p:sp>
          <p:nvSpPr>
            <p:cNvPr id="12" name="TextBox 12"/>
            <p:cNvSpPr txBox="1"/>
            <p:nvPr/>
          </p:nvSpPr>
          <p:spPr>
            <a:xfrm>
              <a:off x="7455218" y="23331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AF2FB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本节内容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0455" y="2768918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技术栈总览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54372" y="28013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P14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467600" y="31242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50455" y="330231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后端严格分层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54372" y="33347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P15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467600" y="36576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50455" y="383571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八个模块与依赖方向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54372" y="38681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P16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467600" y="41910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50455" y="4369118"/>
              <a:ext cx="26270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数据模型：15 张表与快照设计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54372" y="44015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P17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467600" y="47244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50455" y="49025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工程规模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54372" y="49349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P18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467600" y="52578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27722" y="6178391"/>
            <a:ext cx="10765155" cy="167640"/>
            <a:chOff x="827722" y="6178391"/>
            <a:chExt cx="10765155" cy="167640"/>
          </a:xfrm>
        </p:grpSpPr>
        <p:sp>
          <p:nvSpPr>
            <p:cNvPr id="29" name="TextBox 29"/>
            <p:cNvSpPr txBox="1"/>
            <p:nvPr/>
          </p:nvSpPr>
          <p:spPr>
            <a:xfrm>
              <a:off x="8277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P13 / 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190119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技术栈总览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4314" y="667702"/>
              <a:ext cx="701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03 技术栈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P14 / 35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409700"/>
            <a:ext cx="2571750" cy="2133600"/>
            <a:chOff x="609600" y="1409700"/>
            <a:chExt cx="2571750" cy="21336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00100" y="16383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66013" y="1704975"/>
              <a:ext cx="306324" cy="304800"/>
            </a:xfrm>
            <a:custGeom>
              <a:avLst/>
              <a:gdLst/>
              <a:ahLst/>
              <a:cxnLst/>
              <a:rect l="l" t="t" r="r" b="b"/>
              <a:pathLst>
                <a:path w="306324" h="304800">
                  <a:moveTo>
                    <a:pt x="181737" y="2286"/>
                  </a:moveTo>
                  <a:lnTo>
                    <a:pt x="193167" y="4826"/>
                  </a:lnTo>
                  <a:lnTo>
                    <a:pt x="202438" y="8128"/>
                  </a:lnTo>
                  <a:lnTo>
                    <a:pt x="209931" y="11938"/>
                  </a:lnTo>
                  <a:lnTo>
                    <a:pt x="215646" y="16002"/>
                  </a:lnTo>
                  <a:lnTo>
                    <a:pt x="219964" y="20320"/>
                  </a:lnTo>
                  <a:lnTo>
                    <a:pt x="223139" y="24638"/>
                  </a:lnTo>
                  <a:lnTo>
                    <a:pt x="225171" y="28829"/>
                  </a:lnTo>
                  <a:lnTo>
                    <a:pt x="226441" y="32639"/>
                  </a:lnTo>
                  <a:lnTo>
                    <a:pt x="226949" y="35941"/>
                  </a:lnTo>
                  <a:lnTo>
                    <a:pt x="227203" y="38481"/>
                  </a:lnTo>
                  <a:lnTo>
                    <a:pt x="227076" y="40132"/>
                  </a:lnTo>
                  <a:lnTo>
                    <a:pt x="227076" y="107950"/>
                  </a:lnTo>
                  <a:lnTo>
                    <a:pt x="226441" y="115951"/>
                  </a:lnTo>
                  <a:lnTo>
                    <a:pt x="224790" y="122936"/>
                  </a:lnTo>
                  <a:lnTo>
                    <a:pt x="222123" y="128778"/>
                  </a:lnTo>
                  <a:lnTo>
                    <a:pt x="218821" y="133604"/>
                  </a:lnTo>
                  <a:lnTo>
                    <a:pt x="215011" y="137541"/>
                  </a:lnTo>
                  <a:lnTo>
                    <a:pt x="210820" y="140716"/>
                  </a:lnTo>
                  <a:lnTo>
                    <a:pt x="206375" y="143129"/>
                  </a:lnTo>
                  <a:lnTo>
                    <a:pt x="201930" y="144907"/>
                  </a:lnTo>
                  <a:lnTo>
                    <a:pt x="197739" y="146177"/>
                  </a:lnTo>
                  <a:lnTo>
                    <a:pt x="193929" y="147066"/>
                  </a:lnTo>
                  <a:lnTo>
                    <a:pt x="190627" y="147574"/>
                  </a:lnTo>
                  <a:lnTo>
                    <a:pt x="187960" y="147828"/>
                  </a:lnTo>
                  <a:lnTo>
                    <a:pt x="112141" y="147828"/>
                  </a:lnTo>
                  <a:lnTo>
                    <a:pt x="103378" y="148463"/>
                  </a:lnTo>
                  <a:lnTo>
                    <a:pt x="95885" y="150241"/>
                  </a:lnTo>
                  <a:lnTo>
                    <a:pt x="89535" y="153035"/>
                  </a:lnTo>
                  <a:lnTo>
                    <a:pt x="84328" y="156464"/>
                  </a:lnTo>
                  <a:lnTo>
                    <a:pt x="80137" y="160528"/>
                  </a:lnTo>
                  <a:lnTo>
                    <a:pt x="76708" y="164973"/>
                  </a:lnTo>
                  <a:lnTo>
                    <a:pt x="74168" y="169545"/>
                  </a:lnTo>
                  <a:lnTo>
                    <a:pt x="72263" y="174244"/>
                  </a:lnTo>
                  <a:lnTo>
                    <a:pt x="70993" y="178689"/>
                  </a:lnTo>
                  <a:lnTo>
                    <a:pt x="70104" y="182753"/>
                  </a:lnTo>
                  <a:lnTo>
                    <a:pt x="69596" y="186182"/>
                  </a:lnTo>
                  <a:lnTo>
                    <a:pt x="69342" y="188849"/>
                  </a:lnTo>
                  <a:lnTo>
                    <a:pt x="69342" y="227711"/>
                  </a:lnTo>
                  <a:lnTo>
                    <a:pt x="41021" y="227711"/>
                  </a:lnTo>
                  <a:lnTo>
                    <a:pt x="38354" y="227330"/>
                  </a:lnTo>
                  <a:lnTo>
                    <a:pt x="34798" y="226441"/>
                  </a:lnTo>
                  <a:lnTo>
                    <a:pt x="30734" y="224917"/>
                  </a:lnTo>
                  <a:lnTo>
                    <a:pt x="26289" y="222631"/>
                  </a:lnTo>
                  <a:lnTo>
                    <a:pt x="21717" y="219329"/>
                  </a:lnTo>
                  <a:lnTo>
                    <a:pt x="17145" y="214757"/>
                  </a:lnTo>
                  <a:lnTo>
                    <a:pt x="12700" y="208915"/>
                  </a:lnTo>
                  <a:lnTo>
                    <a:pt x="8636" y="201422"/>
                  </a:lnTo>
                  <a:lnTo>
                    <a:pt x="5080" y="192151"/>
                  </a:lnTo>
                  <a:lnTo>
                    <a:pt x="2413" y="180975"/>
                  </a:lnTo>
                  <a:lnTo>
                    <a:pt x="635" y="167640"/>
                  </a:lnTo>
                  <a:lnTo>
                    <a:pt x="0" y="152019"/>
                  </a:lnTo>
                  <a:lnTo>
                    <a:pt x="762" y="136525"/>
                  </a:lnTo>
                  <a:lnTo>
                    <a:pt x="2794" y="123317"/>
                  </a:lnTo>
                  <a:lnTo>
                    <a:pt x="5842" y="112268"/>
                  </a:lnTo>
                  <a:lnTo>
                    <a:pt x="9906" y="103251"/>
                  </a:lnTo>
                  <a:lnTo>
                    <a:pt x="14478" y="96012"/>
                  </a:lnTo>
                  <a:lnTo>
                    <a:pt x="19558" y="90424"/>
                  </a:lnTo>
                  <a:lnTo>
                    <a:pt x="24892" y="86233"/>
                  </a:lnTo>
                  <a:lnTo>
                    <a:pt x="30226" y="83185"/>
                  </a:lnTo>
                  <a:lnTo>
                    <a:pt x="35306" y="81153"/>
                  </a:lnTo>
                  <a:lnTo>
                    <a:pt x="39878" y="79883"/>
                  </a:lnTo>
                  <a:lnTo>
                    <a:pt x="43942" y="79248"/>
                  </a:lnTo>
                  <a:lnTo>
                    <a:pt x="46990" y="79121"/>
                  </a:lnTo>
                  <a:lnTo>
                    <a:pt x="49022" y="79121"/>
                  </a:lnTo>
                  <a:lnTo>
                    <a:pt x="49784" y="79248"/>
                  </a:lnTo>
                  <a:lnTo>
                    <a:pt x="153416" y="79248"/>
                  </a:lnTo>
                  <a:lnTo>
                    <a:pt x="153416" y="68707"/>
                  </a:lnTo>
                  <a:lnTo>
                    <a:pt x="79248" y="68707"/>
                  </a:lnTo>
                  <a:lnTo>
                    <a:pt x="79121" y="33782"/>
                  </a:lnTo>
                  <a:lnTo>
                    <a:pt x="78867" y="29083"/>
                  </a:lnTo>
                  <a:lnTo>
                    <a:pt x="79502" y="24765"/>
                  </a:lnTo>
                  <a:lnTo>
                    <a:pt x="80899" y="20828"/>
                  </a:lnTo>
                  <a:lnTo>
                    <a:pt x="83058" y="17272"/>
                  </a:lnTo>
                  <a:lnTo>
                    <a:pt x="86233" y="13970"/>
                  </a:lnTo>
                  <a:lnTo>
                    <a:pt x="90170" y="11049"/>
                  </a:lnTo>
                  <a:lnTo>
                    <a:pt x="94996" y="8509"/>
                  </a:lnTo>
                  <a:lnTo>
                    <a:pt x="100584" y="6223"/>
                  </a:lnTo>
                  <a:lnTo>
                    <a:pt x="107061" y="4318"/>
                  </a:lnTo>
                  <a:lnTo>
                    <a:pt x="114427" y="2794"/>
                  </a:lnTo>
                  <a:lnTo>
                    <a:pt x="122555" y="1524"/>
                  </a:lnTo>
                  <a:lnTo>
                    <a:pt x="131572" y="762"/>
                  </a:lnTo>
                  <a:lnTo>
                    <a:pt x="141351" y="254"/>
                  </a:lnTo>
                  <a:lnTo>
                    <a:pt x="152019" y="0"/>
                  </a:lnTo>
                  <a:lnTo>
                    <a:pt x="168148" y="635"/>
                  </a:lnTo>
                  <a:close/>
                  <a:moveTo>
                    <a:pt x="101727" y="27432"/>
                  </a:moveTo>
                  <a:lnTo>
                    <a:pt x="98806" y="31623"/>
                  </a:lnTo>
                  <a:lnTo>
                    <a:pt x="97790" y="36830"/>
                  </a:lnTo>
                  <a:lnTo>
                    <a:pt x="98806" y="42037"/>
                  </a:lnTo>
                  <a:lnTo>
                    <a:pt x="101727" y="46355"/>
                  </a:lnTo>
                  <a:lnTo>
                    <a:pt x="105918" y="49149"/>
                  </a:lnTo>
                  <a:lnTo>
                    <a:pt x="111125" y="50292"/>
                  </a:lnTo>
                  <a:lnTo>
                    <a:pt x="116332" y="49149"/>
                  </a:lnTo>
                  <a:lnTo>
                    <a:pt x="120523" y="46355"/>
                  </a:lnTo>
                  <a:lnTo>
                    <a:pt x="123444" y="42037"/>
                  </a:lnTo>
                  <a:lnTo>
                    <a:pt x="124460" y="36830"/>
                  </a:lnTo>
                  <a:lnTo>
                    <a:pt x="123444" y="31623"/>
                  </a:lnTo>
                  <a:lnTo>
                    <a:pt x="120523" y="27432"/>
                  </a:lnTo>
                  <a:lnTo>
                    <a:pt x="116332" y="24638"/>
                  </a:lnTo>
                  <a:lnTo>
                    <a:pt x="111125" y="23495"/>
                  </a:lnTo>
                  <a:lnTo>
                    <a:pt x="105918" y="24638"/>
                  </a:lnTo>
                  <a:close/>
                  <a:moveTo>
                    <a:pt x="267970" y="77597"/>
                  </a:moveTo>
                  <a:lnTo>
                    <a:pt x="271526" y="78359"/>
                  </a:lnTo>
                  <a:lnTo>
                    <a:pt x="275590" y="79883"/>
                  </a:lnTo>
                  <a:lnTo>
                    <a:pt x="280035" y="82169"/>
                  </a:lnTo>
                  <a:lnTo>
                    <a:pt x="284607" y="85598"/>
                  </a:lnTo>
                  <a:lnTo>
                    <a:pt x="289179" y="90043"/>
                  </a:lnTo>
                  <a:lnTo>
                    <a:pt x="293624" y="96012"/>
                  </a:lnTo>
                  <a:lnTo>
                    <a:pt x="297688" y="103505"/>
                  </a:lnTo>
                  <a:lnTo>
                    <a:pt x="301244" y="112776"/>
                  </a:lnTo>
                  <a:lnTo>
                    <a:pt x="303911" y="123952"/>
                  </a:lnTo>
                  <a:lnTo>
                    <a:pt x="305689" y="137160"/>
                  </a:lnTo>
                  <a:lnTo>
                    <a:pt x="306324" y="152781"/>
                  </a:lnTo>
                  <a:lnTo>
                    <a:pt x="305562" y="168402"/>
                  </a:lnTo>
                  <a:lnTo>
                    <a:pt x="303530" y="181610"/>
                  </a:lnTo>
                  <a:lnTo>
                    <a:pt x="300482" y="192532"/>
                  </a:lnTo>
                  <a:lnTo>
                    <a:pt x="296418" y="201549"/>
                  </a:lnTo>
                  <a:lnTo>
                    <a:pt x="291846" y="208788"/>
                  </a:lnTo>
                  <a:lnTo>
                    <a:pt x="286766" y="214503"/>
                  </a:lnTo>
                  <a:lnTo>
                    <a:pt x="281432" y="218694"/>
                  </a:lnTo>
                  <a:lnTo>
                    <a:pt x="276098" y="221742"/>
                  </a:lnTo>
                  <a:lnTo>
                    <a:pt x="271018" y="223774"/>
                  </a:lnTo>
                  <a:lnTo>
                    <a:pt x="266446" y="224917"/>
                  </a:lnTo>
                  <a:lnTo>
                    <a:pt x="262382" y="225552"/>
                  </a:lnTo>
                  <a:lnTo>
                    <a:pt x="259334" y="225806"/>
                  </a:lnTo>
                  <a:lnTo>
                    <a:pt x="257302" y="225679"/>
                  </a:lnTo>
                  <a:lnTo>
                    <a:pt x="152908" y="225679"/>
                  </a:lnTo>
                  <a:lnTo>
                    <a:pt x="152908" y="236093"/>
                  </a:lnTo>
                  <a:lnTo>
                    <a:pt x="227076" y="236093"/>
                  </a:lnTo>
                  <a:lnTo>
                    <a:pt x="227203" y="271145"/>
                  </a:lnTo>
                  <a:lnTo>
                    <a:pt x="227457" y="275717"/>
                  </a:lnTo>
                  <a:lnTo>
                    <a:pt x="226822" y="280035"/>
                  </a:lnTo>
                  <a:lnTo>
                    <a:pt x="225425" y="283972"/>
                  </a:lnTo>
                  <a:lnTo>
                    <a:pt x="223266" y="287655"/>
                  </a:lnTo>
                  <a:lnTo>
                    <a:pt x="220091" y="290830"/>
                  </a:lnTo>
                  <a:lnTo>
                    <a:pt x="216154" y="293878"/>
                  </a:lnTo>
                  <a:lnTo>
                    <a:pt x="211328" y="296418"/>
                  </a:lnTo>
                  <a:lnTo>
                    <a:pt x="205740" y="298577"/>
                  </a:lnTo>
                  <a:lnTo>
                    <a:pt x="199263" y="300482"/>
                  </a:lnTo>
                  <a:lnTo>
                    <a:pt x="191897" y="302133"/>
                  </a:lnTo>
                  <a:lnTo>
                    <a:pt x="183769" y="303276"/>
                  </a:lnTo>
                  <a:lnTo>
                    <a:pt x="174752" y="304165"/>
                  </a:lnTo>
                  <a:lnTo>
                    <a:pt x="164973" y="304673"/>
                  </a:lnTo>
                  <a:lnTo>
                    <a:pt x="154305" y="304800"/>
                  </a:lnTo>
                  <a:lnTo>
                    <a:pt x="138176" y="304292"/>
                  </a:lnTo>
                  <a:lnTo>
                    <a:pt x="124587" y="302514"/>
                  </a:lnTo>
                  <a:lnTo>
                    <a:pt x="113157" y="299974"/>
                  </a:lnTo>
                  <a:lnTo>
                    <a:pt x="103886" y="296799"/>
                  </a:lnTo>
                  <a:lnTo>
                    <a:pt x="96393" y="292989"/>
                  </a:lnTo>
                  <a:lnTo>
                    <a:pt x="90678" y="288798"/>
                  </a:lnTo>
                  <a:lnTo>
                    <a:pt x="86360" y="284480"/>
                  </a:lnTo>
                  <a:lnTo>
                    <a:pt x="83185" y="280162"/>
                  </a:lnTo>
                  <a:lnTo>
                    <a:pt x="81153" y="275971"/>
                  </a:lnTo>
                  <a:lnTo>
                    <a:pt x="79883" y="272161"/>
                  </a:lnTo>
                  <a:lnTo>
                    <a:pt x="79375" y="268986"/>
                  </a:lnTo>
                  <a:lnTo>
                    <a:pt x="79121" y="266446"/>
                  </a:lnTo>
                  <a:lnTo>
                    <a:pt x="79248" y="264795"/>
                  </a:lnTo>
                  <a:lnTo>
                    <a:pt x="79248" y="196977"/>
                  </a:lnTo>
                  <a:lnTo>
                    <a:pt x="79883" y="188849"/>
                  </a:lnTo>
                  <a:lnTo>
                    <a:pt x="81534" y="181991"/>
                  </a:lnTo>
                  <a:lnTo>
                    <a:pt x="84201" y="176149"/>
                  </a:lnTo>
                  <a:lnTo>
                    <a:pt x="87503" y="171323"/>
                  </a:lnTo>
                  <a:lnTo>
                    <a:pt x="91313" y="167259"/>
                  </a:lnTo>
                  <a:lnTo>
                    <a:pt x="95504" y="164211"/>
                  </a:lnTo>
                  <a:lnTo>
                    <a:pt x="99949" y="161671"/>
                  </a:lnTo>
                  <a:lnTo>
                    <a:pt x="104394" y="159893"/>
                  </a:lnTo>
                  <a:lnTo>
                    <a:pt x="108585" y="158623"/>
                  </a:lnTo>
                  <a:lnTo>
                    <a:pt x="112395" y="157861"/>
                  </a:lnTo>
                  <a:lnTo>
                    <a:pt x="115697" y="157353"/>
                  </a:lnTo>
                  <a:lnTo>
                    <a:pt x="118364" y="157099"/>
                  </a:lnTo>
                  <a:lnTo>
                    <a:pt x="120015" y="156972"/>
                  </a:lnTo>
                  <a:lnTo>
                    <a:pt x="194183" y="156972"/>
                  </a:lnTo>
                  <a:lnTo>
                    <a:pt x="202946" y="156337"/>
                  </a:lnTo>
                  <a:lnTo>
                    <a:pt x="210439" y="154559"/>
                  </a:lnTo>
                  <a:lnTo>
                    <a:pt x="216789" y="151892"/>
                  </a:lnTo>
                  <a:lnTo>
                    <a:pt x="221996" y="148336"/>
                  </a:lnTo>
                  <a:lnTo>
                    <a:pt x="226187" y="144272"/>
                  </a:lnTo>
                  <a:lnTo>
                    <a:pt x="229616" y="139827"/>
                  </a:lnTo>
                  <a:lnTo>
                    <a:pt x="232156" y="135255"/>
                  </a:lnTo>
                  <a:lnTo>
                    <a:pt x="234061" y="130683"/>
                  </a:lnTo>
                  <a:lnTo>
                    <a:pt x="235331" y="126238"/>
                  </a:lnTo>
                  <a:lnTo>
                    <a:pt x="236220" y="122174"/>
                  </a:lnTo>
                  <a:lnTo>
                    <a:pt x="236728" y="118618"/>
                  </a:lnTo>
                  <a:lnTo>
                    <a:pt x="236982" y="115951"/>
                  </a:lnTo>
                  <a:lnTo>
                    <a:pt x="236982" y="77089"/>
                  </a:lnTo>
                  <a:lnTo>
                    <a:pt x="263525" y="77089"/>
                  </a:lnTo>
                  <a:lnTo>
                    <a:pt x="265303" y="77216"/>
                  </a:lnTo>
                  <a:close/>
                  <a:moveTo>
                    <a:pt x="185801" y="258572"/>
                  </a:moveTo>
                  <a:lnTo>
                    <a:pt x="182880" y="262763"/>
                  </a:lnTo>
                  <a:lnTo>
                    <a:pt x="181864" y="267970"/>
                  </a:lnTo>
                  <a:lnTo>
                    <a:pt x="182880" y="273177"/>
                  </a:lnTo>
                  <a:lnTo>
                    <a:pt x="185801" y="277368"/>
                  </a:lnTo>
                  <a:lnTo>
                    <a:pt x="189992" y="280289"/>
                  </a:lnTo>
                  <a:lnTo>
                    <a:pt x="195199" y="281305"/>
                  </a:lnTo>
                  <a:lnTo>
                    <a:pt x="200406" y="280289"/>
                  </a:lnTo>
                  <a:lnTo>
                    <a:pt x="204597" y="277368"/>
                  </a:lnTo>
                  <a:lnTo>
                    <a:pt x="207518" y="273177"/>
                  </a:lnTo>
                  <a:lnTo>
                    <a:pt x="208534" y="267970"/>
                  </a:lnTo>
                  <a:lnTo>
                    <a:pt x="207518" y="262763"/>
                  </a:lnTo>
                  <a:lnTo>
                    <a:pt x="204597" y="258572"/>
                  </a:lnTo>
                  <a:lnTo>
                    <a:pt x="200406" y="255651"/>
                  </a:lnTo>
                  <a:lnTo>
                    <a:pt x="195199" y="254635"/>
                  </a:lnTo>
                  <a:lnTo>
                    <a:pt x="189992" y="255651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2008" y="2224564"/>
              <a:ext cx="11762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Python 3.11+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6770" y="2493645"/>
              <a:ext cx="9758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本机验证于 3.13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38200" y="27432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5818" y="2866549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与 FastAPI 同源，避免两套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5818" y="30760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运行时语义；类型标注贯穿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5818" y="32856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全项目，静态检查即契约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409950" y="1409700"/>
            <a:ext cx="2571750" cy="2133600"/>
            <a:chOff x="3409950" y="1409700"/>
            <a:chExt cx="2571750" cy="2133600"/>
          </a:xfrm>
        </p:grpSpPr>
        <p:sp>
          <p:nvSpPr>
            <p:cNvPr id="21" name="Rectangle 21"/>
            <p:cNvSpPr/>
            <p:nvPr/>
          </p:nvSpPr>
          <p:spPr>
            <a:xfrm>
              <a:off x="3409950" y="14097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600450" y="16383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667112" y="1705463"/>
              <a:ext cx="304825" cy="303825"/>
            </a:xfrm>
            <a:custGeom>
              <a:avLst/>
              <a:gdLst/>
              <a:ahLst/>
              <a:cxnLst/>
              <a:rect l="l" t="t" r="r" b="b"/>
              <a:pathLst>
                <a:path w="304825" h="303825">
                  <a:moveTo>
                    <a:pt x="152413" y="4"/>
                  </a:moveTo>
                  <a:cubicBezTo>
                    <a:pt x="68249" y="0"/>
                    <a:pt x="17" y="68005"/>
                    <a:pt x="13" y="151897"/>
                  </a:cubicBezTo>
                  <a:cubicBezTo>
                    <a:pt x="0" y="235801"/>
                    <a:pt x="68237" y="303825"/>
                    <a:pt x="152413" y="303821"/>
                  </a:cubicBezTo>
                  <a:cubicBezTo>
                    <a:pt x="236588" y="303825"/>
                    <a:pt x="304825" y="235801"/>
                    <a:pt x="304813" y="151897"/>
                  </a:cubicBezTo>
                  <a:cubicBezTo>
                    <a:pt x="304809" y="68005"/>
                    <a:pt x="236577" y="0"/>
                    <a:pt x="152413" y="5"/>
                  </a:cubicBezTo>
                  <a:moveTo>
                    <a:pt x="141884" y="68779"/>
                  </a:moveTo>
                  <a:lnTo>
                    <a:pt x="237769" y="68779"/>
                  </a:lnTo>
                  <a:lnTo>
                    <a:pt x="141497" y="136450"/>
                  </a:lnTo>
                  <a:lnTo>
                    <a:pt x="207319" y="136450"/>
                  </a:lnTo>
                  <a:lnTo>
                    <a:pt x="67056" y="235016"/>
                  </a:lnTo>
                  <a:cubicBezTo>
                    <a:pt x="92004" y="179607"/>
                    <a:pt x="116947" y="124194"/>
                    <a:pt x="141884" y="68778"/>
                  </a:cubicBezTo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622358" y="2224564"/>
              <a:ext cx="7362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FastAPI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27120" y="249364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纯 API · 不渲染页面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638550" y="27432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26168" y="28665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只输出 JSON 接口；模板渲染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26168" y="30760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与静态资源托管都不由框架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26168" y="32856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承担，边界干净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10300" y="1409700"/>
            <a:ext cx="2571750" cy="2133600"/>
            <a:chOff x="6210300" y="1409700"/>
            <a:chExt cx="2571750" cy="2133600"/>
          </a:xfrm>
        </p:grpSpPr>
        <p:sp>
          <p:nvSpPr>
            <p:cNvPr id="31" name="Rectangle 31"/>
            <p:cNvSpPr/>
            <p:nvPr/>
          </p:nvSpPr>
          <p:spPr>
            <a:xfrm>
              <a:off x="6210300" y="14097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00800" y="16383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467475" y="1774812"/>
              <a:ext cx="310159" cy="228854"/>
            </a:xfrm>
            <a:custGeom>
              <a:avLst/>
              <a:gdLst/>
              <a:ahLst/>
              <a:cxnLst/>
              <a:rect l="l" t="t" r="r" b="b"/>
              <a:pathLst>
                <a:path w="310159" h="228854">
                  <a:moveTo>
                    <a:pt x="208344" y="25"/>
                  </a:moveTo>
                  <a:cubicBezTo>
                    <a:pt x="206883" y="25"/>
                    <a:pt x="205892" y="203"/>
                    <a:pt x="204864" y="445"/>
                  </a:cubicBezTo>
                  <a:lnTo>
                    <a:pt x="204864" y="610"/>
                  </a:lnTo>
                  <a:lnTo>
                    <a:pt x="205041" y="610"/>
                  </a:lnTo>
                  <a:cubicBezTo>
                    <a:pt x="205727" y="1930"/>
                    <a:pt x="206896" y="2896"/>
                    <a:pt x="207759" y="4077"/>
                  </a:cubicBezTo>
                  <a:cubicBezTo>
                    <a:pt x="208445" y="5436"/>
                    <a:pt x="209029" y="6795"/>
                    <a:pt x="209715" y="8141"/>
                  </a:cubicBezTo>
                  <a:lnTo>
                    <a:pt x="209893" y="7950"/>
                  </a:lnTo>
                  <a:cubicBezTo>
                    <a:pt x="211087" y="7112"/>
                    <a:pt x="211671" y="5766"/>
                    <a:pt x="211671" y="3721"/>
                  </a:cubicBezTo>
                  <a:cubicBezTo>
                    <a:pt x="211163" y="3124"/>
                    <a:pt x="211087" y="2527"/>
                    <a:pt x="210655" y="1943"/>
                  </a:cubicBezTo>
                  <a:cubicBezTo>
                    <a:pt x="210147" y="1092"/>
                    <a:pt x="209055" y="673"/>
                    <a:pt x="208369" y="0"/>
                  </a:cubicBezTo>
                  <a:close/>
                  <a:moveTo>
                    <a:pt x="73279" y="167589"/>
                  </a:moveTo>
                  <a:lnTo>
                    <a:pt x="61506" y="167589"/>
                  </a:lnTo>
                  <a:lnTo>
                    <a:pt x="61405" y="167589"/>
                  </a:lnTo>
                  <a:lnTo>
                    <a:pt x="43498" y="223596"/>
                  </a:lnTo>
                  <a:lnTo>
                    <a:pt x="31115" y="223596"/>
                  </a:lnTo>
                  <a:lnTo>
                    <a:pt x="13335" y="167589"/>
                  </a:lnTo>
                  <a:lnTo>
                    <a:pt x="13208" y="167589"/>
                  </a:lnTo>
                  <a:lnTo>
                    <a:pt x="0" y="167589"/>
                  </a:lnTo>
                  <a:cubicBezTo>
                    <a:pt x="699" y="142621"/>
                    <a:pt x="2438" y="119202"/>
                    <a:pt x="5207" y="97358"/>
                  </a:cubicBezTo>
                  <a:lnTo>
                    <a:pt x="19812" y="97358"/>
                  </a:lnTo>
                  <a:lnTo>
                    <a:pt x="36767" y="148971"/>
                  </a:lnTo>
                  <a:lnTo>
                    <a:pt x="36868" y="148971"/>
                  </a:lnTo>
                  <a:lnTo>
                    <a:pt x="53975" y="97358"/>
                  </a:lnTo>
                  <a:lnTo>
                    <a:pt x="67881" y="97358"/>
                  </a:lnTo>
                  <a:cubicBezTo>
                    <a:pt x="70955" y="122949"/>
                    <a:pt x="72758" y="146380"/>
                    <a:pt x="73317" y="167589"/>
                  </a:cubicBezTo>
                  <a:close/>
                  <a:moveTo>
                    <a:pt x="124295" y="115773"/>
                  </a:moveTo>
                  <a:cubicBezTo>
                    <a:pt x="119494" y="141745"/>
                    <a:pt x="113170" y="160642"/>
                    <a:pt x="105346" y="172415"/>
                  </a:cubicBezTo>
                  <a:cubicBezTo>
                    <a:pt x="99225" y="181508"/>
                    <a:pt x="92520" y="186042"/>
                    <a:pt x="85242" y="186042"/>
                  </a:cubicBezTo>
                  <a:cubicBezTo>
                    <a:pt x="83299" y="186042"/>
                    <a:pt x="80924" y="185458"/>
                    <a:pt x="78054" y="184290"/>
                  </a:cubicBezTo>
                  <a:lnTo>
                    <a:pt x="78054" y="178016"/>
                  </a:lnTo>
                  <a:cubicBezTo>
                    <a:pt x="79451" y="178232"/>
                    <a:pt x="81102" y="178346"/>
                    <a:pt x="82956" y="178346"/>
                  </a:cubicBezTo>
                  <a:cubicBezTo>
                    <a:pt x="86360" y="178346"/>
                    <a:pt x="89091" y="177394"/>
                    <a:pt x="91173" y="175527"/>
                  </a:cubicBezTo>
                  <a:cubicBezTo>
                    <a:pt x="93675" y="173241"/>
                    <a:pt x="94920" y="170675"/>
                    <a:pt x="94920" y="167843"/>
                  </a:cubicBezTo>
                  <a:cubicBezTo>
                    <a:pt x="94920" y="165875"/>
                    <a:pt x="93942" y="161874"/>
                    <a:pt x="91999" y="155854"/>
                  </a:cubicBezTo>
                  <a:lnTo>
                    <a:pt x="79121" y="115773"/>
                  </a:lnTo>
                  <a:lnTo>
                    <a:pt x="90678" y="115773"/>
                  </a:lnTo>
                  <a:lnTo>
                    <a:pt x="99911" y="145745"/>
                  </a:lnTo>
                  <a:cubicBezTo>
                    <a:pt x="101994" y="152552"/>
                    <a:pt x="102870" y="157302"/>
                    <a:pt x="102514" y="160007"/>
                  </a:cubicBezTo>
                  <a:cubicBezTo>
                    <a:pt x="107594" y="146494"/>
                    <a:pt x="111125" y="131724"/>
                    <a:pt x="113119" y="115773"/>
                  </a:cubicBezTo>
                  <a:close/>
                  <a:moveTo>
                    <a:pt x="280822" y="167589"/>
                  </a:moveTo>
                  <a:lnTo>
                    <a:pt x="247421" y="167589"/>
                  </a:lnTo>
                  <a:lnTo>
                    <a:pt x="247421" y="97358"/>
                  </a:lnTo>
                  <a:lnTo>
                    <a:pt x="258661" y="97358"/>
                  </a:lnTo>
                  <a:lnTo>
                    <a:pt x="258661" y="158953"/>
                  </a:lnTo>
                  <a:lnTo>
                    <a:pt x="280822" y="158953"/>
                  </a:lnTo>
                  <a:close/>
                  <a:moveTo>
                    <a:pt x="238658" y="169304"/>
                  </a:moveTo>
                  <a:lnTo>
                    <a:pt x="225755" y="162954"/>
                  </a:lnTo>
                  <a:cubicBezTo>
                    <a:pt x="226898" y="161988"/>
                    <a:pt x="228003" y="160947"/>
                    <a:pt x="228994" y="159779"/>
                  </a:cubicBezTo>
                  <a:cubicBezTo>
                    <a:pt x="234493" y="153353"/>
                    <a:pt x="237223" y="143802"/>
                    <a:pt x="237223" y="131166"/>
                  </a:cubicBezTo>
                  <a:cubicBezTo>
                    <a:pt x="237223" y="107925"/>
                    <a:pt x="228105" y="96291"/>
                    <a:pt x="209855" y="96291"/>
                  </a:cubicBezTo>
                  <a:cubicBezTo>
                    <a:pt x="200914" y="96291"/>
                    <a:pt x="193929" y="99238"/>
                    <a:pt x="188900" y="105143"/>
                  </a:cubicBezTo>
                  <a:cubicBezTo>
                    <a:pt x="183439" y="111595"/>
                    <a:pt x="180696" y="121095"/>
                    <a:pt x="180696" y="133655"/>
                  </a:cubicBezTo>
                  <a:cubicBezTo>
                    <a:pt x="180696" y="145999"/>
                    <a:pt x="183109" y="155067"/>
                    <a:pt x="187985" y="160833"/>
                  </a:cubicBezTo>
                  <a:cubicBezTo>
                    <a:pt x="192430" y="166040"/>
                    <a:pt x="199123" y="168643"/>
                    <a:pt x="208090" y="168643"/>
                  </a:cubicBezTo>
                  <a:cubicBezTo>
                    <a:pt x="211442" y="168643"/>
                    <a:pt x="214516" y="168224"/>
                    <a:pt x="217297" y="167399"/>
                  </a:cubicBezTo>
                  <a:lnTo>
                    <a:pt x="234125" y="177203"/>
                  </a:lnTo>
                  <a:lnTo>
                    <a:pt x="238696" y="169304"/>
                  </a:lnTo>
                  <a:close/>
                  <a:moveTo>
                    <a:pt x="196850" y="153530"/>
                  </a:moveTo>
                  <a:cubicBezTo>
                    <a:pt x="193993" y="148958"/>
                    <a:pt x="192570" y="141592"/>
                    <a:pt x="192570" y="131483"/>
                  </a:cubicBezTo>
                  <a:cubicBezTo>
                    <a:pt x="192570" y="113792"/>
                    <a:pt x="197955" y="104940"/>
                    <a:pt x="208699" y="104940"/>
                  </a:cubicBezTo>
                  <a:cubicBezTo>
                    <a:pt x="214325" y="104940"/>
                    <a:pt x="218478" y="107061"/>
                    <a:pt x="221107" y="111290"/>
                  </a:cubicBezTo>
                  <a:cubicBezTo>
                    <a:pt x="223952" y="115888"/>
                    <a:pt x="225374" y="123177"/>
                    <a:pt x="225374" y="133172"/>
                  </a:cubicBezTo>
                  <a:cubicBezTo>
                    <a:pt x="225374" y="151003"/>
                    <a:pt x="219989" y="159944"/>
                    <a:pt x="209245" y="159944"/>
                  </a:cubicBezTo>
                  <a:cubicBezTo>
                    <a:pt x="203594" y="159944"/>
                    <a:pt x="199466" y="157823"/>
                    <a:pt x="196825" y="153594"/>
                  </a:cubicBezTo>
                  <a:close/>
                  <a:moveTo>
                    <a:pt x="175793" y="148133"/>
                  </a:moveTo>
                  <a:cubicBezTo>
                    <a:pt x="175793" y="154102"/>
                    <a:pt x="173609" y="159004"/>
                    <a:pt x="169240" y="162814"/>
                  </a:cubicBezTo>
                  <a:cubicBezTo>
                    <a:pt x="164871" y="166624"/>
                    <a:pt x="159042" y="168529"/>
                    <a:pt x="151663" y="168529"/>
                  </a:cubicBezTo>
                  <a:cubicBezTo>
                    <a:pt x="144767" y="168529"/>
                    <a:pt x="138151" y="166345"/>
                    <a:pt x="131686" y="161988"/>
                  </a:cubicBezTo>
                  <a:lnTo>
                    <a:pt x="134696" y="155943"/>
                  </a:lnTo>
                  <a:cubicBezTo>
                    <a:pt x="140259" y="158737"/>
                    <a:pt x="145275" y="160109"/>
                    <a:pt x="149809" y="160109"/>
                  </a:cubicBezTo>
                  <a:cubicBezTo>
                    <a:pt x="154026" y="160109"/>
                    <a:pt x="157340" y="159182"/>
                    <a:pt x="159753" y="157315"/>
                  </a:cubicBezTo>
                  <a:cubicBezTo>
                    <a:pt x="159753" y="153124"/>
                    <a:pt x="156832" y="149568"/>
                    <a:pt x="151524" y="146583"/>
                  </a:cubicBezTo>
                  <a:cubicBezTo>
                    <a:pt x="146596" y="143878"/>
                    <a:pt x="136754" y="138240"/>
                    <a:pt x="136754" y="138240"/>
                  </a:cubicBezTo>
                  <a:cubicBezTo>
                    <a:pt x="131394" y="134341"/>
                    <a:pt x="128727" y="130162"/>
                    <a:pt x="128727" y="123292"/>
                  </a:cubicBezTo>
                  <a:cubicBezTo>
                    <a:pt x="128727" y="117577"/>
                    <a:pt x="130721" y="113005"/>
                    <a:pt x="134696" y="109512"/>
                  </a:cubicBezTo>
                  <a:cubicBezTo>
                    <a:pt x="138697" y="105981"/>
                    <a:pt x="143840" y="104242"/>
                    <a:pt x="150190" y="104242"/>
                  </a:cubicBezTo>
                  <a:cubicBezTo>
                    <a:pt x="156693" y="104242"/>
                    <a:pt x="162636" y="105969"/>
                    <a:pt x="167970" y="109449"/>
                  </a:cubicBezTo>
                  <a:lnTo>
                    <a:pt x="165265" y="115494"/>
                  </a:lnTo>
                  <a:cubicBezTo>
                    <a:pt x="161671" y="115494"/>
                    <a:pt x="158890" y="116357"/>
                    <a:pt x="156959" y="118110"/>
                  </a:cubicBezTo>
                  <a:cubicBezTo>
                    <a:pt x="156959" y="122276"/>
                    <a:pt x="159931" y="125857"/>
                    <a:pt x="165418" y="128905"/>
                  </a:cubicBezTo>
                  <a:cubicBezTo>
                    <a:pt x="170409" y="131635"/>
                    <a:pt x="180492" y="137414"/>
                    <a:pt x="180492" y="137414"/>
                  </a:cubicBezTo>
                  <a:cubicBezTo>
                    <a:pt x="185991" y="141288"/>
                    <a:pt x="188722" y="145415"/>
                    <a:pt x="188722" y="152248"/>
                  </a:cubicBezTo>
                  <a:close/>
                  <a:moveTo>
                    <a:pt x="294945" y="73812"/>
                  </a:moveTo>
                  <a:cubicBezTo>
                    <a:pt x="288150" y="73635"/>
                    <a:pt x="282880" y="74320"/>
                    <a:pt x="278473" y="76200"/>
                  </a:cubicBezTo>
                  <a:cubicBezTo>
                    <a:pt x="277203" y="76708"/>
                    <a:pt x="275171" y="76708"/>
                    <a:pt x="274993" y="78321"/>
                  </a:cubicBezTo>
                  <a:cubicBezTo>
                    <a:pt x="275692" y="78994"/>
                    <a:pt x="275793" y="80099"/>
                    <a:pt x="276390" y="81039"/>
                  </a:cubicBezTo>
                  <a:cubicBezTo>
                    <a:pt x="277406" y="82740"/>
                    <a:pt x="279159" y="85014"/>
                    <a:pt x="280784" y="86208"/>
                  </a:cubicBezTo>
                  <a:cubicBezTo>
                    <a:pt x="282562" y="87605"/>
                    <a:pt x="284340" y="88951"/>
                    <a:pt x="286207" y="90145"/>
                  </a:cubicBezTo>
                  <a:cubicBezTo>
                    <a:pt x="289509" y="92177"/>
                    <a:pt x="293256" y="93383"/>
                    <a:pt x="296494" y="95428"/>
                  </a:cubicBezTo>
                  <a:cubicBezTo>
                    <a:pt x="298336" y="96622"/>
                    <a:pt x="300215" y="98133"/>
                    <a:pt x="302082" y="99403"/>
                  </a:cubicBezTo>
                  <a:cubicBezTo>
                    <a:pt x="303009" y="100038"/>
                    <a:pt x="303606" y="101181"/>
                    <a:pt x="304800" y="101587"/>
                  </a:cubicBezTo>
                  <a:lnTo>
                    <a:pt x="304800" y="101333"/>
                  </a:lnTo>
                  <a:cubicBezTo>
                    <a:pt x="304216" y="100571"/>
                    <a:pt x="304038" y="99466"/>
                    <a:pt x="303467" y="98616"/>
                  </a:cubicBezTo>
                  <a:cubicBezTo>
                    <a:pt x="302616" y="97765"/>
                    <a:pt x="301765" y="97003"/>
                    <a:pt x="300927" y="96164"/>
                  </a:cubicBezTo>
                  <a:cubicBezTo>
                    <a:pt x="298209" y="94310"/>
                    <a:pt x="292265" y="91719"/>
                    <a:pt x="291147" y="88608"/>
                  </a:cubicBezTo>
                  <a:lnTo>
                    <a:pt x="290982" y="88430"/>
                  </a:lnTo>
                  <a:cubicBezTo>
                    <a:pt x="292837" y="88265"/>
                    <a:pt x="295046" y="87592"/>
                    <a:pt x="296824" y="87084"/>
                  </a:cubicBezTo>
                  <a:cubicBezTo>
                    <a:pt x="299707" y="86322"/>
                    <a:pt x="302349" y="86487"/>
                    <a:pt x="305333" y="85738"/>
                  </a:cubicBezTo>
                  <a:cubicBezTo>
                    <a:pt x="306680" y="85395"/>
                    <a:pt x="308039" y="84976"/>
                    <a:pt x="309397" y="84544"/>
                  </a:cubicBezTo>
                  <a:lnTo>
                    <a:pt x="309397" y="83782"/>
                  </a:lnTo>
                  <a:cubicBezTo>
                    <a:pt x="307873" y="82258"/>
                    <a:pt x="306730" y="80188"/>
                    <a:pt x="305156" y="78765"/>
                  </a:cubicBezTo>
                  <a:cubicBezTo>
                    <a:pt x="302489" y="77064"/>
                    <a:pt x="299110" y="75971"/>
                    <a:pt x="296304" y="74524"/>
                  </a:cubicBezTo>
                  <a:cubicBezTo>
                    <a:pt x="295288" y="74016"/>
                    <a:pt x="293586" y="73762"/>
                    <a:pt x="293002" y="72911"/>
                  </a:cubicBezTo>
                  <a:cubicBezTo>
                    <a:pt x="291478" y="71057"/>
                    <a:pt x="290589" y="68593"/>
                    <a:pt x="289509" y="66383"/>
                  </a:cubicBezTo>
                  <a:cubicBezTo>
                    <a:pt x="287985" y="63056"/>
                    <a:pt x="287058" y="59741"/>
                    <a:pt x="285191" y="56693"/>
                  </a:cubicBezTo>
                  <a:cubicBezTo>
                    <a:pt x="276428" y="42253"/>
                    <a:pt x="266941" y="33503"/>
                    <a:pt x="252349" y="24943"/>
                  </a:cubicBezTo>
                  <a:cubicBezTo>
                    <a:pt x="249212" y="23165"/>
                    <a:pt x="245453" y="22403"/>
                    <a:pt x="241478" y="21463"/>
                  </a:cubicBezTo>
                  <a:cubicBezTo>
                    <a:pt x="239357" y="21361"/>
                    <a:pt x="237236" y="21209"/>
                    <a:pt x="235128" y="21120"/>
                  </a:cubicBezTo>
                  <a:cubicBezTo>
                    <a:pt x="233731" y="20523"/>
                    <a:pt x="232385" y="18910"/>
                    <a:pt x="231191" y="18136"/>
                  </a:cubicBezTo>
                  <a:cubicBezTo>
                    <a:pt x="226365" y="15088"/>
                    <a:pt x="213868" y="8484"/>
                    <a:pt x="210312" y="17221"/>
                  </a:cubicBezTo>
                  <a:cubicBezTo>
                    <a:pt x="208026" y="22733"/>
                    <a:pt x="213703" y="28169"/>
                    <a:pt x="215671" y="30963"/>
                  </a:cubicBezTo>
                  <a:cubicBezTo>
                    <a:pt x="217132" y="32906"/>
                    <a:pt x="218973" y="35128"/>
                    <a:pt x="219989" y="37313"/>
                  </a:cubicBezTo>
                  <a:cubicBezTo>
                    <a:pt x="220586" y="38786"/>
                    <a:pt x="220751" y="40297"/>
                    <a:pt x="221348" y="41834"/>
                  </a:cubicBezTo>
                  <a:cubicBezTo>
                    <a:pt x="222694" y="45568"/>
                    <a:pt x="223977" y="49733"/>
                    <a:pt x="225755" y="53226"/>
                  </a:cubicBezTo>
                  <a:cubicBezTo>
                    <a:pt x="226682" y="55004"/>
                    <a:pt x="227698" y="56871"/>
                    <a:pt x="228892" y="58471"/>
                  </a:cubicBezTo>
                  <a:cubicBezTo>
                    <a:pt x="229578" y="59398"/>
                    <a:pt x="230746" y="59830"/>
                    <a:pt x="231013" y="61354"/>
                  </a:cubicBezTo>
                  <a:cubicBezTo>
                    <a:pt x="229819" y="63081"/>
                    <a:pt x="229743" y="65596"/>
                    <a:pt x="229057" y="67704"/>
                  </a:cubicBezTo>
                  <a:cubicBezTo>
                    <a:pt x="226009" y="77318"/>
                    <a:pt x="227203" y="89205"/>
                    <a:pt x="231521" y="96279"/>
                  </a:cubicBezTo>
                  <a:cubicBezTo>
                    <a:pt x="232880" y="98387"/>
                    <a:pt x="236118" y="103061"/>
                    <a:pt x="240449" y="101270"/>
                  </a:cubicBezTo>
                  <a:cubicBezTo>
                    <a:pt x="244259" y="99746"/>
                    <a:pt x="243421" y="94920"/>
                    <a:pt x="244513" y="90665"/>
                  </a:cubicBezTo>
                  <a:cubicBezTo>
                    <a:pt x="244767" y="89649"/>
                    <a:pt x="244602" y="88976"/>
                    <a:pt x="245123" y="88290"/>
                  </a:cubicBezTo>
                  <a:lnTo>
                    <a:pt x="245123" y="88481"/>
                  </a:lnTo>
                  <a:cubicBezTo>
                    <a:pt x="246317" y="90869"/>
                    <a:pt x="247510" y="93142"/>
                    <a:pt x="248603" y="95529"/>
                  </a:cubicBezTo>
                  <a:cubicBezTo>
                    <a:pt x="251219" y="99695"/>
                    <a:pt x="255791" y="104013"/>
                    <a:pt x="259613" y="106896"/>
                  </a:cubicBezTo>
                  <a:cubicBezTo>
                    <a:pt x="261645" y="108420"/>
                    <a:pt x="263258" y="111062"/>
                    <a:pt x="265798" y="112001"/>
                  </a:cubicBezTo>
                  <a:lnTo>
                    <a:pt x="265798" y="111747"/>
                  </a:lnTo>
                  <a:lnTo>
                    <a:pt x="265608" y="111747"/>
                  </a:lnTo>
                  <a:cubicBezTo>
                    <a:pt x="265062" y="111011"/>
                    <a:pt x="264338" y="110655"/>
                    <a:pt x="263652" y="110058"/>
                  </a:cubicBezTo>
                  <a:cubicBezTo>
                    <a:pt x="243779" y="109151"/>
                    <a:pt x="224931" y="118914"/>
                    <a:pt x="214208" y="135671"/>
                  </a:cubicBezTo>
                  <a:cubicBezTo>
                    <a:pt x="203486" y="152429"/>
                    <a:pt x="202518" y="173633"/>
                    <a:pt x="211668" y="191297"/>
                  </a:cubicBezTo>
                  <a:cubicBezTo>
                    <a:pt x="220819" y="208962"/>
                    <a:pt x="238699" y="220403"/>
                    <a:pt x="258572" y="221310"/>
                  </a:cubicBezTo>
                  <a:cubicBezTo>
                    <a:pt x="257175" y="218643"/>
                    <a:pt x="256007" y="215773"/>
                    <a:pt x="254889" y="213144"/>
                  </a:cubicBezTo>
                  <a:cubicBezTo>
                    <a:pt x="254381" y="212128"/>
                    <a:pt x="254381" y="210604"/>
                    <a:pt x="253530" y="210096"/>
                  </a:cubicBezTo>
                  <a:cubicBezTo>
                    <a:pt x="252260" y="211950"/>
                    <a:pt x="250393" y="213563"/>
                    <a:pt x="249466" y="215849"/>
                  </a:cubicBezTo>
                  <a:cubicBezTo>
                    <a:pt x="247853" y="219507"/>
                    <a:pt x="247688" y="224003"/>
                    <a:pt x="247079" y="228676"/>
                  </a:cubicBezTo>
                  <a:cubicBezTo>
                    <a:pt x="246736" y="228765"/>
                    <a:pt x="246901" y="228676"/>
                    <a:pt x="246736" y="228854"/>
                  </a:cubicBezTo>
                  <a:cubicBezTo>
                    <a:pt x="244018" y="228194"/>
                    <a:pt x="243091" y="225374"/>
                    <a:pt x="242075" y="223012"/>
                  </a:cubicBezTo>
                  <a:cubicBezTo>
                    <a:pt x="239535" y="216980"/>
                    <a:pt x="239116" y="207289"/>
                    <a:pt x="241313" y="200343"/>
                  </a:cubicBezTo>
                  <a:cubicBezTo>
                    <a:pt x="241910" y="198565"/>
                    <a:pt x="244450" y="192951"/>
                    <a:pt x="243434" y="191249"/>
                  </a:cubicBezTo>
                  <a:cubicBezTo>
                    <a:pt x="242900" y="189636"/>
                    <a:pt x="241224" y="188709"/>
                    <a:pt x="240297" y="187401"/>
                  </a:cubicBezTo>
                  <a:cubicBezTo>
                    <a:pt x="238265" y="182651"/>
                    <a:pt x="237249" y="177394"/>
                    <a:pt x="235039" y="172644"/>
                  </a:cubicBezTo>
                  <a:cubicBezTo>
                    <a:pt x="234023" y="170447"/>
                    <a:pt x="232245" y="168148"/>
                    <a:pt x="230797" y="166129"/>
                  </a:cubicBezTo>
                  <a:cubicBezTo>
                    <a:pt x="229184" y="163843"/>
                    <a:pt x="227406" y="162230"/>
                    <a:pt x="226124" y="159525"/>
                  </a:cubicBezTo>
                  <a:cubicBezTo>
                    <a:pt x="225704" y="158598"/>
                    <a:pt x="225107" y="157061"/>
                    <a:pt x="225781" y="156045"/>
                  </a:cubicBezTo>
                  <a:cubicBezTo>
                    <a:pt x="225958" y="155359"/>
                    <a:pt x="226314" y="155092"/>
                    <a:pt x="226974" y="154902"/>
                  </a:cubicBezTo>
                  <a:cubicBezTo>
                    <a:pt x="228092" y="153988"/>
                    <a:pt x="231229" y="155181"/>
                    <a:pt x="232334" y="155689"/>
                  </a:cubicBezTo>
                  <a:cubicBezTo>
                    <a:pt x="235471" y="156959"/>
                    <a:pt x="238112" y="158153"/>
                    <a:pt x="240741" y="159931"/>
                  </a:cubicBezTo>
                  <a:cubicBezTo>
                    <a:pt x="241935" y="160769"/>
                    <a:pt x="243218" y="162382"/>
                    <a:pt x="244742" y="162801"/>
                  </a:cubicBezTo>
                  <a:lnTo>
                    <a:pt x="246520" y="162801"/>
                  </a:lnTo>
                  <a:cubicBezTo>
                    <a:pt x="249237" y="163398"/>
                    <a:pt x="252298" y="162979"/>
                    <a:pt x="254838" y="163728"/>
                  </a:cubicBezTo>
                  <a:cubicBezTo>
                    <a:pt x="259347" y="165176"/>
                    <a:pt x="263411" y="167284"/>
                    <a:pt x="267056" y="169570"/>
                  </a:cubicBezTo>
                  <a:cubicBezTo>
                    <a:pt x="268072" y="171526"/>
                    <a:pt x="268516" y="173317"/>
                    <a:pt x="269443" y="175349"/>
                  </a:cubicBezTo>
                  <a:cubicBezTo>
                    <a:pt x="271221" y="179540"/>
                    <a:pt x="273418" y="183769"/>
                    <a:pt x="275222" y="187820"/>
                  </a:cubicBezTo>
                  <a:cubicBezTo>
                    <a:pt x="277000" y="191821"/>
                    <a:pt x="278714" y="195897"/>
                    <a:pt x="281267" y="199212"/>
                  </a:cubicBezTo>
                  <a:cubicBezTo>
                    <a:pt x="282537" y="200990"/>
                    <a:pt x="287642" y="201917"/>
                    <a:pt x="289928" y="202844"/>
                  </a:cubicBezTo>
                  <a:cubicBezTo>
                    <a:pt x="291617" y="203606"/>
                    <a:pt x="294246" y="204305"/>
                    <a:pt x="295770" y="205232"/>
                  </a:cubicBezTo>
                  <a:cubicBezTo>
                    <a:pt x="298691" y="207010"/>
                    <a:pt x="301536" y="209042"/>
                    <a:pt x="304279" y="210998"/>
                  </a:cubicBezTo>
                  <a:cubicBezTo>
                    <a:pt x="305676" y="211963"/>
                    <a:pt x="309905" y="214084"/>
                    <a:pt x="310159" y="215798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22708" y="2224564"/>
              <a:ext cx="11370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MySQL 8.0+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7470" y="2493645"/>
              <a:ext cx="9824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单一库 · 15 张表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438900" y="27432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26518" y="2866549"/>
              <a:ext cx="19044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JSON 列与 ENUM 需要 8.0+；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26518" y="30760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不使用迁移框架，表结构由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26518" y="3285649"/>
              <a:ext cx="13490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script.sql 一处维护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010650" y="1409700"/>
            <a:ext cx="2571750" cy="2133600"/>
            <a:chOff x="9010650" y="1409700"/>
            <a:chExt cx="2571750" cy="2133600"/>
          </a:xfrm>
        </p:grpSpPr>
        <p:sp>
          <p:nvSpPr>
            <p:cNvPr id="41" name="Rectangle 41"/>
            <p:cNvSpPr/>
            <p:nvPr/>
          </p:nvSpPr>
          <p:spPr>
            <a:xfrm>
              <a:off x="9010650" y="14097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201150" y="16383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267475" y="1711817"/>
              <a:ext cx="305645" cy="291695"/>
            </a:xfrm>
            <a:custGeom>
              <a:avLst/>
              <a:gdLst/>
              <a:ahLst/>
              <a:cxnLst/>
              <a:rect l="l" t="t" r="r" b="b"/>
              <a:pathLst>
                <a:path w="305645" h="291695">
                  <a:moveTo>
                    <a:pt x="166161" y="288281"/>
                  </a:moveTo>
                  <a:cubicBezTo>
                    <a:pt x="164255" y="290732"/>
                    <a:pt x="160998" y="291695"/>
                    <a:pt x="158066" y="290675"/>
                  </a:cubicBezTo>
                  <a:cubicBezTo>
                    <a:pt x="155134" y="289654"/>
                    <a:pt x="153179" y="286877"/>
                    <a:pt x="153207" y="283772"/>
                  </a:cubicBezTo>
                  <a:lnTo>
                    <a:pt x="153207" y="217707"/>
                  </a:lnTo>
                  <a:cubicBezTo>
                    <a:pt x="153207" y="209706"/>
                    <a:pt x="146704" y="203191"/>
                    <a:pt x="138678" y="203191"/>
                  </a:cubicBezTo>
                  <a:lnTo>
                    <a:pt x="65729" y="203191"/>
                  </a:lnTo>
                  <a:cubicBezTo>
                    <a:pt x="63010" y="203197"/>
                    <a:pt x="60516" y="201679"/>
                    <a:pt x="59273" y="199260"/>
                  </a:cubicBezTo>
                  <a:cubicBezTo>
                    <a:pt x="58030" y="196841"/>
                    <a:pt x="58248" y="193930"/>
                    <a:pt x="59836" y="191723"/>
                  </a:cubicBezTo>
                  <a:lnTo>
                    <a:pt x="107804" y="124540"/>
                  </a:lnTo>
                  <a:cubicBezTo>
                    <a:pt x="114662" y="114977"/>
                    <a:pt x="107804" y="101629"/>
                    <a:pt x="95993" y="101629"/>
                  </a:cubicBezTo>
                  <a:lnTo>
                    <a:pt x="7589" y="101629"/>
                  </a:lnTo>
                  <a:cubicBezTo>
                    <a:pt x="5278" y="101610"/>
                    <a:pt x="3113" y="100497"/>
                    <a:pt x="1753" y="98629"/>
                  </a:cubicBezTo>
                  <a:cubicBezTo>
                    <a:pt x="394" y="96761"/>
                    <a:pt x="0" y="94359"/>
                    <a:pt x="692" y="92155"/>
                  </a:cubicBezTo>
                  <a:cubicBezTo>
                    <a:pt x="931" y="91444"/>
                    <a:pt x="1273" y="90772"/>
                    <a:pt x="1708" y="90161"/>
                  </a:cubicBezTo>
                  <a:lnTo>
                    <a:pt x="63951" y="3064"/>
                  </a:lnTo>
                  <a:cubicBezTo>
                    <a:pt x="65315" y="1144"/>
                    <a:pt x="67527" y="7"/>
                    <a:pt x="69882" y="16"/>
                  </a:cubicBezTo>
                  <a:lnTo>
                    <a:pt x="255162" y="16"/>
                  </a:lnTo>
                  <a:cubicBezTo>
                    <a:pt x="257886" y="0"/>
                    <a:pt x="260389" y="1515"/>
                    <a:pt x="261638" y="3935"/>
                  </a:cubicBezTo>
                  <a:cubicBezTo>
                    <a:pt x="262888" y="6356"/>
                    <a:pt x="262672" y="9273"/>
                    <a:pt x="261081" y="11484"/>
                  </a:cubicBezTo>
                  <a:lnTo>
                    <a:pt x="213100" y="78667"/>
                  </a:lnTo>
                  <a:cubicBezTo>
                    <a:pt x="206242" y="88256"/>
                    <a:pt x="213100" y="101604"/>
                    <a:pt x="224911" y="101604"/>
                  </a:cubicBezTo>
                  <a:lnTo>
                    <a:pt x="297872" y="101604"/>
                  </a:lnTo>
                  <a:cubicBezTo>
                    <a:pt x="300895" y="101604"/>
                    <a:pt x="303257" y="103356"/>
                    <a:pt x="304388" y="105693"/>
                  </a:cubicBezTo>
                  <a:cubicBezTo>
                    <a:pt x="305645" y="108182"/>
                    <a:pt x="305332" y="111176"/>
                    <a:pt x="303587" y="113351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23058" y="2224564"/>
              <a:ext cx="14206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原生前端 + Vite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27820" y="249364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无 UI 框架 · 无图表库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239250" y="27432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239250" y="2857500"/>
              <a:ext cx="55245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420225" y="2952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  <a:moveTo>
                    <a:pt x="174895" y="145066"/>
                  </a:moveTo>
                  <a:cubicBezTo>
                    <a:pt x="173506" y="136374"/>
                    <a:pt x="167846" y="129072"/>
                    <a:pt x="151059" y="122261"/>
                  </a:cubicBezTo>
                  <a:cubicBezTo>
                    <a:pt x="145217" y="119523"/>
                    <a:pt x="138724" y="117618"/>
                    <a:pt x="136795" y="113213"/>
                  </a:cubicBezTo>
                  <a:cubicBezTo>
                    <a:pt x="136073" y="110593"/>
                    <a:pt x="135961" y="109164"/>
                    <a:pt x="136430" y="107617"/>
                  </a:cubicBezTo>
                  <a:cubicBezTo>
                    <a:pt x="137620" y="102489"/>
                    <a:pt x="143693" y="100949"/>
                    <a:pt x="148455" y="102378"/>
                  </a:cubicBezTo>
                  <a:cubicBezTo>
                    <a:pt x="151551" y="103330"/>
                    <a:pt x="154408" y="105712"/>
                    <a:pt x="156202" y="109522"/>
                  </a:cubicBezTo>
                  <a:cubicBezTo>
                    <a:pt x="164409" y="104156"/>
                    <a:pt x="164409" y="104156"/>
                    <a:pt x="170132" y="100592"/>
                  </a:cubicBezTo>
                  <a:cubicBezTo>
                    <a:pt x="167989" y="97258"/>
                    <a:pt x="166926" y="95822"/>
                    <a:pt x="165481" y="94401"/>
                  </a:cubicBezTo>
                  <a:cubicBezTo>
                    <a:pt x="160480" y="88805"/>
                    <a:pt x="153821" y="85947"/>
                    <a:pt x="142986" y="86193"/>
                  </a:cubicBezTo>
                  <a:lnTo>
                    <a:pt x="137390" y="86900"/>
                  </a:lnTo>
                  <a:cubicBezTo>
                    <a:pt x="132024" y="88209"/>
                    <a:pt x="126913" y="91067"/>
                    <a:pt x="123817" y="94877"/>
                  </a:cubicBezTo>
                  <a:cubicBezTo>
                    <a:pt x="114768" y="105124"/>
                    <a:pt x="117380" y="122984"/>
                    <a:pt x="128334" y="130366"/>
                  </a:cubicBezTo>
                  <a:cubicBezTo>
                    <a:pt x="139168" y="138462"/>
                    <a:pt x="155011" y="140240"/>
                    <a:pt x="157036" y="147868"/>
                  </a:cubicBezTo>
                  <a:cubicBezTo>
                    <a:pt x="158940" y="157155"/>
                    <a:pt x="150130" y="160131"/>
                    <a:pt x="141430" y="159060"/>
                  </a:cubicBezTo>
                  <a:cubicBezTo>
                    <a:pt x="134993" y="157631"/>
                    <a:pt x="131429" y="154408"/>
                    <a:pt x="127500" y="148455"/>
                  </a:cubicBezTo>
                  <a:lnTo>
                    <a:pt x="112974" y="156797"/>
                  </a:lnTo>
                  <a:cubicBezTo>
                    <a:pt x="114641" y="160607"/>
                    <a:pt x="116546" y="162266"/>
                    <a:pt x="119404" y="165600"/>
                  </a:cubicBezTo>
                  <a:cubicBezTo>
                    <a:pt x="133215" y="179538"/>
                    <a:pt x="167743" y="178824"/>
                    <a:pt x="173942" y="157631"/>
                  </a:cubicBezTo>
                  <a:cubicBezTo>
                    <a:pt x="174173" y="156916"/>
                    <a:pt x="175847" y="152035"/>
                    <a:pt x="174530" y="144534"/>
                  </a:cubicBezTo>
                  <a:lnTo>
                    <a:pt x="174895" y="145066"/>
                  </a:lnTo>
                  <a:close/>
                  <a:moveTo>
                    <a:pt x="103592" y="87559"/>
                  </a:moveTo>
                  <a:lnTo>
                    <a:pt x="85749" y="87559"/>
                  </a:lnTo>
                  <a:cubicBezTo>
                    <a:pt x="85749" y="102941"/>
                    <a:pt x="85677" y="118229"/>
                    <a:pt x="85677" y="133636"/>
                  </a:cubicBezTo>
                  <a:cubicBezTo>
                    <a:pt x="85677" y="143415"/>
                    <a:pt x="86177" y="152392"/>
                    <a:pt x="84582" y="155154"/>
                  </a:cubicBezTo>
                  <a:cubicBezTo>
                    <a:pt x="81963" y="160623"/>
                    <a:pt x="75216" y="159925"/>
                    <a:pt x="72152" y="158964"/>
                  </a:cubicBezTo>
                  <a:cubicBezTo>
                    <a:pt x="69009" y="157409"/>
                    <a:pt x="67413" y="155265"/>
                    <a:pt x="65564" y="152178"/>
                  </a:cubicBezTo>
                  <a:cubicBezTo>
                    <a:pt x="65064" y="151344"/>
                    <a:pt x="64691" y="150622"/>
                    <a:pt x="64556" y="150622"/>
                  </a:cubicBezTo>
                  <a:lnTo>
                    <a:pt x="50070" y="159552"/>
                  </a:lnTo>
                  <a:cubicBezTo>
                    <a:pt x="52491" y="164552"/>
                    <a:pt x="56023" y="168854"/>
                    <a:pt x="60579" y="171593"/>
                  </a:cubicBezTo>
                  <a:cubicBezTo>
                    <a:pt x="67366" y="175641"/>
                    <a:pt x="76486" y="176951"/>
                    <a:pt x="86035" y="174808"/>
                  </a:cubicBezTo>
                  <a:cubicBezTo>
                    <a:pt x="92250" y="173014"/>
                    <a:pt x="97607" y="169323"/>
                    <a:pt x="100409" y="163608"/>
                  </a:cubicBezTo>
                  <a:cubicBezTo>
                    <a:pt x="104458" y="156226"/>
                    <a:pt x="103600" y="147177"/>
                    <a:pt x="103561" y="137049"/>
                  </a:cubicBezTo>
                  <a:cubicBezTo>
                    <a:pt x="103656" y="120745"/>
                    <a:pt x="103561" y="104434"/>
                    <a:pt x="103561" y="88003"/>
                  </a:cubicBezTo>
                  <a:lnTo>
                    <a:pt x="103592" y="87559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45704" y="321468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JS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906000" y="2857500"/>
              <a:ext cx="55245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10098881" y="2952750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0" y="0"/>
                  </a:moveTo>
                  <a:lnTo>
                    <a:pt x="166688" y="0"/>
                  </a:lnTo>
                  <a:lnTo>
                    <a:pt x="151527" y="171156"/>
                  </a:lnTo>
                  <a:lnTo>
                    <a:pt x="83161" y="190500"/>
                  </a:lnTo>
                  <a:lnTo>
                    <a:pt x="15184" y="171148"/>
                  </a:lnTo>
                  <a:lnTo>
                    <a:pt x="0" y="0"/>
                  </a:lnTo>
                  <a:close/>
                  <a:moveTo>
                    <a:pt x="55809" y="77391"/>
                  </a:moveTo>
                  <a:lnTo>
                    <a:pt x="53967" y="55817"/>
                  </a:lnTo>
                  <a:lnTo>
                    <a:pt x="133810" y="55840"/>
                  </a:lnTo>
                  <a:lnTo>
                    <a:pt x="135636" y="35028"/>
                  </a:lnTo>
                  <a:lnTo>
                    <a:pt x="31051" y="35004"/>
                  </a:lnTo>
                  <a:lnTo>
                    <a:pt x="36592" y="98584"/>
                  </a:lnTo>
                  <a:lnTo>
                    <a:pt x="109030" y="98584"/>
                  </a:lnTo>
                  <a:lnTo>
                    <a:pt x="106442" y="125778"/>
                  </a:lnTo>
                  <a:lnTo>
                    <a:pt x="83344" y="132159"/>
                  </a:lnTo>
                  <a:lnTo>
                    <a:pt x="59888" y="125730"/>
                  </a:lnTo>
                  <a:lnTo>
                    <a:pt x="58396" y="108982"/>
                  </a:lnTo>
                  <a:lnTo>
                    <a:pt x="37687" y="108982"/>
                  </a:lnTo>
                  <a:lnTo>
                    <a:pt x="40307" y="142089"/>
                  </a:lnTo>
                  <a:lnTo>
                    <a:pt x="83344" y="153599"/>
                  </a:lnTo>
                  <a:lnTo>
                    <a:pt x="126040" y="142145"/>
                  </a:lnTo>
                  <a:lnTo>
                    <a:pt x="131945" y="77399"/>
                  </a:lnTo>
                  <a:lnTo>
                    <a:pt x="55809" y="77399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041255" y="3214688"/>
              <a:ext cx="28194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HTML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572750" y="2857500"/>
              <a:ext cx="55245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10765631" y="2952750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0" y="0"/>
                  </a:moveTo>
                  <a:lnTo>
                    <a:pt x="166688" y="0"/>
                  </a:lnTo>
                  <a:lnTo>
                    <a:pt x="151527" y="171156"/>
                  </a:lnTo>
                  <a:lnTo>
                    <a:pt x="83161" y="190500"/>
                  </a:lnTo>
                  <a:lnTo>
                    <a:pt x="15176" y="171148"/>
                  </a:lnTo>
                  <a:lnTo>
                    <a:pt x="0" y="0"/>
                  </a:lnTo>
                  <a:close/>
                  <a:moveTo>
                    <a:pt x="135652" y="35028"/>
                  </a:moveTo>
                  <a:lnTo>
                    <a:pt x="31036" y="35004"/>
                  </a:lnTo>
                  <a:lnTo>
                    <a:pt x="32726" y="55817"/>
                  </a:lnTo>
                  <a:lnTo>
                    <a:pt x="113094" y="55832"/>
                  </a:lnTo>
                  <a:lnTo>
                    <a:pt x="111069" y="77391"/>
                  </a:lnTo>
                  <a:lnTo>
                    <a:pt x="58364" y="77391"/>
                  </a:lnTo>
                  <a:lnTo>
                    <a:pt x="60269" y="97814"/>
                  </a:lnTo>
                  <a:lnTo>
                    <a:pt x="109339" y="97814"/>
                  </a:lnTo>
                  <a:lnTo>
                    <a:pt x="106434" y="125778"/>
                  </a:lnTo>
                  <a:lnTo>
                    <a:pt x="83336" y="132159"/>
                  </a:lnTo>
                  <a:lnTo>
                    <a:pt x="59873" y="125730"/>
                  </a:lnTo>
                  <a:lnTo>
                    <a:pt x="58380" y="108982"/>
                  </a:lnTo>
                  <a:lnTo>
                    <a:pt x="37663" y="108982"/>
                  </a:lnTo>
                  <a:lnTo>
                    <a:pt x="39965" y="139581"/>
                  </a:lnTo>
                  <a:lnTo>
                    <a:pt x="83344" y="153098"/>
                  </a:lnTo>
                  <a:lnTo>
                    <a:pt x="125992" y="140954"/>
                  </a:lnTo>
                  <a:lnTo>
                    <a:pt x="135652" y="35036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749082" y="3214688"/>
              <a:ext cx="19978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CSS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9600" y="3771900"/>
            <a:ext cx="2571750" cy="2133600"/>
            <a:chOff x="609600" y="3771900"/>
            <a:chExt cx="2571750" cy="2133600"/>
          </a:xfrm>
        </p:grpSpPr>
        <p:sp>
          <p:nvSpPr>
            <p:cNvPr id="57" name="Rectangle 57"/>
            <p:cNvSpPr/>
            <p:nvPr/>
          </p:nvSpPr>
          <p:spPr>
            <a:xfrm>
              <a:off x="609600" y="37719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00100" y="40005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04875" y="4117975"/>
              <a:ext cx="228600" cy="203200"/>
              <a:chOff x="904875" y="4117975"/>
              <a:chExt cx="228600" cy="2032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04875" y="4117975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63500"/>
                    </a:lnTo>
                    <a:cubicBezTo>
                      <a:pt x="228600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04875" y="4219575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63500"/>
                    </a:lnTo>
                    <a:cubicBezTo>
                      <a:pt x="228600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55675" y="4168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55675" y="42703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822008" y="4586764"/>
              <a:ext cx="16259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前后端分离 · 同源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6770" y="4855845"/>
              <a:ext cx="10152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开发期 Vite 代理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838200" y="51054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25818" y="52287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演示期由后端托管前端产物，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5818" y="5438299"/>
              <a:ext cx="1690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同源部署 —— 因此整个项目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5818" y="56478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没有一行 CORS 配置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3409950" y="3771900"/>
            <a:ext cx="2571750" cy="2133600"/>
            <a:chOff x="3409950" y="3771900"/>
            <a:chExt cx="2571750" cy="2133600"/>
          </a:xfrm>
        </p:grpSpPr>
        <p:sp>
          <p:nvSpPr>
            <p:cNvPr id="71" name="Rectangle 71"/>
            <p:cNvSpPr/>
            <p:nvPr/>
          </p:nvSpPr>
          <p:spPr>
            <a:xfrm>
              <a:off x="3409950" y="37719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3600450" y="40005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3717925" y="4117975"/>
              <a:ext cx="203200" cy="203200"/>
              <a:chOff x="3717925" y="4117975"/>
              <a:chExt cx="203200" cy="2032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3717925" y="4117975"/>
                <a:ext cx="203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01600">
                    <a:moveTo>
                      <a:pt x="101600" y="0"/>
                    </a:moveTo>
                    <a:lnTo>
                      <a:pt x="0" y="50800"/>
                    </a:lnTo>
                    <a:lnTo>
                      <a:pt x="101600" y="101600"/>
                    </a:lnTo>
                    <a:lnTo>
                      <a:pt x="203200" y="50800"/>
                    </a:ln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3717925" y="4219575"/>
                <a:ext cx="203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50800">
                    <a:moveTo>
                      <a:pt x="0" y="0"/>
                    </a:moveTo>
                    <a:lnTo>
                      <a:pt x="101600" y="50800"/>
                    </a:ln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3717925" y="4270375"/>
                <a:ext cx="203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50800">
                    <a:moveTo>
                      <a:pt x="0" y="0"/>
                    </a:moveTo>
                    <a:lnTo>
                      <a:pt x="101600" y="50800"/>
                    </a:ln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3622358" y="45867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三层严格分层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627120" y="4855845"/>
              <a:ext cx="19222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router → service → repository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3638550" y="51054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626168" y="52287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职责分离不写在文档里，而是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626168" y="5438299"/>
              <a:ext cx="2068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由 test_architecture.py 直接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626168" y="56478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断言，靠测试而非自觉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210300" y="3771900"/>
            <a:ext cx="2571750" cy="2133600"/>
            <a:chOff x="6210300" y="3771900"/>
            <a:chExt cx="2571750" cy="2133600"/>
          </a:xfrm>
        </p:grpSpPr>
        <p:sp>
          <p:nvSpPr>
            <p:cNvPr id="84" name="Rectangle 84"/>
            <p:cNvSpPr/>
            <p:nvPr/>
          </p:nvSpPr>
          <p:spPr>
            <a:xfrm>
              <a:off x="6210300" y="37719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400800" y="40005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F57C00">
                <a:alpha val="10000"/>
              </a:srgbClr>
            </a:solidFill>
            <a:ln>
              <a:noFill/>
            </a:ln>
          </p:spPr>
        </p:sp>
        <p:sp>
          <p:nvSpPr>
            <p:cNvPr id="86" name="Freeform 86"/>
            <p:cNvSpPr/>
            <p:nvPr/>
          </p:nvSpPr>
          <p:spPr>
            <a:xfrm>
              <a:off x="6463151" y="4063152"/>
              <a:ext cx="313401" cy="308946"/>
            </a:xfrm>
            <a:custGeom>
              <a:avLst/>
              <a:gdLst/>
              <a:ahLst/>
              <a:cxnLst/>
              <a:rect l="l" t="t" r="r" b="b"/>
              <a:pathLst>
                <a:path w="313401" h="308946">
                  <a:moveTo>
                    <a:pt x="287304" y="128751"/>
                  </a:moveTo>
                  <a:cubicBezTo>
                    <a:pt x="294198" y="107988"/>
                    <a:pt x="291812" y="85261"/>
                    <a:pt x="280754" y="66384"/>
                  </a:cubicBezTo>
                  <a:cubicBezTo>
                    <a:pt x="264129" y="37445"/>
                    <a:pt x="230713" y="22559"/>
                    <a:pt x="198080" y="29554"/>
                  </a:cubicBezTo>
                  <a:cubicBezTo>
                    <a:pt x="179689" y="9097"/>
                    <a:pt x="151785" y="0"/>
                    <a:pt x="124872" y="5687"/>
                  </a:cubicBezTo>
                  <a:cubicBezTo>
                    <a:pt x="97958" y="11375"/>
                    <a:pt x="76120" y="30983"/>
                    <a:pt x="67578" y="57132"/>
                  </a:cubicBezTo>
                  <a:cubicBezTo>
                    <a:pt x="46142" y="61527"/>
                    <a:pt x="27640" y="74949"/>
                    <a:pt x="16808" y="93962"/>
                  </a:cubicBezTo>
                  <a:cubicBezTo>
                    <a:pt x="0" y="122855"/>
                    <a:pt x="3814" y="159301"/>
                    <a:pt x="26240" y="184088"/>
                  </a:cubicBezTo>
                  <a:cubicBezTo>
                    <a:pt x="19320" y="204842"/>
                    <a:pt x="21685" y="227571"/>
                    <a:pt x="32730" y="246454"/>
                  </a:cubicBezTo>
                  <a:cubicBezTo>
                    <a:pt x="49376" y="275404"/>
                    <a:pt x="82813" y="290289"/>
                    <a:pt x="115465" y="283286"/>
                  </a:cubicBezTo>
                  <a:cubicBezTo>
                    <a:pt x="129988" y="299640"/>
                    <a:pt x="150853" y="308946"/>
                    <a:pt x="172724" y="308823"/>
                  </a:cubicBezTo>
                  <a:cubicBezTo>
                    <a:pt x="206174" y="308854"/>
                    <a:pt x="235808" y="287260"/>
                    <a:pt x="246026" y="255409"/>
                  </a:cubicBezTo>
                  <a:cubicBezTo>
                    <a:pt x="267459" y="251006"/>
                    <a:pt x="285958" y="237586"/>
                    <a:pt x="296797" y="218578"/>
                  </a:cubicBezTo>
                  <a:cubicBezTo>
                    <a:pt x="313401" y="189736"/>
                    <a:pt x="309570" y="153486"/>
                    <a:pt x="287304" y="128752"/>
                  </a:cubicBezTo>
                  <a:close/>
                  <a:moveTo>
                    <a:pt x="172724" y="288874"/>
                  </a:moveTo>
                  <a:cubicBezTo>
                    <a:pt x="159373" y="288895"/>
                    <a:pt x="146440" y="284215"/>
                    <a:pt x="136194" y="275655"/>
                  </a:cubicBezTo>
                  <a:lnTo>
                    <a:pt x="137996" y="274634"/>
                  </a:lnTo>
                  <a:lnTo>
                    <a:pt x="198681" y="239605"/>
                  </a:lnTo>
                  <a:cubicBezTo>
                    <a:pt x="201753" y="237803"/>
                    <a:pt x="203649" y="234515"/>
                    <a:pt x="203668" y="230953"/>
                  </a:cubicBezTo>
                  <a:lnTo>
                    <a:pt x="203668" y="145394"/>
                  </a:lnTo>
                  <a:lnTo>
                    <a:pt x="229322" y="160235"/>
                  </a:lnTo>
                  <a:cubicBezTo>
                    <a:pt x="229579" y="160366"/>
                    <a:pt x="229758" y="160611"/>
                    <a:pt x="229804" y="160896"/>
                  </a:cubicBezTo>
                  <a:lnTo>
                    <a:pt x="229804" y="231795"/>
                  </a:lnTo>
                  <a:cubicBezTo>
                    <a:pt x="229737" y="263291"/>
                    <a:pt x="204221" y="288807"/>
                    <a:pt x="172724" y="288874"/>
                  </a:cubicBezTo>
                  <a:close/>
                  <a:moveTo>
                    <a:pt x="50033" y="236481"/>
                  </a:moveTo>
                  <a:cubicBezTo>
                    <a:pt x="43338" y="224919"/>
                    <a:pt x="40933" y="211367"/>
                    <a:pt x="43244" y="198207"/>
                  </a:cubicBezTo>
                  <a:lnTo>
                    <a:pt x="45047" y="199289"/>
                  </a:lnTo>
                  <a:lnTo>
                    <a:pt x="105791" y="234318"/>
                  </a:lnTo>
                  <a:cubicBezTo>
                    <a:pt x="108852" y="236114"/>
                    <a:pt x="112645" y="236114"/>
                    <a:pt x="115705" y="234318"/>
                  </a:cubicBezTo>
                  <a:lnTo>
                    <a:pt x="189909" y="191538"/>
                  </a:lnTo>
                  <a:lnTo>
                    <a:pt x="189909" y="221160"/>
                  </a:lnTo>
                  <a:cubicBezTo>
                    <a:pt x="189894" y="221471"/>
                    <a:pt x="189739" y="221758"/>
                    <a:pt x="189487" y="221941"/>
                  </a:cubicBezTo>
                  <a:lnTo>
                    <a:pt x="128022" y="257390"/>
                  </a:lnTo>
                  <a:cubicBezTo>
                    <a:pt x="100708" y="273125"/>
                    <a:pt x="65812" y="263769"/>
                    <a:pt x="50033" y="236481"/>
                  </a:cubicBezTo>
                  <a:close/>
                  <a:moveTo>
                    <a:pt x="34052" y="104297"/>
                  </a:moveTo>
                  <a:cubicBezTo>
                    <a:pt x="40794" y="92661"/>
                    <a:pt x="51436" y="83786"/>
                    <a:pt x="64094" y="79242"/>
                  </a:cubicBezTo>
                  <a:lnTo>
                    <a:pt x="64094" y="151343"/>
                  </a:lnTo>
                  <a:cubicBezTo>
                    <a:pt x="64047" y="154890"/>
                    <a:pt x="65935" y="158182"/>
                    <a:pt x="69020" y="159934"/>
                  </a:cubicBezTo>
                  <a:lnTo>
                    <a:pt x="142863" y="202534"/>
                  </a:lnTo>
                  <a:lnTo>
                    <a:pt x="117207" y="217374"/>
                  </a:lnTo>
                  <a:cubicBezTo>
                    <a:pt x="116926" y="217524"/>
                    <a:pt x="116588" y="217524"/>
                    <a:pt x="116306" y="217374"/>
                  </a:cubicBezTo>
                  <a:lnTo>
                    <a:pt x="54961" y="181985"/>
                  </a:lnTo>
                  <a:cubicBezTo>
                    <a:pt x="27702" y="166185"/>
                    <a:pt x="18353" y="131315"/>
                    <a:pt x="34052" y="103997"/>
                  </a:cubicBezTo>
                  <a:close/>
                  <a:moveTo>
                    <a:pt x="244825" y="153266"/>
                  </a:moveTo>
                  <a:lnTo>
                    <a:pt x="170742" y="110246"/>
                  </a:lnTo>
                  <a:lnTo>
                    <a:pt x="196337" y="95463"/>
                  </a:lnTo>
                  <a:cubicBezTo>
                    <a:pt x="196619" y="95313"/>
                    <a:pt x="196957" y="95313"/>
                    <a:pt x="197239" y="95463"/>
                  </a:cubicBezTo>
                  <a:lnTo>
                    <a:pt x="258584" y="130912"/>
                  </a:lnTo>
                  <a:cubicBezTo>
                    <a:pt x="277731" y="141960"/>
                    <a:pt x="288777" y="163070"/>
                    <a:pt x="286938" y="185099"/>
                  </a:cubicBezTo>
                  <a:cubicBezTo>
                    <a:pt x="285099" y="207128"/>
                    <a:pt x="270706" y="226115"/>
                    <a:pt x="249992" y="233836"/>
                  </a:cubicBezTo>
                  <a:lnTo>
                    <a:pt x="249992" y="161735"/>
                  </a:lnTo>
                  <a:cubicBezTo>
                    <a:pt x="249884" y="158198"/>
                    <a:pt x="247920" y="154979"/>
                    <a:pt x="244823" y="153264"/>
                  </a:cubicBezTo>
                  <a:close/>
                  <a:moveTo>
                    <a:pt x="270361" y="114872"/>
                  </a:moveTo>
                  <a:lnTo>
                    <a:pt x="268557" y="113790"/>
                  </a:lnTo>
                  <a:lnTo>
                    <a:pt x="207934" y="78461"/>
                  </a:lnTo>
                  <a:cubicBezTo>
                    <a:pt x="204854" y="76654"/>
                    <a:pt x="201038" y="76654"/>
                    <a:pt x="197959" y="78461"/>
                  </a:cubicBezTo>
                  <a:lnTo>
                    <a:pt x="123818" y="121240"/>
                  </a:lnTo>
                  <a:lnTo>
                    <a:pt x="123818" y="91620"/>
                  </a:lnTo>
                  <a:cubicBezTo>
                    <a:pt x="123786" y="91313"/>
                    <a:pt x="123924" y="91013"/>
                    <a:pt x="124178" y="90839"/>
                  </a:cubicBezTo>
                  <a:lnTo>
                    <a:pt x="185523" y="55449"/>
                  </a:lnTo>
                  <a:cubicBezTo>
                    <a:pt x="204717" y="44392"/>
                    <a:pt x="228571" y="45424"/>
                    <a:pt x="246738" y="58097"/>
                  </a:cubicBezTo>
                  <a:cubicBezTo>
                    <a:pt x="264905" y="70770"/>
                    <a:pt x="274111" y="92800"/>
                    <a:pt x="270362" y="114631"/>
                  </a:cubicBezTo>
                  <a:close/>
                  <a:moveTo>
                    <a:pt x="109816" y="167383"/>
                  </a:moveTo>
                  <a:lnTo>
                    <a:pt x="84162" y="152603"/>
                  </a:lnTo>
                  <a:cubicBezTo>
                    <a:pt x="83902" y="152446"/>
                    <a:pt x="83725" y="152182"/>
                    <a:pt x="83679" y="151883"/>
                  </a:cubicBezTo>
                  <a:lnTo>
                    <a:pt x="83679" y="81165"/>
                  </a:lnTo>
                  <a:cubicBezTo>
                    <a:pt x="83708" y="59019"/>
                    <a:pt x="96532" y="38883"/>
                    <a:pt x="116588" y="29492"/>
                  </a:cubicBezTo>
                  <a:cubicBezTo>
                    <a:pt x="136645" y="20100"/>
                    <a:pt x="160322" y="23144"/>
                    <a:pt x="177351" y="37303"/>
                  </a:cubicBezTo>
                  <a:lnTo>
                    <a:pt x="175547" y="38325"/>
                  </a:lnTo>
                  <a:lnTo>
                    <a:pt x="114864" y="73352"/>
                  </a:lnTo>
                  <a:cubicBezTo>
                    <a:pt x="111792" y="75154"/>
                    <a:pt x="109896" y="78442"/>
                    <a:pt x="109877" y="82005"/>
                  </a:cubicBezTo>
                  <a:close/>
                  <a:moveTo>
                    <a:pt x="123756" y="137342"/>
                  </a:moveTo>
                  <a:lnTo>
                    <a:pt x="156801" y="118295"/>
                  </a:lnTo>
                  <a:lnTo>
                    <a:pt x="189909" y="137342"/>
                  </a:lnTo>
                  <a:lnTo>
                    <a:pt x="189909" y="175435"/>
                  </a:lnTo>
                  <a:lnTo>
                    <a:pt x="156922" y="194481"/>
                  </a:lnTo>
                  <a:lnTo>
                    <a:pt x="123817" y="175435"/>
                  </a:lnTo>
                  <a:close/>
                </a:path>
              </a:pathLst>
            </a:custGeom>
            <a:solidFill>
              <a:srgbClr val="F57C00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22708" y="4586764"/>
              <a:ext cx="12935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Provider 抽象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427470" y="4855845"/>
              <a:ext cx="1324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mock / openai 可切换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6438900" y="51054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426518" y="522874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无 API Key 也能完整演示与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426518" y="54382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跑通全部测试；配置有误在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426518" y="5647849"/>
              <a:ext cx="19044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启动期直接失败（fail fast）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9010650" y="3771900"/>
            <a:ext cx="2571750" cy="2133600"/>
            <a:chOff x="9010650" y="3771900"/>
            <a:chExt cx="2571750" cy="2133600"/>
          </a:xfrm>
        </p:grpSpPr>
        <p:sp>
          <p:nvSpPr>
            <p:cNvPr id="94" name="Rectangle 94"/>
            <p:cNvSpPr/>
            <p:nvPr/>
          </p:nvSpPr>
          <p:spPr>
            <a:xfrm>
              <a:off x="9010650" y="37719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9201150" y="40005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F57C00">
                <a:alpha val="10000"/>
              </a:srgbClr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9300350" y="4099700"/>
              <a:ext cx="239751" cy="239751"/>
              <a:chOff x="9300350" y="4099700"/>
              <a:chExt cx="239751" cy="239751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9300350" y="4099700"/>
                <a:ext cx="239751" cy="239751"/>
              </a:xfrm>
              <a:custGeom>
                <a:avLst/>
                <a:gdLst/>
                <a:ahLst/>
                <a:cxnLst/>
                <a:rect l="l" t="t" r="r" b="b"/>
                <a:pathLst>
                  <a:path w="239751" h="239751">
                    <a:moveTo>
                      <a:pt x="98603" y="22301"/>
                    </a:moveTo>
                    <a:cubicBezTo>
                      <a:pt x="104013" y="0"/>
                      <a:pt x="135738" y="0"/>
                      <a:pt x="141148" y="22301"/>
                    </a:cubicBezTo>
                    <a:cubicBezTo>
                      <a:pt x="142794" y="29096"/>
                      <a:pt x="147587" y="34697"/>
                      <a:pt x="154047" y="37373"/>
                    </a:cubicBezTo>
                    <a:cubicBezTo>
                      <a:pt x="160506" y="40049"/>
                      <a:pt x="167855" y="39479"/>
                      <a:pt x="173825" y="35839"/>
                    </a:cubicBezTo>
                    <a:cubicBezTo>
                      <a:pt x="193421" y="23901"/>
                      <a:pt x="215862" y="46330"/>
                      <a:pt x="203924" y="65938"/>
                    </a:cubicBezTo>
                    <a:cubicBezTo>
                      <a:pt x="200289" y="71906"/>
                      <a:pt x="199721" y="79249"/>
                      <a:pt x="202394" y="85704"/>
                    </a:cubicBezTo>
                    <a:cubicBezTo>
                      <a:pt x="205067" y="92160"/>
                      <a:pt x="210660" y="96952"/>
                      <a:pt x="217449" y="98603"/>
                    </a:cubicBezTo>
                    <a:cubicBezTo>
                      <a:pt x="239751" y="104013"/>
                      <a:pt x="239751" y="135738"/>
                      <a:pt x="217449" y="141148"/>
                    </a:cubicBezTo>
                    <a:cubicBezTo>
                      <a:pt x="210654" y="142794"/>
                      <a:pt x="205054" y="147587"/>
                      <a:pt x="202378" y="154047"/>
                    </a:cubicBezTo>
                    <a:cubicBezTo>
                      <a:pt x="199702" y="160506"/>
                      <a:pt x="200271" y="167855"/>
                      <a:pt x="203911" y="173825"/>
                    </a:cubicBezTo>
                    <a:cubicBezTo>
                      <a:pt x="215849" y="193421"/>
                      <a:pt x="193421" y="215862"/>
                      <a:pt x="173812" y="203924"/>
                    </a:cubicBezTo>
                    <a:cubicBezTo>
                      <a:pt x="167845" y="200289"/>
                      <a:pt x="160502" y="199721"/>
                      <a:pt x="154046" y="202394"/>
                    </a:cubicBezTo>
                    <a:cubicBezTo>
                      <a:pt x="147591" y="205067"/>
                      <a:pt x="142799" y="210660"/>
                      <a:pt x="141148" y="217449"/>
                    </a:cubicBezTo>
                    <a:cubicBezTo>
                      <a:pt x="135738" y="239751"/>
                      <a:pt x="104013" y="239751"/>
                      <a:pt x="98603" y="217449"/>
                    </a:cubicBezTo>
                    <a:cubicBezTo>
                      <a:pt x="96956" y="210654"/>
                      <a:pt x="92163" y="205054"/>
                      <a:pt x="85704" y="202378"/>
                    </a:cubicBezTo>
                    <a:cubicBezTo>
                      <a:pt x="79245" y="199702"/>
                      <a:pt x="71895" y="200271"/>
                      <a:pt x="65926" y="203911"/>
                    </a:cubicBezTo>
                    <a:cubicBezTo>
                      <a:pt x="46330" y="215849"/>
                      <a:pt x="23889" y="193421"/>
                      <a:pt x="35827" y="173812"/>
                    </a:cubicBezTo>
                    <a:cubicBezTo>
                      <a:pt x="39461" y="167845"/>
                      <a:pt x="40030" y="160502"/>
                      <a:pt x="37357" y="154046"/>
                    </a:cubicBezTo>
                    <a:cubicBezTo>
                      <a:pt x="34684" y="147591"/>
                      <a:pt x="29090" y="142799"/>
                      <a:pt x="22301" y="141148"/>
                    </a:cubicBezTo>
                    <a:cubicBezTo>
                      <a:pt x="0" y="135738"/>
                      <a:pt x="0" y="104013"/>
                      <a:pt x="22301" y="98603"/>
                    </a:cubicBezTo>
                    <a:cubicBezTo>
                      <a:pt x="29096" y="96956"/>
                      <a:pt x="34697" y="92163"/>
                      <a:pt x="37373" y="85704"/>
                    </a:cubicBezTo>
                    <a:cubicBezTo>
                      <a:pt x="40049" y="79245"/>
                      <a:pt x="39479" y="71895"/>
                      <a:pt x="35839" y="65926"/>
                    </a:cubicBezTo>
                    <a:cubicBezTo>
                      <a:pt x="23901" y="46330"/>
                      <a:pt x="46330" y="23889"/>
                      <a:pt x="65938" y="35827"/>
                    </a:cubicBezTo>
                    <a:cubicBezTo>
                      <a:pt x="78638" y="43548"/>
                      <a:pt x="95098" y="36716"/>
                      <a:pt x="98603" y="22301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9382125" y="41814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9223058" y="45867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单机同源部署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227820" y="4855845"/>
              <a:ext cx="9692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127.0.0.1:8000</a:t>
              </a:r>
            </a:p>
          </p:txBody>
        </p:sp>
        <p:sp>
          <p:nvSpPr>
            <p:cNvPr id="101" name="Line 101"/>
            <p:cNvSpPr/>
            <p:nvPr/>
          </p:nvSpPr>
          <p:spPr>
            <a:xfrm>
              <a:off x="9239250" y="51054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226868" y="522874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SSE 运行注册表与刷题限流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226868" y="54382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计数都在进程内 ——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226868" y="5647849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--workers 1 是硬性要求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/>
      <p:bldP spid="40" grpId="0"/>
      <p:bldP spid="56" grpId="0"/>
      <p:bldP spid="70" grpId="0"/>
      <p:bldP spid="83" grpId="0"/>
      <p:bldP spid="93" grpId="0"/>
      <p:bldP spid="10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2269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后端严格分层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4314" y="667702"/>
              <a:ext cx="701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03 技术栈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P15 / 35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409700"/>
            <a:ext cx="8153400" cy="1085850"/>
            <a:chOff x="609600" y="1409700"/>
            <a:chExt cx="8153400" cy="1085850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381000" cy="1085850"/>
            </a:xfrm>
            <a:prstGeom prst="roundRect">
              <a:avLst>
                <a:gd name="adj" fmla="val 2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1607" y="1860232"/>
              <a:ext cx="2569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990600" y="1409700"/>
              <a:ext cx="7772400" cy="323850"/>
            </a:xfrm>
            <a:custGeom>
              <a:avLst/>
              <a:gdLst/>
              <a:ahLst/>
              <a:cxnLst/>
              <a:rect l="l" t="t" r="r" b="b"/>
              <a:pathLst>
                <a:path w="7772400" h="323850">
                  <a:moveTo>
                    <a:pt x="76200" y="0"/>
                  </a:moveTo>
                  <a:lnTo>
                    <a:pt x="7696200" y="0"/>
                  </a:lnTo>
                  <a:cubicBezTo>
                    <a:pt x="7738284" y="0"/>
                    <a:pt x="7772400" y="34116"/>
                    <a:pt x="7772400" y="76200"/>
                  </a:cubicBezTo>
                  <a:lnTo>
                    <a:pt x="7772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7760" y="1499235"/>
              <a:ext cx="876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router 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45118" y="1523524"/>
              <a:ext cx="32287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HTTP 端点 —— 参数校验 · 角色守卫 · 统一响应包装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23950" y="177165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35392" y="1894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参数校验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37298" y="2120741"/>
              <a:ext cx="17018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请求体模型校验，非法输入 422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733800" y="177165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45242" y="1894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角色守卫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47148" y="2120741"/>
              <a:ext cx="17500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Depends(require_roles(...))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353175" y="177165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4618" y="1894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响应包装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6522" y="2120741"/>
              <a:ext cx="15632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错误统一映射到 HTTP 状态码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2571750"/>
            <a:ext cx="8153400" cy="1085850"/>
            <a:chOff x="609600" y="2571750"/>
            <a:chExt cx="8153400" cy="1085850"/>
          </a:xfrm>
        </p:grpSpPr>
        <p:sp>
          <p:nvSpPr>
            <p:cNvPr id="26" name="Rectangle 26"/>
            <p:cNvSpPr/>
            <p:nvPr/>
          </p:nvSpPr>
          <p:spPr>
            <a:xfrm>
              <a:off x="609600" y="2571750"/>
              <a:ext cx="381000" cy="1085850"/>
            </a:xfrm>
            <a:prstGeom prst="roundRect">
              <a:avLst>
                <a:gd name="adj" fmla="val 2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9978" y="30222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990600" y="2571750"/>
              <a:ext cx="7772400" cy="323850"/>
            </a:xfrm>
            <a:custGeom>
              <a:avLst/>
              <a:gdLst/>
              <a:ahLst/>
              <a:cxnLst/>
              <a:rect l="l" t="t" r="r" b="b"/>
              <a:pathLst>
                <a:path w="7772400" h="323850">
                  <a:moveTo>
                    <a:pt x="76200" y="0"/>
                  </a:moveTo>
                  <a:lnTo>
                    <a:pt x="7696200" y="0"/>
                  </a:lnTo>
                  <a:cubicBezTo>
                    <a:pt x="7738284" y="0"/>
                    <a:pt x="7772400" y="34116"/>
                    <a:pt x="7772400" y="76200"/>
                  </a:cubicBezTo>
                  <a:lnTo>
                    <a:pt x="7772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897B">
                <a:alpha val="1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27760" y="2661285"/>
              <a:ext cx="9321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service 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45118" y="2685574"/>
              <a:ext cx="31005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业务逻辑 —— 流程编排 · 事务 · 调用 AI Provider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23950" y="293370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35392" y="30570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流程编排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37298" y="328279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跨模块调用只发生在这一层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733800" y="293370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845242" y="30570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事务边界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47148" y="3282791"/>
              <a:ext cx="1804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commit / rollback 只出现在这里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353175" y="293370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64618" y="3057049"/>
              <a:ext cx="11611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调用 AI Provider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6522" y="3282791"/>
              <a:ext cx="15572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get_provider() 取缓存单例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3733800"/>
            <a:ext cx="8153400" cy="1085850"/>
            <a:chOff x="609600" y="3733800"/>
            <a:chExt cx="8153400" cy="1085850"/>
          </a:xfrm>
        </p:grpSpPr>
        <p:sp>
          <p:nvSpPr>
            <p:cNvPr id="41" name="Rectangle 41"/>
            <p:cNvSpPr/>
            <p:nvPr/>
          </p:nvSpPr>
          <p:spPr>
            <a:xfrm>
              <a:off x="609600" y="3733800"/>
              <a:ext cx="381000" cy="1085850"/>
            </a:xfrm>
            <a:prstGeom prst="roundRect">
              <a:avLst>
                <a:gd name="adj" fmla="val 20000"/>
              </a:avLst>
            </a:prstGeom>
            <a:solidFill>
              <a:srgbClr val="0B2E5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9978" y="418433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990600" y="3733800"/>
              <a:ext cx="7772400" cy="323850"/>
            </a:xfrm>
            <a:custGeom>
              <a:avLst/>
              <a:gdLst/>
              <a:ahLst/>
              <a:cxnLst/>
              <a:rect l="l" t="t" r="r" b="b"/>
              <a:pathLst>
                <a:path w="7772400" h="323850">
                  <a:moveTo>
                    <a:pt x="76200" y="0"/>
                  </a:moveTo>
                  <a:lnTo>
                    <a:pt x="7696200" y="0"/>
                  </a:lnTo>
                  <a:cubicBezTo>
                    <a:pt x="7738284" y="0"/>
                    <a:pt x="7772400" y="34116"/>
                    <a:pt x="7772400" y="76200"/>
                  </a:cubicBezTo>
                  <a:lnTo>
                    <a:pt x="7772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E52">
                <a:alpha val="10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27760" y="3823335"/>
              <a:ext cx="12358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2E52"/>
                  </a:solidFill>
                  <a:latin typeface="Arial"/>
                  <a:ea typeface="Microsoft YaHei"/>
                  <a:cs typeface="Arial"/>
                </a:rPr>
                <a:t>repository 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45118" y="3847624"/>
              <a:ext cx="31219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数据访问 —— 唯一执行 SQL 的地方 · 对接 MySQL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23950" y="409575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35392" y="4219099"/>
              <a:ext cx="839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唯一 SQL 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37298" y="444484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整个后端只有这里执行查询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733800" y="409575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845242" y="42190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纯数据访问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847148" y="4444841"/>
              <a:ext cx="14066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只做 CRUD，不含业务判断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353175" y="409575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64618" y="42190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最底层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66522" y="4444841"/>
              <a:ext cx="15090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绝不依赖 service / router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9600" y="4895850"/>
            <a:ext cx="8636031" cy="1085850"/>
            <a:chOff x="609600" y="4895850"/>
            <a:chExt cx="8636031" cy="1085850"/>
          </a:xfrm>
        </p:grpSpPr>
        <p:sp>
          <p:nvSpPr>
            <p:cNvPr id="56" name="Rectangle 56"/>
            <p:cNvSpPr/>
            <p:nvPr/>
          </p:nvSpPr>
          <p:spPr>
            <a:xfrm>
              <a:off x="609600" y="4895850"/>
              <a:ext cx="381000" cy="1085850"/>
            </a:xfrm>
            <a:prstGeom prst="roundRect">
              <a:avLst>
                <a:gd name="adj" fmla="val 20000"/>
              </a:avLst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9978" y="53463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990600" y="4895850"/>
              <a:ext cx="7772400" cy="323850"/>
            </a:xfrm>
            <a:custGeom>
              <a:avLst/>
              <a:gdLst/>
              <a:ahLst/>
              <a:cxnLst/>
              <a:rect l="l" t="t" r="r" b="b"/>
              <a:pathLst>
                <a:path w="7772400" h="323850">
                  <a:moveTo>
                    <a:pt x="76200" y="0"/>
                  </a:moveTo>
                  <a:lnTo>
                    <a:pt x="7696200" y="0"/>
                  </a:lnTo>
                  <a:cubicBezTo>
                    <a:pt x="7738284" y="0"/>
                    <a:pt x="7772400" y="34116"/>
                    <a:pt x="7772400" y="76200"/>
                  </a:cubicBezTo>
                  <a:lnTo>
                    <a:pt x="7772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7C00">
                <a:alpha val="1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27760" y="4985385"/>
              <a:ext cx="4261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ai 包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845118" y="5009674"/>
              <a:ext cx="26876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能力抽象 —— 横跨三层之外的独立基础设施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123950" y="5257800"/>
              <a:ext cx="3714750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235392" y="53811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只接收原始值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237298" y="5606891"/>
              <a:ext cx="344290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str / list[str] / float / 本模块 dataclass —— 不收 ORM 对象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038725" y="5257800"/>
              <a:ext cx="3714750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150168" y="538114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谁在调用它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152072" y="5606891"/>
              <a:ext cx="40935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interview（出题 / 补题）· evaluation（评分 / 报告）· practice（判分）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991600" y="1409700"/>
            <a:ext cx="2590800" cy="4572000"/>
            <a:chOff x="8991600" y="1409700"/>
            <a:chExt cx="2590800" cy="4572000"/>
          </a:xfrm>
        </p:grpSpPr>
        <p:sp>
          <p:nvSpPr>
            <p:cNvPr id="68" name="Rectangle 68"/>
            <p:cNvSpPr/>
            <p:nvPr/>
          </p:nvSpPr>
          <p:spPr>
            <a:xfrm>
              <a:off x="8991600" y="1409700"/>
              <a:ext cx="2590800" cy="457200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8991600" y="1409700"/>
              <a:ext cx="2590800" cy="419100"/>
            </a:xfrm>
            <a:custGeom>
              <a:avLst/>
              <a:gdLst/>
              <a:ahLst/>
              <a:cxnLst/>
              <a:rect l="l" t="t" r="r" b="b"/>
              <a:pathLst>
                <a:path w="2590800" h="419100">
                  <a:moveTo>
                    <a:pt x="76200" y="0"/>
                  </a:moveTo>
                  <a:lnTo>
                    <a:pt x="2514600" y="0"/>
                  </a:lnTo>
                  <a:cubicBezTo>
                    <a:pt x="2556684" y="0"/>
                    <a:pt x="2590800" y="34116"/>
                    <a:pt x="2590800" y="76200"/>
                  </a:cubicBezTo>
                  <a:lnTo>
                    <a:pt x="2590800" y="419100"/>
                  </a:lnTo>
                  <a:lnTo>
                    <a:pt x="0" y="4191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62828">
                <a:alpha val="10000"/>
              </a:srgbClr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9225756" y="1569244"/>
              <a:ext cx="122237" cy="157162"/>
              <a:chOff x="9225756" y="1569244"/>
              <a:chExt cx="122237" cy="157162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225756" y="1639094"/>
                <a:ext cx="122237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87312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104775" y="0"/>
                    </a:lnTo>
                    <a:cubicBezTo>
                      <a:pt x="114419" y="0"/>
                      <a:pt x="122237" y="7818"/>
                      <a:pt x="122237" y="17462"/>
                    </a:cubicBezTo>
                    <a:lnTo>
                      <a:pt x="122237" y="69850"/>
                    </a:lnTo>
                    <a:cubicBezTo>
                      <a:pt x="122237" y="79494"/>
                      <a:pt x="114419" y="87312"/>
                      <a:pt x="104775" y="87312"/>
                    </a:cubicBezTo>
                    <a:lnTo>
                      <a:pt x="17462" y="87312"/>
                    </a:lnTo>
                    <a:cubicBezTo>
                      <a:pt x="7818" y="87312"/>
                      <a:pt x="0" y="79494"/>
                      <a:pt x="0" y="69850"/>
                    </a:cubicBezTo>
                    <a:lnTo>
                      <a:pt x="0" y="17462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278144" y="1674019"/>
                <a:ext cx="17462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17463">
                    <a:moveTo>
                      <a:pt x="0" y="8731"/>
                    </a:moveTo>
                    <a:cubicBezTo>
                      <a:pt x="0" y="13553"/>
                      <a:pt x="3909" y="17463"/>
                      <a:pt x="8731" y="17463"/>
                    </a:cubicBezTo>
                    <a:cubicBezTo>
                      <a:pt x="13553" y="17463"/>
                      <a:pt x="17462" y="13553"/>
                      <a:pt x="17462" y="8731"/>
                    </a:cubicBezTo>
                    <a:cubicBezTo>
                      <a:pt x="17462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251950" y="1569244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69850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cubicBezTo>
                      <a:pt x="54214" y="0"/>
                      <a:pt x="69850" y="15636"/>
                      <a:pt x="69850" y="34925"/>
                    </a:cubicBezTo>
                    <a:lnTo>
                      <a:pt x="69850" y="6985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472612" y="1583531"/>
              <a:ext cx="14087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测试钉住的禁止项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9182100" y="18669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191625" y="2028825"/>
              <a:ext cx="171450" cy="171450"/>
            </a:xfrm>
            <a:prstGeom prst="ellipse">
              <a:avLst/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9248775" y="20859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57150"/>
                  </a:lnTo>
                  <a:moveTo>
                    <a:pt x="57150" y="0"/>
                  </a:moveTo>
                  <a:lnTo>
                    <a:pt x="0" y="57150"/>
                  </a:lnTo>
                </a:path>
              </a:pathLst>
            </a:custGeom>
            <a:noFill/>
            <a:ln w="15240" cap="rnd">
              <a:solidFill>
                <a:srgbClr val="C6282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436418" y="2056924"/>
              <a:ext cx="1990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router 不得引用 repository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438322" y="2263616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端点不得越层直接访问数据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9191625" y="2771775"/>
              <a:ext cx="171450" cy="171450"/>
            </a:xfrm>
            <a:prstGeom prst="ellipse">
              <a:avLst/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81" name="Freeform 81"/>
            <p:cNvSpPr/>
            <p:nvPr/>
          </p:nvSpPr>
          <p:spPr>
            <a:xfrm>
              <a:off x="9248775" y="28289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57150"/>
                  </a:lnTo>
                  <a:moveTo>
                    <a:pt x="57150" y="0"/>
                  </a:moveTo>
                  <a:lnTo>
                    <a:pt x="0" y="57150"/>
                  </a:lnTo>
                </a:path>
              </a:pathLst>
            </a:custGeom>
            <a:noFill/>
            <a:ln w="15240" cap="rnd">
              <a:solidFill>
                <a:srgbClr val="C6282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436418" y="2799874"/>
              <a:ext cx="1602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repository 不依赖上层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438322" y="3006566"/>
              <a:ext cx="16957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不得 import service / router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9191625" y="3514725"/>
              <a:ext cx="171450" cy="171450"/>
            </a:xfrm>
            <a:prstGeom prst="ellipse">
              <a:avLst/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85" name="Freeform 85"/>
            <p:cNvSpPr/>
            <p:nvPr/>
          </p:nvSpPr>
          <p:spPr>
            <a:xfrm>
              <a:off x="9248775" y="35718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57150"/>
                  </a:lnTo>
                  <a:moveTo>
                    <a:pt x="57150" y="0"/>
                  </a:moveTo>
                  <a:lnTo>
                    <a:pt x="0" y="57150"/>
                  </a:lnTo>
                </a:path>
              </a:pathLst>
            </a:custGeom>
            <a:noFill/>
            <a:ln w="15240" cap="rnd">
              <a:solidFill>
                <a:srgbClr val="C6282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436418" y="3542824"/>
              <a:ext cx="16246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service 无 db.execute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438322" y="3749516"/>
              <a:ext cx="16716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SQL 只允许出现在 repository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9191625" y="4257675"/>
              <a:ext cx="171450" cy="171450"/>
            </a:xfrm>
            <a:prstGeom prst="ellipse">
              <a:avLst/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89" name="Freeform 89"/>
            <p:cNvSpPr/>
            <p:nvPr/>
          </p:nvSpPr>
          <p:spPr>
            <a:xfrm>
              <a:off x="9248775" y="43148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57150"/>
                  </a:lnTo>
                  <a:moveTo>
                    <a:pt x="57150" y="0"/>
                  </a:moveTo>
                  <a:lnTo>
                    <a:pt x="0" y="57150"/>
                  </a:lnTo>
                </a:path>
              </a:pathLst>
            </a:custGeom>
            <a:noFill/>
            <a:ln w="15240" cap="rnd">
              <a:solidFill>
                <a:srgbClr val="C6282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436418" y="4285774"/>
              <a:ext cx="12433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ai 不依赖业务模块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438322" y="4492466"/>
              <a:ext cx="12258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因此可脱离数据库单测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9191625" y="5000625"/>
              <a:ext cx="171450" cy="171450"/>
            </a:xfrm>
            <a:prstGeom prst="ellipse">
              <a:avLst/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93" name="Freeform 93"/>
            <p:cNvSpPr/>
            <p:nvPr/>
          </p:nvSpPr>
          <p:spPr>
            <a:xfrm>
              <a:off x="9248775" y="50577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57150"/>
                  </a:lnTo>
                  <a:moveTo>
                    <a:pt x="57150" y="0"/>
                  </a:moveTo>
                  <a:lnTo>
                    <a:pt x="0" y="57150"/>
                  </a:lnTo>
                </a:path>
              </a:pathLst>
            </a:custGeom>
            <a:noFill/>
            <a:ln w="15240" cap="rnd">
              <a:solidFill>
                <a:srgbClr val="C6282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436418" y="5028724"/>
              <a:ext cx="12956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core 只做延迟导入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438322" y="5235416"/>
              <a:ext cx="15873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对业务模块仅在函数体内导入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9182100" y="5524500"/>
              <a:ext cx="2209800" cy="304800"/>
            </a:xfrm>
            <a:prstGeom prst="roundRect">
              <a:avLst>
                <a:gd name="adj" fmla="val 1875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213187" y="5635466"/>
              <a:ext cx="21476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由 tests/test_architecture.py 断言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  <p:bldP spid="55" grpId="0"/>
      <p:bldP spid="67" grpId="0"/>
      <p:bldP spid="9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337337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八个模块与依赖方向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4314" y="667702"/>
              <a:ext cx="701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03 技术栈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P16 / 35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228850" y="2114550"/>
            <a:ext cx="7734301" cy="2057400"/>
            <a:chOff x="2228850" y="2114550"/>
            <a:chExt cx="7734301" cy="2057400"/>
          </a:xfrm>
        </p:grpSpPr>
        <p:sp>
          <p:nvSpPr>
            <p:cNvPr id="11" name="Line 11"/>
            <p:cNvSpPr/>
            <p:nvPr/>
          </p:nvSpPr>
          <p:spPr>
            <a:xfrm flipH="1">
              <a:off x="5143500" y="2114550"/>
              <a:ext cx="762000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12" name="Line 12"/>
            <p:cNvSpPr/>
            <p:nvPr/>
          </p:nvSpPr>
          <p:spPr>
            <a:xfrm flipH="1">
              <a:off x="2362200" y="2971800"/>
              <a:ext cx="304800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13" name="Line 13"/>
            <p:cNvSpPr/>
            <p:nvPr/>
          </p:nvSpPr>
          <p:spPr>
            <a:xfrm>
              <a:off x="4095750" y="2971800"/>
              <a:ext cx="1238250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14" name="Line 14"/>
            <p:cNvSpPr/>
            <p:nvPr/>
          </p:nvSpPr>
          <p:spPr>
            <a:xfrm>
              <a:off x="5429250" y="2971800"/>
              <a:ext cx="4095750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15" name="Line 15"/>
            <p:cNvSpPr/>
            <p:nvPr/>
          </p:nvSpPr>
          <p:spPr>
            <a:xfrm flipH="1">
              <a:off x="6572250" y="2971800"/>
              <a:ext cx="762000" cy="342900"/>
            </a:xfrm>
            <a:prstGeom prst="line">
              <a:avLst/>
            </a:prstGeom>
            <a:noFill/>
            <a:ln w="14288">
              <a:solidFill>
                <a:srgbClr val="00897B"/>
              </a:solidFill>
              <a:tailEnd type="triangle" w="med" len="med"/>
            </a:ln>
          </p:spPr>
        </p:sp>
        <p:sp>
          <p:nvSpPr>
            <p:cNvPr id="16" name="Line 16"/>
            <p:cNvSpPr/>
            <p:nvPr/>
          </p:nvSpPr>
          <p:spPr>
            <a:xfrm>
              <a:off x="8667750" y="2971800"/>
              <a:ext cx="1238250" cy="342900"/>
            </a:xfrm>
            <a:prstGeom prst="line">
              <a:avLst/>
            </a:prstGeom>
            <a:noFill/>
            <a:ln w="14288">
              <a:solidFill>
                <a:srgbClr val="00897B"/>
              </a:solidFill>
              <a:tailEnd type="triangle" w="med" len="med"/>
            </a:ln>
          </p:spPr>
        </p:sp>
        <p:sp>
          <p:nvSpPr>
            <p:cNvPr id="17" name="Line 17"/>
            <p:cNvSpPr/>
            <p:nvPr/>
          </p:nvSpPr>
          <p:spPr>
            <a:xfrm>
              <a:off x="2228850" y="3829050"/>
              <a:ext cx="1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18" name="Line 18"/>
            <p:cNvSpPr/>
            <p:nvPr/>
          </p:nvSpPr>
          <p:spPr>
            <a:xfrm>
              <a:off x="6096000" y="3829050"/>
              <a:ext cx="1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19" name="Line 19"/>
            <p:cNvSpPr/>
            <p:nvPr/>
          </p:nvSpPr>
          <p:spPr>
            <a:xfrm>
              <a:off x="9963150" y="3829050"/>
              <a:ext cx="1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543550" y="2552700"/>
            <a:ext cx="2838450" cy="800100"/>
            <a:chOff x="5543550" y="2552700"/>
            <a:chExt cx="2838450" cy="800100"/>
          </a:xfrm>
        </p:grpSpPr>
        <p:sp>
          <p:nvSpPr>
            <p:cNvPr id="21" name="Line 21"/>
            <p:cNvSpPr/>
            <p:nvPr/>
          </p:nvSpPr>
          <p:spPr>
            <a:xfrm flipH="1">
              <a:off x="5695950" y="2733675"/>
              <a:ext cx="838200" cy="1"/>
            </a:xfrm>
            <a:prstGeom prst="line">
              <a:avLst/>
            </a:prstGeom>
            <a:noFill/>
            <a:ln w="19050">
              <a:solidFill>
                <a:srgbClr val="C62828"/>
              </a:solidFill>
              <a:custDash>
                <a:ds d="350000" sp="200000"/>
              </a:custDash>
              <a:tailEnd type="triangle" w="med" len="med"/>
            </a:ln>
          </p:spPr>
        </p:sp>
        <p:sp>
          <p:nvSpPr>
            <p:cNvPr id="22" name="Line 22"/>
            <p:cNvSpPr/>
            <p:nvPr/>
          </p:nvSpPr>
          <p:spPr>
            <a:xfrm flipH="1" flipV="1">
              <a:off x="5543550" y="3028950"/>
              <a:ext cx="2838450" cy="323850"/>
            </a:xfrm>
            <a:prstGeom prst="line">
              <a:avLst/>
            </a:prstGeom>
            <a:noFill/>
            <a:ln w="19050">
              <a:solidFill>
                <a:srgbClr val="C62828"/>
              </a:solidFill>
              <a:custDash>
                <a:ds d="350000" sp="200000"/>
              </a:custDash>
              <a:tailEnd type="triangle" w="med" len="med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67500" y="2552700"/>
              <a:ext cx="723900" cy="190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5941" y="259699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禁止反向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34150" y="2971800"/>
              <a:ext cx="723900" cy="190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32591" y="301609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禁止反向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476750" y="1638300"/>
            <a:ext cx="3238500" cy="476250"/>
            <a:chOff x="4476750" y="1638300"/>
            <a:chExt cx="3238500" cy="476250"/>
          </a:xfrm>
        </p:grpSpPr>
        <p:sp>
          <p:nvSpPr>
            <p:cNvPr id="28" name="Rectangle 28"/>
            <p:cNvSpPr/>
            <p:nvPr/>
          </p:nvSpPr>
          <p:spPr>
            <a:xfrm>
              <a:off x="4476750" y="163830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2E7D3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50409" y="17264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evaluation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02329" y="1930241"/>
              <a:ext cx="15873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读回答生成报告与候选人反馈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381250" y="2495550"/>
            <a:ext cx="3238500" cy="476250"/>
            <a:chOff x="2381250" y="2495550"/>
            <a:chExt cx="3238500" cy="476250"/>
          </a:xfrm>
        </p:grpSpPr>
        <p:sp>
          <p:nvSpPr>
            <p:cNvPr id="32" name="Rectangle 32"/>
            <p:cNvSpPr/>
            <p:nvPr/>
          </p:nvSpPr>
          <p:spPr>
            <a:xfrm>
              <a:off x="2381250" y="249555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85100" y="2583656"/>
              <a:ext cx="830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88756" y="2787491"/>
              <a:ext cx="16234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出题组装 · 作答邀请 · 状态机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572250" y="2495550"/>
            <a:ext cx="3238500" cy="476250"/>
            <a:chOff x="6572250" y="2495550"/>
            <a:chExt cx="3238500" cy="476250"/>
          </a:xfrm>
        </p:grpSpPr>
        <p:sp>
          <p:nvSpPr>
            <p:cNvPr id="36" name="Rectangle 36"/>
            <p:cNvSpPr/>
            <p:nvPr/>
          </p:nvSpPr>
          <p:spPr>
            <a:xfrm>
              <a:off x="6572250" y="249555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00897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19230" y="2583656"/>
              <a:ext cx="744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practice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0493" y="2787491"/>
              <a:ext cx="12620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刷题会话 · 判分 · 推荐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3352800"/>
            <a:ext cx="10972800" cy="476250"/>
            <a:chOff x="609600" y="3352800"/>
            <a:chExt cx="10972800" cy="476250"/>
          </a:xfrm>
        </p:grpSpPr>
        <p:sp>
          <p:nvSpPr>
            <p:cNvPr id="40" name="Rectangle 40"/>
            <p:cNvSpPr/>
            <p:nvPr/>
          </p:nvSpPr>
          <p:spPr>
            <a:xfrm>
              <a:off x="609600" y="335280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878145" y="3440906"/>
              <a:ext cx="7014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position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52064" y="3644741"/>
              <a:ext cx="11535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岗位 · JD · 评估维度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476750" y="335280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23730" y="3440906"/>
              <a:ext cx="744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question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22821" y="3644741"/>
              <a:ext cx="13463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题库（两条业务线共用）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343900" y="335280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F57C0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646950" y="3440906"/>
              <a:ext cx="632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resume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29725" y="364474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候选人单侧写入，只被依赖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" y="4210050"/>
            <a:ext cx="10985182" cy="459581"/>
            <a:chOff x="609600" y="4210050"/>
            <a:chExt cx="10985182" cy="459581"/>
          </a:xfrm>
        </p:grpSpPr>
        <p:sp>
          <p:nvSpPr>
            <p:cNvPr id="50" name="Rectangle 50"/>
            <p:cNvSpPr/>
            <p:nvPr/>
          </p:nvSpPr>
          <p:spPr>
            <a:xfrm>
              <a:off x="609600" y="4210050"/>
              <a:ext cx="10972800" cy="457200"/>
            </a:xfrm>
            <a:prstGeom prst="roundRect">
              <a:avLst>
                <a:gd name="adj" fmla="val 12500"/>
              </a:avLst>
            </a:prstGeom>
            <a:solidFill>
              <a:srgbClr val="1565C0">
                <a:alpha val="8000"/>
              </a:srgbClr>
            </a:solidFill>
            <a:ln w="9525">
              <a:solidFill>
                <a:srgbClr val="1565C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3912" y="4298156"/>
              <a:ext cx="4081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auth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7722" y="4501991"/>
              <a:ext cx="10210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账号 · 角色 · 令牌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06840" y="4409599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所有业务模块均依赖它做</a:t>
              </a:r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鉴权与数据隔离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" y="5048250"/>
            <a:ext cx="10972800" cy="514350"/>
            <a:chOff x="609600" y="5048250"/>
            <a:chExt cx="10972800" cy="514350"/>
          </a:xfrm>
        </p:grpSpPr>
        <p:sp>
          <p:nvSpPr>
            <p:cNvPr id="55" name="Rectangle 55"/>
            <p:cNvSpPr/>
            <p:nvPr/>
          </p:nvSpPr>
          <p:spPr>
            <a:xfrm>
              <a:off x="609600" y="5048250"/>
              <a:ext cx="5334000" cy="514350"/>
            </a:xfrm>
            <a:prstGeom prst="roundRect">
              <a:avLst>
                <a:gd name="adj" fmla="val 11111"/>
              </a:avLst>
            </a:prstGeom>
            <a:solidFill>
              <a:srgbClr val="F2F6FA"/>
            </a:solidFill>
            <a:ln w="9525">
              <a:solidFill>
                <a:srgbClr val="DCE5EE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24865" y="514445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core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7722" y="5359241"/>
              <a:ext cx="32922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配置 · 数据库会话 · 依赖注入 · 错误体系 —— 所有模块依赖它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5048250"/>
              <a:ext cx="5334000" cy="514350"/>
            </a:xfrm>
            <a:prstGeom prst="roundRect">
              <a:avLst>
                <a:gd name="adj" fmla="val 11111"/>
              </a:avLst>
            </a:prstGeom>
            <a:solidFill>
              <a:srgbClr val="F2F6FA"/>
            </a:solidFill>
            <a:ln w="9525">
              <a:solidFill>
                <a:srgbClr val="DCE5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63665" y="514445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ai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66522" y="5359241"/>
              <a:ext cx="37320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被 interview（出题）· evaluation（评分）· practice（判分）调用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9600" y="5770245"/>
            <a:ext cx="9190672" cy="182880"/>
            <a:chOff x="609600" y="5770245"/>
            <a:chExt cx="9190672" cy="182880"/>
          </a:xfrm>
        </p:grpSpPr>
        <p:sp>
          <p:nvSpPr>
            <p:cNvPr id="62" name="Line 62"/>
            <p:cNvSpPr/>
            <p:nvPr/>
          </p:nvSpPr>
          <p:spPr>
            <a:xfrm>
              <a:off x="609600" y="5829300"/>
              <a:ext cx="2857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98220" y="57702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实线：允许的依赖，依赖方向向下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4000500" y="5829300"/>
              <a:ext cx="285750" cy="1"/>
            </a:xfrm>
            <a:prstGeom prst="line">
              <a:avLst/>
            </a:prstGeom>
            <a:noFill/>
            <a:ln w="19050">
              <a:solidFill>
                <a:srgbClr val="C62828"/>
              </a:solidFill>
              <a:custDash>
                <a:ds d="350000" sp="200000"/>
              </a:custDash>
              <a:tailEnd type="triangle" w="med" len="med"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389120" y="5770245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红线：被架构测试禁止的反向边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08570" y="5770245"/>
              <a:ext cx="21917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core / ai 的依赖关系以框内文字标注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7" grpId="0"/>
      <p:bldP spid="31" grpId="0"/>
      <p:bldP spid="35" grpId="0"/>
      <p:bldP spid="39" grpId="0"/>
      <p:bldP spid="49" grpId="0"/>
      <p:bldP spid="54" grpId="0"/>
      <p:bldP spid="61" grpId="0"/>
      <p:bldP spid="6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490076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数据模型：15 张表与快照设计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4314" y="667702"/>
              <a:ext cx="701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03 技术栈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P17 / 35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1409700"/>
            <a:ext cx="7581900" cy="4619625"/>
            <a:chOff x="609600" y="1409700"/>
            <a:chExt cx="7581900" cy="4619625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7581900" cy="3238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8670" y="152209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所属模块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41170" y="15220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表名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69920" y="152209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关键字段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17335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19050">
              <a:solidFill>
                <a:srgbClr val="DCE5EE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562100" y="140970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990850" y="140970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" y="601980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19050">
              <a:solidFill>
                <a:srgbClr val="DCE5EE"/>
              </a:solidFill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609600" y="1922145"/>
            <a:ext cx="7581900" cy="4176236"/>
            <a:chOff x="609600" y="1922145"/>
            <a:chExt cx="7581900" cy="4176236"/>
          </a:xfrm>
        </p:grpSpPr>
        <p:sp>
          <p:nvSpPr>
            <p:cNvPr id="20" name="TextBox 20"/>
            <p:cNvSpPr txBox="1"/>
            <p:nvPr/>
          </p:nvSpPr>
          <p:spPr>
            <a:xfrm>
              <a:off x="789622" y="1930241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auth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41170" y="1922145"/>
              <a:ext cx="312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user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70872" y="1930241"/>
              <a:ext cx="26476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username · password_hash · role · is_active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21145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9622" y="22159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position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41170" y="220789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position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70872" y="2215991"/>
              <a:ext cx="24428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name · jd · evaluation_dimensions (JSON)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240030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9622" y="25017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question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41170" y="249364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question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70872" y="2501741"/>
              <a:ext cx="28344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content · dimension · difficulty · source · tags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26860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9622" y="2787491"/>
              <a:ext cx="4426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resume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41170" y="2779395"/>
              <a:ext cx="482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resume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70872" y="2787491"/>
              <a:ext cx="24006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owner_id · title · content（不存原文件）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297180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9622" y="3073241"/>
              <a:ext cx="5812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41170" y="3065145"/>
              <a:ext cx="6340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70872" y="3073241"/>
              <a:ext cx="30573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position_id · candidate_name · status · created_by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09600" y="32575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9622" y="3358991"/>
              <a:ext cx="5812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41170" y="3350895"/>
              <a:ext cx="1313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interview_question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70872" y="3358991"/>
              <a:ext cx="3846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 xml:space="preserve">seq · </a:t>
              </a:r>
              <a:r>
                <a:rPr lang="zh-CN" sz="82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content_snapshot</a:t>
              </a:r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 xml:space="preserve"> · </a:t>
              </a:r>
              <a:r>
                <a:rPr lang="zh-CN" sz="82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dimension_snapshot</a:t>
              </a:r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 xml:space="preserve"> · </a:t>
              </a:r>
              <a:r>
                <a:rPr lang="zh-CN" sz="82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source_snapshot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09600" y="354330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9622" y="3644741"/>
              <a:ext cx="5812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41170" y="3636645"/>
              <a:ext cx="482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answer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170872" y="3644741"/>
              <a:ext cx="37381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interview_question_id · content · answered_at · submitted_at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09600" y="38290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9622" y="3930491"/>
              <a:ext cx="5812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741170" y="3922395"/>
              <a:ext cx="13307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interview_invitation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170872" y="3930491"/>
              <a:ext cx="36658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code · status · expires_at · accepted_at · candidate_user_id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09600" y="411480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9622" y="4216241"/>
              <a:ext cx="5812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741170" y="4208145"/>
              <a:ext cx="9955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interview_prep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170872" y="4216241"/>
              <a:ext cx="228619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interview_id · content · generated_at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609600" y="44005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9622" y="45019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evaluation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741170" y="4493895"/>
              <a:ext cx="10021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question_score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170872" y="4501991"/>
              <a:ext cx="24368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interview_question_id · score · comment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09600" y="468630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9622" y="478774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evaluation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741170" y="4779645"/>
              <a:ext cx="10678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dimension_score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170872" y="4787741"/>
              <a:ext cx="17018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dimension · score · comment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609600" y="49720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89622" y="50734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evaluation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741170" y="506539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report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170872" y="5073491"/>
              <a:ext cx="31236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overall_score · conclusion · strengths · weaknesses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609600" y="525780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89622" y="535924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evaluation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741170" y="5351145"/>
              <a:ext cx="13547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candidate_feedback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170872" y="5359241"/>
              <a:ext cx="31236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conclusion · strengths · weaknesses · overall_score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609600" y="55435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89622" y="564499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practice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741170" y="5636895"/>
              <a:ext cx="1113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practice_session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170872" y="5644991"/>
              <a:ext cx="25211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user_id · resume_id · status · started_at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609600" y="582930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89622" y="59307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practice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741170" y="586549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practice_item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170872" y="5873591"/>
              <a:ext cx="24910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question_id · answer · score · is_correct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420100" y="1409700"/>
            <a:ext cx="3162300" cy="1905000"/>
            <a:chOff x="8420100" y="1409700"/>
            <a:chExt cx="3162300" cy="1905000"/>
          </a:xfrm>
        </p:grpSpPr>
        <p:sp>
          <p:nvSpPr>
            <p:cNvPr id="80" name="Rectangle 80"/>
            <p:cNvSpPr/>
            <p:nvPr/>
          </p:nvSpPr>
          <p:spPr>
            <a:xfrm>
              <a:off x="8420100" y="1409700"/>
              <a:ext cx="3162300" cy="1905000"/>
            </a:xfrm>
            <a:prstGeom prst="roundRect">
              <a:avLst>
                <a:gd name="adj" fmla="val 4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597265" y="15630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五个快照字段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600122" y="1787366"/>
              <a:ext cx="17078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题库删改不影响历史记录的前提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8610600" y="2000250"/>
              <a:ext cx="278130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695372" y="2054066"/>
              <a:ext cx="10812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content_snapshot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610600" y="2247900"/>
              <a:ext cx="278130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695372" y="2301716"/>
              <a:ext cx="11776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dimension_snapshot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8610600" y="2495550"/>
              <a:ext cx="278130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695372" y="2549366"/>
              <a:ext cx="10150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source_snapshot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610600" y="2743200"/>
              <a:ext cx="278130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695372" y="2797016"/>
              <a:ext cx="10511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options_snapshot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8610600" y="2990850"/>
              <a:ext cx="278130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695372" y="3044666"/>
              <a:ext cx="17018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reference_answer_snapshot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8420100" y="3467100"/>
            <a:ext cx="3162300" cy="1524000"/>
            <a:chOff x="8420100" y="3467100"/>
            <a:chExt cx="3162300" cy="1524000"/>
          </a:xfrm>
        </p:grpSpPr>
        <p:sp>
          <p:nvSpPr>
            <p:cNvPr id="94" name="Rectangle 94"/>
            <p:cNvSpPr/>
            <p:nvPr/>
          </p:nvSpPr>
          <p:spPr>
            <a:xfrm>
              <a:off x="8420100" y="3467100"/>
              <a:ext cx="316230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597265" y="36204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为什么独立成表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599170" y="3884295"/>
              <a:ext cx="18565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candidate_feedback 没有做成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599170" y="4093845"/>
              <a:ext cx="17710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report 的几个列 —— 两份文本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599170" y="4303395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受众不同（一个含去留判断），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599170" y="4512945"/>
              <a:ext cx="22574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独立成表让</a:t>
              </a:r>
              <a:r>
                <a:rPr lang="zh-CN" sz="9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可见性边界落在表这一层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：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599170" y="4722495"/>
              <a:ext cx="17842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报告接口结构上读不到它。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420100" y="5143500"/>
            <a:ext cx="3162300" cy="876300"/>
            <a:chOff x="8420100" y="5143500"/>
            <a:chExt cx="3162300" cy="876300"/>
          </a:xfrm>
        </p:grpSpPr>
        <p:sp>
          <p:nvSpPr>
            <p:cNvPr id="102" name="Rectangle 102"/>
            <p:cNvSpPr/>
            <p:nvPr/>
          </p:nvSpPr>
          <p:spPr>
            <a:xfrm>
              <a:off x="8420100" y="5143500"/>
              <a:ext cx="31623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597265" y="52778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两处刻意缺失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599170" y="5541645"/>
              <a:ext cx="21917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不设 </a:t>
              </a:r>
              <a:r>
                <a:rPr lang="zh-CN" sz="9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updated_at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重评即整行重建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599170" y="577024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不存总分 —— 改档位不必重新生成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93" grpId="0"/>
      <p:bldP spid="101" grpId="0"/>
      <p:bldP spid="10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工程规模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4314" y="667702"/>
              <a:ext cx="701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03 技术栈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P18 / 35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1447800"/>
            <a:ext cx="2571750" cy="2476500"/>
            <a:chOff x="609600" y="1447800"/>
            <a:chExt cx="2571750" cy="24765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47800"/>
              <a:ext cx="2571750" cy="24765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8200" y="169545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48962" y="1809750"/>
              <a:ext cx="234793" cy="232157"/>
              <a:chOff x="948962" y="1809750"/>
              <a:chExt cx="234793" cy="23215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48962" y="1822450"/>
                <a:ext cx="219438" cy="219457"/>
              </a:xfrm>
              <a:custGeom>
                <a:avLst/>
                <a:gdLst/>
                <a:ahLst/>
                <a:cxnLst/>
                <a:rect l="l" t="t" r="r" b="b"/>
                <a:pathLst>
                  <a:path w="219438" h="219457">
                    <a:moveTo>
                      <a:pt x="219438" y="51308"/>
                    </a:moveTo>
                    <a:lnTo>
                      <a:pt x="65489" y="205283"/>
                    </a:lnTo>
                    <a:cubicBezTo>
                      <a:pt x="51321" y="219455"/>
                      <a:pt x="28346" y="219457"/>
                      <a:pt x="14175" y="205289"/>
                    </a:cubicBezTo>
                    <a:cubicBezTo>
                      <a:pt x="3" y="191121"/>
                      <a:pt x="0" y="168147"/>
                      <a:pt x="14168" y="153975"/>
                    </a:cubicBezTo>
                    <a:lnTo>
                      <a:pt x="168118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03300" y="193675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27644" y="1962150"/>
                <a:ext cx="56111" cy="64877"/>
              </a:xfrm>
              <a:custGeom>
                <a:avLst/>
                <a:gdLst/>
                <a:ahLst/>
                <a:cxnLst/>
                <a:rect l="l" t="t" r="r" b="b"/>
                <a:pathLst>
                  <a:path w="56111" h="64877">
                    <a:moveTo>
                      <a:pt x="28056" y="0"/>
                    </a:moveTo>
                    <a:lnTo>
                      <a:pt x="47106" y="20320"/>
                    </a:lnTo>
                    <a:cubicBezTo>
                      <a:pt x="56111" y="30532"/>
                      <a:pt x="55464" y="46028"/>
                      <a:pt x="45637" y="55452"/>
                    </a:cubicBezTo>
                    <a:cubicBezTo>
                      <a:pt x="35811" y="64877"/>
                      <a:pt x="20301" y="64877"/>
                      <a:pt x="10474" y="55452"/>
                    </a:cubicBezTo>
                    <a:cubicBezTo>
                      <a:pt x="648" y="46028"/>
                      <a:pt x="0" y="30532"/>
                      <a:pt x="9006" y="20320"/>
                    </a:cubicBezTo>
                    <a:lnTo>
                      <a:pt x="28056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04900" y="18097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823912" y="239315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后端测试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4860" y="2766060"/>
              <a:ext cx="1362637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1034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4865" y="3372802"/>
              <a:ext cx="8624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项 · pytest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6770" y="3655695"/>
              <a:ext cx="1357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全部走 Mock Provider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409950" y="1447800"/>
            <a:ext cx="2571750" cy="2476500"/>
            <a:chOff x="3409950" y="1447800"/>
            <a:chExt cx="2571750" cy="2476500"/>
          </a:xfrm>
        </p:grpSpPr>
        <p:sp>
          <p:nvSpPr>
            <p:cNvPr id="23" name="Rectangle 23"/>
            <p:cNvSpPr/>
            <p:nvPr/>
          </p:nvSpPr>
          <p:spPr>
            <a:xfrm>
              <a:off x="3409950" y="1447800"/>
              <a:ext cx="2571750" cy="24765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38550" y="169545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3752850" y="1809750"/>
              <a:ext cx="228600" cy="228600"/>
              <a:chOff x="3752850" y="1809750"/>
              <a:chExt cx="228600" cy="2286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3752850" y="19875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930650" y="18097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778250" y="183515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3624262" y="239315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接口规模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85210" y="2766060"/>
              <a:ext cx="81516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43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25215" y="33728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条路径 / 62 个 method-route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27120" y="3655695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取自 openapi.json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10300" y="1447800"/>
            <a:ext cx="2571750" cy="2476500"/>
            <a:chOff x="6210300" y="1447800"/>
            <a:chExt cx="2571750" cy="2476500"/>
          </a:xfrm>
        </p:grpSpPr>
        <p:sp>
          <p:nvSpPr>
            <p:cNvPr id="34" name="Rectangle 34"/>
            <p:cNvSpPr/>
            <p:nvPr/>
          </p:nvSpPr>
          <p:spPr>
            <a:xfrm>
              <a:off x="6210300" y="1447800"/>
              <a:ext cx="2571750" cy="24765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38900" y="169545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rgbClr val="F57C00">
                <a:alpha val="10000"/>
              </a:srgb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565900" y="1809750"/>
              <a:ext cx="203200" cy="228600"/>
              <a:chOff x="6565900" y="1809750"/>
              <a:chExt cx="203200" cy="228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565900" y="180975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65900" y="18478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65900" y="19240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424612" y="23931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数据与模块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85560" y="2766060"/>
              <a:ext cx="654148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5565" y="3372802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张表 / 8 个 package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7470" y="3655695"/>
              <a:ext cx="15673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单一 MySQL 库，无中间件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010650" y="1447800"/>
            <a:ext cx="2571750" cy="2476500"/>
            <a:chOff x="9010650" y="1447800"/>
            <a:chExt cx="2571750" cy="2476500"/>
          </a:xfrm>
        </p:grpSpPr>
        <p:sp>
          <p:nvSpPr>
            <p:cNvPr id="45" name="Rectangle 45"/>
            <p:cNvSpPr/>
            <p:nvPr/>
          </p:nvSpPr>
          <p:spPr>
            <a:xfrm>
              <a:off x="9010650" y="1447800"/>
              <a:ext cx="2571750" cy="24765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4288">
              <a:solidFill>
                <a:srgbClr val="2E7D32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239250" y="169545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rgbClr val="2E7D32">
                <a:alpha val="10000"/>
              </a:srgbClr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9378950" y="1822450"/>
              <a:ext cx="190500" cy="215900"/>
              <a:chOff x="9378950" y="1822450"/>
              <a:chExt cx="190500" cy="2159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378950" y="1822450"/>
                <a:ext cx="1524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200">
                    <a:moveTo>
                      <a:pt x="58611" y="203200"/>
                    </a:moveTo>
                    <a:lnTo>
                      <a:pt x="25400" y="203200"/>
                    </a:lnTo>
                    <a:cubicBezTo>
                      <a:pt x="11372" y="203200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493250" y="19875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429750" y="18732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429750" y="19240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9224962" y="23931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端到端冒烟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85910" y="2766060"/>
              <a:ext cx="100839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128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25915" y="337280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项断言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27820" y="365569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对真实运行中的服务走全链路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9600" y="4152900"/>
            <a:ext cx="10972800" cy="1181100"/>
            <a:chOff x="609600" y="4152900"/>
            <a:chExt cx="10972800" cy="1181100"/>
          </a:xfrm>
        </p:grpSpPr>
        <p:sp>
          <p:nvSpPr>
            <p:cNvPr id="57" name="Rectangle 57"/>
            <p:cNvSpPr/>
            <p:nvPr/>
          </p:nvSpPr>
          <p:spPr>
            <a:xfrm>
              <a:off x="609600" y="4152900"/>
              <a:ext cx="3505200" cy="1181100"/>
            </a:xfrm>
            <a:prstGeom prst="roundRect">
              <a:avLst>
                <a:gd name="adj" fmla="val 6452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7718" y="43714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前端单测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7240" y="4625340"/>
              <a:ext cx="163291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25 项 </a:t>
              </a:r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Vitest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8670" y="50082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纯函数与状态推导的单元覆盖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343400" y="4152900"/>
              <a:ext cx="3505200" cy="1181100"/>
            </a:xfrm>
            <a:prstGeom prst="roundRect">
              <a:avLst>
                <a:gd name="adj" fmla="val 6452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521518" y="43714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浏览器端联调台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11040" y="4625340"/>
              <a:ext cx="16605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8 个 </a:t>
              </a:r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Mock 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22470" y="5008245"/>
              <a:ext cx="17053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合计 700+ 断言，不依赖后端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077200" y="4152900"/>
              <a:ext cx="3505200" cy="1181100"/>
            </a:xfrm>
            <a:prstGeom prst="roundRect">
              <a:avLst>
                <a:gd name="adj" fmla="val 6452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55318" y="43714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变异检查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44840" y="4625340"/>
              <a:ext cx="24472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33 次 </a:t>
              </a:r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把缺陷植回去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56270" y="5008245"/>
              <a:ext cx="18762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抓出 5 个真 bug + 6 处契约偏差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09600" y="5486400"/>
            <a:ext cx="10972800" cy="457200"/>
            <a:chOff x="609600" y="5486400"/>
            <a:chExt cx="10972800" cy="457200"/>
          </a:xfrm>
        </p:grpSpPr>
        <p:sp>
          <p:nvSpPr>
            <p:cNvPr id="70" name="Rectangle 70"/>
            <p:cNvSpPr/>
            <p:nvPr/>
          </p:nvSpPr>
          <p:spPr>
            <a:xfrm>
              <a:off x="609600" y="548640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894418" y="5629275"/>
              <a:ext cx="116163" cy="171450"/>
              <a:chOff x="894418" y="5629275"/>
              <a:chExt cx="116163" cy="17145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923925" y="56292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33450" y="568642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94418" y="5629275"/>
                <a:ext cx="1161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6163" h="171450">
                    <a:moveTo>
                      <a:pt x="39032" y="0"/>
                    </a:moveTo>
                    <a:lnTo>
                      <a:pt x="39032" y="57150"/>
                    </a:lnTo>
                    <a:lnTo>
                      <a:pt x="932" y="161925"/>
                    </a:lnTo>
                    <a:cubicBezTo>
                      <a:pt x="0" y="163799"/>
                      <a:pt x="3" y="166002"/>
                      <a:pt x="939" y="167875"/>
                    </a:cubicBezTo>
                    <a:cubicBezTo>
                      <a:pt x="1875" y="169747"/>
                      <a:pt x="3636" y="171071"/>
                      <a:pt x="5694" y="171450"/>
                    </a:cubicBezTo>
                    <a:lnTo>
                      <a:pt x="110469" y="171450"/>
                    </a:lnTo>
                    <a:cubicBezTo>
                      <a:pt x="112528" y="171071"/>
                      <a:pt x="114289" y="169747"/>
                      <a:pt x="115225" y="167875"/>
                    </a:cubicBezTo>
                    <a:cubicBezTo>
                      <a:pt x="116161" y="166002"/>
                      <a:pt x="116163" y="163799"/>
                      <a:pt x="115232" y="161925"/>
                    </a:cubicBezTo>
                    <a:lnTo>
                      <a:pt x="77132" y="57150"/>
                    </a:lnTo>
                    <a:lnTo>
                      <a:pt x="77132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165860" y="5642610"/>
              <a:ext cx="53496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整套测试</a:t>
              </a:r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不需要网络、不需要任何 API Key</a:t>
              </a:r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检出代码即可完整跑通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3" grpId="0"/>
      <p:bldP spid="44" grpId="0"/>
      <p:bldP spid="56" grpId="0"/>
      <p:bldP spid="69" grpId="0"/>
      <p:bldP spid="7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E52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F57C00">
              <a:alpha val="85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95325" y="1452562"/>
            <a:ext cx="2183487" cy="2286000"/>
            <a:chOff x="695325" y="1452562"/>
            <a:chExt cx="2183487" cy="2286000"/>
          </a:xfrm>
        </p:grpSpPr>
        <p:sp>
          <p:nvSpPr>
            <p:cNvPr id="4" name="TextBox 4"/>
            <p:cNvSpPr txBox="1"/>
            <p:nvPr/>
          </p:nvSpPr>
          <p:spPr>
            <a:xfrm>
              <a:off x="695325" y="1452562"/>
              <a:ext cx="2183487" cy="2286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b="1" dirty="0">
                  <a:solidFill>
                    <a:srgbClr val="EAF2FB">
                      <a:alphaMod val="14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38200" y="3009900"/>
              <a:ext cx="533400" cy="47625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96290" y="3263265"/>
            <a:ext cx="4820650" cy="903923"/>
            <a:chOff x="796290" y="3263265"/>
            <a:chExt cx="4820650" cy="903923"/>
          </a:xfrm>
        </p:grpSpPr>
        <p:sp>
          <p:nvSpPr>
            <p:cNvPr id="7" name="TextBox 7"/>
            <p:cNvSpPr txBox="1"/>
            <p:nvPr/>
          </p:nvSpPr>
          <p:spPr>
            <a:xfrm>
              <a:off x="796290" y="3263265"/>
              <a:ext cx="413232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核心模块技术讲解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1055" y="3892868"/>
              <a:ext cx="47958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六个模块 × 固定三段式 —— 实现 → 序列图 → 问题与解决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5818" y="4400550"/>
            <a:ext cx="10768964" cy="340519"/>
            <a:chOff x="825818" y="4400550"/>
            <a:chExt cx="10768964" cy="340519"/>
          </a:xfrm>
        </p:grpSpPr>
        <p:sp>
          <p:nvSpPr>
            <p:cNvPr id="10" name="Line 10"/>
            <p:cNvSpPr/>
            <p:nvPr/>
          </p:nvSpPr>
          <p:spPr>
            <a:xfrm>
              <a:off x="838200" y="440055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9525">
              <a:solidFill>
                <a:srgbClr val="EAF2FB">
                  <a:alpha val="18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5818" y="45429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讲解顺序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55335" y="4542949"/>
              <a:ext cx="43394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每个模块都给源码级要点 + 对象交互序列图 + 一个真实问题及其解法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38200" y="4800600"/>
            <a:ext cx="1657350" cy="857250"/>
            <a:chOff x="838200" y="4800600"/>
            <a:chExt cx="1657350" cy="857250"/>
          </a:xfrm>
        </p:grpSpPr>
        <p:sp>
          <p:nvSpPr>
            <p:cNvPr id="14" name="Rectangle 14"/>
            <p:cNvSpPr/>
            <p:nvPr/>
          </p:nvSpPr>
          <p:spPr>
            <a:xfrm>
              <a:off x="838200" y="4800600"/>
              <a:ext cx="1657350" cy="857250"/>
            </a:xfrm>
            <a:prstGeom prst="roundRect">
              <a:avLst>
                <a:gd name="adj" fmla="val 6667"/>
              </a:avLst>
            </a:prstGeom>
            <a:solidFill>
              <a:srgbClr val="EAF2FB">
                <a:alpha val="8000"/>
              </a:srgbClr>
            </a:solidFill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52500" y="4933950"/>
              <a:ext cx="190500" cy="19050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18295" y="4978241"/>
              <a:ext cx="589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05865" y="4963478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218" y="5247799"/>
              <a:ext cx="9432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Provider 抽象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0122" y="54544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十能力契约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47950" y="4800600"/>
            <a:ext cx="1657350" cy="857250"/>
            <a:chOff x="2647950" y="4800600"/>
            <a:chExt cx="1657350" cy="857250"/>
          </a:xfrm>
        </p:grpSpPr>
        <p:sp>
          <p:nvSpPr>
            <p:cNvPr id="21" name="Rectangle 21"/>
            <p:cNvSpPr/>
            <p:nvPr/>
          </p:nvSpPr>
          <p:spPr>
            <a:xfrm>
              <a:off x="2647950" y="4800600"/>
              <a:ext cx="1657350" cy="857250"/>
            </a:xfrm>
            <a:prstGeom prst="roundRect">
              <a:avLst>
                <a:gd name="adj" fmla="val 6667"/>
              </a:avLst>
            </a:prstGeom>
            <a:solidFill>
              <a:srgbClr val="EAF2FB">
                <a:alpha val="8000"/>
              </a:srgbClr>
            </a:solidFill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762250" y="4933950"/>
              <a:ext cx="190500" cy="19050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12231" y="497824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15615" y="4963478"/>
              <a:ext cx="7754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87968" y="52477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出题组装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89872" y="54544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确定性抽取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457700" y="4800600"/>
            <a:ext cx="1657350" cy="857250"/>
            <a:chOff x="4457700" y="4800600"/>
            <a:chExt cx="1657350" cy="857250"/>
          </a:xfrm>
        </p:grpSpPr>
        <p:sp>
          <p:nvSpPr>
            <p:cNvPr id="28" name="Rectangle 28"/>
            <p:cNvSpPr/>
            <p:nvPr/>
          </p:nvSpPr>
          <p:spPr>
            <a:xfrm>
              <a:off x="4457700" y="4800600"/>
              <a:ext cx="1657350" cy="857250"/>
            </a:xfrm>
            <a:prstGeom prst="roundRect">
              <a:avLst>
                <a:gd name="adj" fmla="val 6667"/>
              </a:avLst>
            </a:prstGeom>
            <a:solidFill>
              <a:srgbClr val="EAF2FB">
                <a:alpha val="8000"/>
              </a:srgbClr>
            </a:solidFill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572000" y="4933950"/>
              <a:ext cx="190500" cy="19050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21981" y="497824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25365" y="496347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evaluation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97718" y="52477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流式评估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99622" y="5454491"/>
              <a:ext cx="7198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三阶段 + SSE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67450" y="4800600"/>
            <a:ext cx="1657350" cy="857250"/>
            <a:chOff x="6267450" y="4800600"/>
            <a:chExt cx="1657350" cy="857250"/>
          </a:xfrm>
        </p:grpSpPr>
        <p:sp>
          <p:nvSpPr>
            <p:cNvPr id="35" name="Rectangle 35"/>
            <p:cNvSpPr/>
            <p:nvPr/>
          </p:nvSpPr>
          <p:spPr>
            <a:xfrm>
              <a:off x="6267450" y="4800600"/>
              <a:ext cx="1657350" cy="857250"/>
            </a:xfrm>
            <a:prstGeom prst="roundRect">
              <a:avLst>
                <a:gd name="adj" fmla="val 6667"/>
              </a:avLst>
            </a:prstGeom>
            <a:solidFill>
              <a:srgbClr val="EAF2FB">
                <a:alpha val="8000"/>
              </a:srgbClr>
            </a:solidFill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381750" y="4933950"/>
              <a:ext cx="190500" cy="19050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31731" y="497824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35115" y="4963478"/>
              <a:ext cx="7754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07468" y="52477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作答邀请并发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09372" y="54544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面试行锁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077200" y="4800600"/>
            <a:ext cx="1657350" cy="857250"/>
            <a:chOff x="8077200" y="4800600"/>
            <a:chExt cx="1657350" cy="857250"/>
          </a:xfrm>
        </p:grpSpPr>
        <p:sp>
          <p:nvSpPr>
            <p:cNvPr id="42" name="Rectangle 42"/>
            <p:cNvSpPr/>
            <p:nvPr/>
          </p:nvSpPr>
          <p:spPr>
            <a:xfrm>
              <a:off x="8077200" y="4800600"/>
              <a:ext cx="1657350" cy="857250"/>
            </a:xfrm>
            <a:prstGeom prst="roundRect">
              <a:avLst>
                <a:gd name="adj" fmla="val 6667"/>
              </a:avLst>
            </a:prstGeom>
            <a:solidFill>
              <a:srgbClr val="EAF2FB">
                <a:alpha val="8000"/>
              </a:srgbClr>
            </a:solidFill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8191500" y="4933950"/>
              <a:ext cx="190500" cy="19050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41481" y="497824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4865" y="4963478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resume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17218" y="52477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上传解析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19122" y="5454491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不落库不落盘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886950" y="4800600"/>
            <a:ext cx="1657350" cy="857250"/>
            <a:chOff x="9886950" y="4800600"/>
            <a:chExt cx="1657350" cy="857250"/>
          </a:xfrm>
        </p:grpSpPr>
        <p:sp>
          <p:nvSpPr>
            <p:cNvPr id="49" name="Rectangle 49"/>
            <p:cNvSpPr/>
            <p:nvPr/>
          </p:nvSpPr>
          <p:spPr>
            <a:xfrm>
              <a:off x="9886950" y="4800600"/>
              <a:ext cx="1657350" cy="857250"/>
            </a:xfrm>
            <a:prstGeom prst="roundRect">
              <a:avLst>
                <a:gd name="adj" fmla="val 6667"/>
              </a:avLst>
            </a:prstGeom>
            <a:solidFill>
              <a:srgbClr val="EAF2FB">
                <a:alpha val="8000"/>
              </a:srgbClr>
            </a:solidFill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0001250" y="4933950"/>
              <a:ext cx="190500" cy="19050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051231" y="497824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54615" y="4963478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auth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26968" y="52477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权限守卫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28872" y="5454491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角色精确匹配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27722" y="6178391"/>
            <a:ext cx="10765155" cy="167640"/>
            <a:chOff x="827722" y="6178391"/>
            <a:chExt cx="10765155" cy="167640"/>
          </a:xfrm>
        </p:grpSpPr>
        <p:sp>
          <p:nvSpPr>
            <p:cNvPr id="56" name="TextBox 56"/>
            <p:cNvSpPr txBox="1"/>
            <p:nvPr/>
          </p:nvSpPr>
          <p:spPr>
            <a:xfrm>
              <a:off x="8277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P19 / 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  <p:bldP spid="20" grpId="0"/>
      <p:bldP spid="27" grpId="0"/>
      <p:bldP spid="34" grpId="0"/>
      <p:bldP spid="41" grpId="0"/>
      <p:bldP spid="48" grpId="0"/>
      <p:bldP spid="5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637294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模块① ai：Provider 抽象与十能力契约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P20 / 35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1409700"/>
            <a:ext cx="5867400" cy="2919412"/>
            <a:chOff x="609600" y="1409700"/>
            <a:chExt cx="5867400" cy="2919412"/>
          </a:xfrm>
        </p:grpSpPr>
        <p:sp>
          <p:nvSpPr>
            <p:cNvPr id="11" name="Rectangle 11"/>
            <p:cNvSpPr/>
            <p:nvPr/>
          </p:nvSpPr>
          <p:spPr>
            <a:xfrm>
              <a:off x="609600" y="1733550"/>
              <a:ext cx="5867400" cy="25336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" y="1409700"/>
              <a:ext cx="5867400" cy="323850"/>
            </a:xfrm>
            <a:custGeom>
              <a:avLst/>
              <a:gdLst/>
              <a:ahLst/>
              <a:cxnLst/>
              <a:rect l="l" t="t" r="r" b="b"/>
              <a:pathLst>
                <a:path w="5867400" h="323850">
                  <a:moveTo>
                    <a:pt x="76200" y="0"/>
                  </a:moveTo>
                  <a:lnTo>
                    <a:pt x="5791200" y="0"/>
                  </a:lnTo>
                  <a:cubicBezTo>
                    <a:pt x="5833284" y="0"/>
                    <a:pt x="5867400" y="34116"/>
                    <a:pt x="5867400" y="76200"/>
                  </a:cubicBezTo>
                  <a:lnTo>
                    <a:pt x="5867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3EDF9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85812" y="1517650"/>
              <a:ext cx="127001" cy="127000"/>
              <a:chOff x="785812" y="1517650"/>
              <a:chExt cx="127001" cy="127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85812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15875" y="0"/>
                    </a:moveTo>
                    <a:lnTo>
                      <a:pt x="0" y="15875"/>
                    </a:lnTo>
                    <a:lnTo>
                      <a:pt x="15875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7250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0" y="0"/>
                    </a:moveTo>
                    <a:lnTo>
                      <a:pt x="15875" y="15875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5500" y="15176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1688" y="15335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95250" y="0"/>
                    </a:move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95250"/>
                    </a:lnTo>
                    <a:cubicBezTo>
                      <a:pt x="111125" y="104018"/>
                      <a:pt x="104018" y="111125"/>
                      <a:pt x="9525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8"/>
                      <a:pt x="0" y="95250"/>
                    </a:cubicBez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7270" y="1531620"/>
              <a:ext cx="2125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backend/app/ai/base.py:227-401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1409700"/>
              <a:ext cx="5867400" cy="2857500"/>
            </a:xfrm>
            <a:prstGeom prst="roundRect">
              <a:avLst>
                <a:gd name="adj" fmla="val 2667"/>
              </a:avLst>
            </a:prstGeom>
            <a:noFill/>
            <a:ln w="9525">
              <a:solidFill>
                <a:srgbClr val="DCE5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6765" y="1848802"/>
              <a:ext cx="1728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 xml:space="preserve">class </a:t>
              </a:r>
              <a:r>
                <a:rPr lang="zh-CN" sz="105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AIProvider</a:t>
              </a:r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(ABC):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2010728"/>
              <a:ext cx="38834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"""AI 能力抽象基类 —— 十个抽象方法覆盖三条业务线"""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765" y="2172652"/>
              <a:ext cx="36457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全部方法只接收原始值（str / list[str] / float /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2334578"/>
              <a:ext cx="31703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本模块 dataclass），不接收任何 ORM 对象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2496502"/>
              <a:ext cx="13224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@abstractmethod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2658428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def generate_questions(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2820352"/>
              <a:ext cx="38911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self, position_name: str, jd: str, dims: list[str],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2982278"/>
              <a:ext cx="31780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existing_contents: list[str], count: int,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765" y="3144202"/>
              <a:ext cx="26106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) -&gt; list[GeneratedQuestion]: ...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765" y="3306128"/>
              <a:ext cx="13224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@abstractmethod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6765" y="3468052"/>
              <a:ext cx="16675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def evaluate_answer(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765" y="3629978"/>
              <a:ext cx="42285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self, dimension: str, question: str, answer: str | None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3791902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) -&gt; QuestionScoreResult: ...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765" y="3953828"/>
              <a:ext cx="13224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@abstractmethod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6765" y="4115752"/>
              <a:ext cx="3001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…其余七个方法同形；能力分组见右侧三组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05600" y="1409700"/>
            <a:ext cx="4876800" cy="876300"/>
            <a:chOff x="6705600" y="1409700"/>
            <a:chExt cx="4876800" cy="876300"/>
          </a:xfrm>
        </p:grpSpPr>
        <p:sp>
          <p:nvSpPr>
            <p:cNvPr id="36" name="Rectangle 36"/>
            <p:cNvSpPr/>
            <p:nvPr/>
          </p:nvSpPr>
          <p:spPr>
            <a:xfrm>
              <a:off x="6705600" y="1409700"/>
              <a:ext cx="48768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82765" y="15630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最重要的一条设计约束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83718" y="1837849"/>
              <a:ext cx="29652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全部方法只接收</a:t>
              </a:r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原始值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，不接收任何 ORM 对象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83718" y="204739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写进契约签名，而不是靠调用方自觉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05600" y="2400300"/>
            <a:ext cx="4876800" cy="876300"/>
            <a:chOff x="6705600" y="2400300"/>
            <a:chExt cx="4876800" cy="876300"/>
          </a:xfrm>
        </p:grpSpPr>
        <p:sp>
          <p:nvSpPr>
            <p:cNvPr id="41" name="Rectangle 41"/>
            <p:cNvSpPr/>
            <p:nvPr/>
          </p:nvSpPr>
          <p:spPr>
            <a:xfrm>
              <a:off x="6705600" y="2400300"/>
              <a:ext cx="48768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82765" y="25536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由此得到两个收益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83718" y="2828449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① ai 不依赖任何业务模块，守住依赖单向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83718" y="3037999"/>
              <a:ext cx="2381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② Mock 实现可完全不起数据库被单测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705600" y="3390900"/>
            <a:ext cx="4876800" cy="876300"/>
            <a:chOff x="6705600" y="3390900"/>
            <a:chExt cx="4876800" cy="876300"/>
          </a:xfrm>
        </p:grpSpPr>
        <p:sp>
          <p:nvSpPr>
            <p:cNvPr id="46" name="Rectangle 46"/>
            <p:cNvSpPr/>
            <p:nvPr/>
          </p:nvSpPr>
          <p:spPr>
            <a:xfrm>
              <a:off x="6705600" y="3390900"/>
              <a:ext cx="48768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82765" y="35442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工厂与启动期校验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83718" y="3819049"/>
              <a:ext cx="28371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get_provider()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按配置返回实现并</a:t>
              </a:r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缓存单例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83718" y="4028599"/>
              <a:ext cx="38125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validate_provider_config()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启动期校验，有误即启动失败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9600" y="4457700"/>
            <a:ext cx="3505200" cy="1485900"/>
            <a:chOff x="609600" y="4457700"/>
            <a:chExt cx="3505200" cy="1485900"/>
          </a:xfrm>
        </p:grpSpPr>
        <p:sp>
          <p:nvSpPr>
            <p:cNvPr id="51" name="Freeform 51"/>
            <p:cNvSpPr/>
            <p:nvPr/>
          </p:nvSpPr>
          <p:spPr>
            <a:xfrm>
              <a:off x="609600" y="4457700"/>
              <a:ext cx="3505200" cy="381000"/>
            </a:xfrm>
            <a:custGeom>
              <a:avLst/>
              <a:gdLst/>
              <a:ahLst/>
              <a:cxnLst/>
              <a:rect l="l" t="t" r="r" b="b"/>
              <a:pathLst>
                <a:path w="3505200" h="3810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381000"/>
                  </a:lnTo>
                  <a:lnTo>
                    <a:pt x="0" y="3810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9600" y="4457700"/>
              <a:ext cx="3505200" cy="1485900"/>
            </a:xfrm>
            <a:prstGeom prst="roundRect">
              <a:avLst>
                <a:gd name="adj" fmla="val 5128"/>
              </a:avLst>
            </a:prstGeom>
            <a:noFill/>
            <a:ln w="9525">
              <a:solidFill>
                <a:srgbClr val="DCE5EE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85812" y="4576762"/>
              <a:ext cx="142875" cy="134938"/>
              <a:chOff x="785812" y="4576762"/>
              <a:chExt cx="142875" cy="13493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85812" y="4608512"/>
                <a:ext cx="142875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03188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127000" y="0"/>
                    </a:lnTo>
                    <a:cubicBezTo>
                      <a:pt x="135768" y="0"/>
                      <a:pt x="142875" y="7107"/>
                      <a:pt x="142875" y="15875"/>
                    </a:cubicBezTo>
                    <a:lnTo>
                      <a:pt x="142875" y="87313"/>
                    </a:lnTo>
                    <a:cubicBezTo>
                      <a:pt x="142875" y="96080"/>
                      <a:pt x="135768" y="103188"/>
                      <a:pt x="127000" y="103188"/>
                    </a:cubicBezTo>
                    <a:lnTo>
                      <a:pt x="15875" y="103188"/>
                    </a:lnTo>
                    <a:cubicBezTo>
                      <a:pt x="7107" y="103188"/>
                      <a:pt x="0" y="96080"/>
                      <a:pt x="0" y="87313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5500" y="4576762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47625" y="0"/>
                    </a:lnTo>
                    <a:cubicBezTo>
                      <a:pt x="56393" y="0"/>
                      <a:pt x="63500" y="7107"/>
                      <a:pt x="63500" y="15875"/>
                    </a:cubicBezTo>
                    <a:lnTo>
                      <a:pt x="6350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57250" y="4648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85812" y="4656138"/>
                <a:ext cx="142875" cy="2264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2642">
                    <a:moveTo>
                      <a:pt x="0" y="0"/>
                    </a:moveTo>
                    <a:cubicBezTo>
                      <a:pt x="44934" y="22642"/>
                      <a:pt x="97941" y="22642"/>
                      <a:pt x="142875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15365" y="4592002"/>
              <a:ext cx="8961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侧 · 4 个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828675" y="50006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79170" y="4970145"/>
              <a:ext cx="12913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generate_questions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828675" y="52482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79170" y="5217795"/>
              <a:ext cx="11007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evaluate_answer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828675" y="54959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79170" y="5465445"/>
              <a:ext cx="1324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evaluate_dimensions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828675" y="57435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9170" y="5713095"/>
              <a:ext cx="11992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summarize_report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343400" y="4457700"/>
            <a:ext cx="3505200" cy="1485900"/>
            <a:chOff x="4343400" y="4457700"/>
            <a:chExt cx="3505200" cy="1485900"/>
          </a:xfrm>
        </p:grpSpPr>
        <p:sp>
          <p:nvSpPr>
            <p:cNvPr id="68" name="Freeform 68"/>
            <p:cNvSpPr/>
            <p:nvPr/>
          </p:nvSpPr>
          <p:spPr>
            <a:xfrm>
              <a:off x="4343400" y="4457700"/>
              <a:ext cx="3505200" cy="381000"/>
            </a:xfrm>
            <a:custGeom>
              <a:avLst/>
              <a:gdLst/>
              <a:ahLst/>
              <a:cxnLst/>
              <a:rect l="l" t="t" r="r" b="b"/>
              <a:pathLst>
                <a:path w="3505200" h="3810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381000"/>
                  </a:lnTo>
                  <a:lnTo>
                    <a:pt x="0" y="3810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897B">
                <a:alpha val="10000"/>
              </a:srgbClr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4343400" y="4457700"/>
              <a:ext cx="3505200" cy="1485900"/>
            </a:xfrm>
            <a:prstGeom prst="roundRect">
              <a:avLst>
                <a:gd name="adj" fmla="val 5128"/>
              </a:avLst>
            </a:prstGeom>
            <a:noFill/>
            <a:ln w="9525">
              <a:solidFill>
                <a:srgbClr val="DCE5EE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4543425" y="4576762"/>
              <a:ext cx="119062" cy="142876"/>
              <a:chOff x="4543425" y="4576762"/>
              <a:chExt cx="119062" cy="14287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4559300" y="457676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4543425" y="4672012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4614862" y="4687888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4749165" y="45920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候选人侧 · 3 个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4562475" y="500062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712970" y="4970145"/>
              <a:ext cx="18565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generate_reference_answer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4562475" y="524827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712970" y="5217795"/>
              <a:ext cx="1534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grade_practice_answer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4562475" y="549592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712970" y="5465445"/>
              <a:ext cx="19419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generate_candidate_feedback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579620" y="5713095"/>
              <a:ext cx="20339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补参考答案 · 刷题判分 · 脱敏反馈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8077200" y="4457700"/>
            <a:ext cx="3505200" cy="1485900"/>
            <a:chOff x="8077200" y="4457700"/>
            <a:chExt cx="3505200" cy="1485900"/>
          </a:xfrm>
        </p:grpSpPr>
        <p:sp>
          <p:nvSpPr>
            <p:cNvPr id="83" name="Freeform 83"/>
            <p:cNvSpPr/>
            <p:nvPr/>
          </p:nvSpPr>
          <p:spPr>
            <a:xfrm>
              <a:off x="8077200" y="4457700"/>
              <a:ext cx="3505200" cy="381000"/>
            </a:xfrm>
            <a:custGeom>
              <a:avLst/>
              <a:gdLst/>
              <a:ahLst/>
              <a:cxnLst/>
              <a:rect l="l" t="t" r="r" b="b"/>
              <a:pathLst>
                <a:path w="3505200" h="3810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381000"/>
                  </a:lnTo>
                  <a:lnTo>
                    <a:pt x="0" y="3810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7C00">
                <a:alpha val="10000"/>
              </a:srgbClr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8077200" y="4457700"/>
              <a:ext cx="3505200" cy="1485900"/>
            </a:xfrm>
            <a:prstGeom prst="roundRect">
              <a:avLst>
                <a:gd name="adj" fmla="val 5128"/>
              </a:avLst>
            </a:prstGeom>
            <a:noFill/>
            <a:ln w="9525">
              <a:solidFill>
                <a:srgbClr val="DCE5EE"/>
              </a:solidFill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8269288" y="4576762"/>
              <a:ext cx="111125" cy="142875"/>
              <a:chOff x="8269288" y="4576762"/>
              <a:chExt cx="111125" cy="142875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8340725" y="45767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269288" y="45767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127000"/>
                    </a:lnTo>
                    <a:cubicBezTo>
                      <a:pt x="111125" y="135768"/>
                      <a:pt x="104018" y="142875"/>
                      <a:pt x="95250" y="142875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301038" y="4624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8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301038" y="4656138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301038" y="4687888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8482965" y="45920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简历驱动 · 3 个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8296275" y="5000625"/>
              <a:ext cx="57150" cy="571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446770" y="4970145"/>
              <a:ext cx="1849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match_questions_by_resume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8296275" y="5248275"/>
              <a:ext cx="57150" cy="571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446770" y="5217795"/>
              <a:ext cx="16462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generate_interview_prep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8296275" y="5495925"/>
              <a:ext cx="57150" cy="571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446770" y="5465445"/>
              <a:ext cx="11007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evaluate_resume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313420" y="5713095"/>
              <a:ext cx="1895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MVP-4 新增，且不改任何表结构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0" grpId="0"/>
      <p:bldP spid="45" grpId="0"/>
      <p:bldP spid="50" grpId="0"/>
      <p:bldP spid="67" grpId="0"/>
      <p:bldP spid="82" grpId="0"/>
      <p:bldP spid="9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804755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模块① ai：序列图与「只挑不生成」的结构性保证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P21 / 35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1524000"/>
            <a:ext cx="10668000" cy="2247900"/>
            <a:chOff x="762000" y="1524000"/>
            <a:chExt cx="10668000" cy="2247900"/>
          </a:xfrm>
        </p:grpSpPr>
        <p:sp>
          <p:nvSpPr>
            <p:cNvPr id="11" name="Rectangle 11"/>
            <p:cNvSpPr/>
            <p:nvPr/>
          </p:nvSpPr>
          <p:spPr>
            <a:xfrm>
              <a:off x="762000" y="15240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5891" y="1655445"/>
              <a:ext cx="12857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evaluation.service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428750" y="19050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4" name="Rectangle 14"/>
            <p:cNvSpPr/>
            <p:nvPr/>
          </p:nvSpPr>
          <p:spPr>
            <a:xfrm>
              <a:off x="3143250" y="15240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32887" y="165544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factory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810000" y="19050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72125" y="15240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82402" y="16554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AIProvider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38875" y="19050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0" name="Rectangle 20"/>
            <p:cNvSpPr/>
            <p:nvPr/>
          </p:nvSpPr>
          <p:spPr>
            <a:xfrm>
              <a:off x="7905750" y="15240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1811" y="1655445"/>
              <a:ext cx="9613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Mock / OpenAI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572500" y="19050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096500" y="15240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448182" y="1655445"/>
              <a:ext cx="6301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on_event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0763250" y="19050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371600" y="2038350"/>
            <a:ext cx="9448800" cy="1676400"/>
            <a:chOff x="1371600" y="2038350"/>
            <a:chExt cx="9448800" cy="1676400"/>
          </a:xfrm>
        </p:grpSpPr>
        <p:sp>
          <p:nvSpPr>
            <p:cNvPr id="27" name="Rectangle 27"/>
            <p:cNvSpPr/>
            <p:nvPr/>
          </p:nvSpPr>
          <p:spPr>
            <a:xfrm>
              <a:off x="1371600" y="2038350"/>
              <a:ext cx="114300" cy="1676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752850" y="2114550"/>
              <a:ext cx="114300" cy="3810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81725" y="2628900"/>
              <a:ext cx="114300" cy="70485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515350" y="2895600"/>
              <a:ext cx="114300" cy="17145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706100" y="3429000"/>
              <a:ext cx="114300" cy="17145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485900" y="2055495"/>
            <a:ext cx="9201150" cy="1478280"/>
            <a:chOff x="1485900" y="2055495"/>
            <a:chExt cx="9201150" cy="1478280"/>
          </a:xfrm>
        </p:grpSpPr>
        <p:sp>
          <p:nvSpPr>
            <p:cNvPr id="33" name="Line 33"/>
            <p:cNvSpPr/>
            <p:nvPr/>
          </p:nvSpPr>
          <p:spPr>
            <a:xfrm>
              <a:off x="1485900" y="2209800"/>
              <a:ext cx="22479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69354" y="2055495"/>
              <a:ext cx="1080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 get_provider()</a:t>
              </a:r>
            </a:p>
          </p:txBody>
        </p:sp>
        <p:sp>
          <p:nvSpPr>
            <p:cNvPr id="35" name="Line 35"/>
            <p:cNvSpPr/>
            <p:nvPr/>
          </p:nvSpPr>
          <p:spPr>
            <a:xfrm flipH="1">
              <a:off x="1504950" y="2457450"/>
              <a:ext cx="2247900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894523" y="23031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2 provider（缓存单例）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1485900" y="2724150"/>
              <a:ext cx="4676775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20897" y="2569845"/>
              <a:ext cx="31972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3 evaluate_answer(dimension, question, answer)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296025" y="2971800"/>
              <a:ext cx="2200275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97872" y="2817495"/>
              <a:ext cx="15870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4 httpx 调用（真实分支）</a:t>
              </a:r>
            </a:p>
          </p:txBody>
        </p:sp>
        <p:sp>
          <p:nvSpPr>
            <p:cNvPr id="41" name="Line 41"/>
            <p:cNvSpPr/>
            <p:nvPr/>
          </p:nvSpPr>
          <p:spPr>
            <a:xfrm flipH="1">
              <a:off x="1504950" y="3257550"/>
              <a:ext cx="4676775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515981" y="3103245"/>
              <a:ext cx="2645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5 QuestionScoreResult(score, comment)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1485900" y="3505200"/>
              <a:ext cx="92011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118783" y="3350895"/>
              <a:ext cx="19353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6 on_event(...) 发布 SSE 事件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3962400"/>
            <a:ext cx="4191000" cy="1102519"/>
            <a:chOff x="609600" y="3962400"/>
            <a:chExt cx="4191000" cy="1102519"/>
          </a:xfrm>
        </p:grpSpPr>
        <p:sp>
          <p:nvSpPr>
            <p:cNvPr id="46" name="Rectangle 46"/>
            <p:cNvSpPr/>
            <p:nvPr/>
          </p:nvSpPr>
          <p:spPr>
            <a:xfrm>
              <a:off x="609600" y="3962400"/>
              <a:ext cx="4191000" cy="952500"/>
            </a:xfrm>
            <a:prstGeom prst="roundRect">
              <a:avLst>
                <a:gd name="adj" fmla="val 8000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9600" y="3962400"/>
              <a:ext cx="38100" cy="9525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0100" y="41148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0757" y="41781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7718" y="4447699"/>
              <a:ext cx="23245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AI 有可能「编造」一道题库里根本不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7718" y="4657249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存在的题，用它冒充匹配结果 —— 让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7718" y="4866799"/>
              <a:ext cx="23601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以为这道题是从自己题库里挑的。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991100" y="3962400"/>
            <a:ext cx="6717626" cy="1102519"/>
            <a:chOff x="4991100" y="3962400"/>
            <a:chExt cx="6717626" cy="1102519"/>
          </a:xfrm>
        </p:grpSpPr>
        <p:sp>
          <p:nvSpPr>
            <p:cNvPr id="54" name="Rectangle 54"/>
            <p:cNvSpPr/>
            <p:nvPr/>
          </p:nvSpPr>
          <p:spPr>
            <a:xfrm>
              <a:off x="4991100" y="3962400"/>
              <a:ext cx="6591300" cy="952500"/>
            </a:xfrm>
            <a:prstGeom prst="roundRect">
              <a:avLst>
                <a:gd name="adj" fmla="val 8000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991100" y="3962400"/>
              <a:ext cx="38100" cy="9525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181600" y="41148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92257" y="41781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69218" y="4447699"/>
              <a:ext cx="25167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两层</a:t>
              </a:r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结构性保证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，不靠 prompt 自觉 ——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169218" y="4657249"/>
              <a:ext cx="64754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① 返回类型 </a:t>
              </a:r>
              <a:r>
                <a:rPr lang="zh-CN" sz="975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MatchedQuestion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只有 question_id 与 reason，</a:t>
              </a:r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没有题面字段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编造在结构上无从表达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169218" y="4866799"/>
              <a:ext cx="6539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② 解析时按池内 id 集合过滤，池外 id 全部丢弃；若返回内容却一条都没留下，抛错而非静默返回空数组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09600" y="5029200"/>
            <a:ext cx="4191000" cy="914400"/>
            <a:chOff x="609600" y="5029200"/>
            <a:chExt cx="4191000" cy="914400"/>
          </a:xfrm>
        </p:grpSpPr>
        <p:sp>
          <p:nvSpPr>
            <p:cNvPr id="62" name="Rectangle 62"/>
            <p:cNvSpPr/>
            <p:nvPr/>
          </p:nvSpPr>
          <p:spPr>
            <a:xfrm>
              <a:off x="609600" y="5029200"/>
              <a:ext cx="4191000" cy="914400"/>
            </a:xfrm>
            <a:prstGeom prst="roundRect">
              <a:avLst>
                <a:gd name="adj" fmla="val 8333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9600" y="5029200"/>
              <a:ext cx="38100" cy="9144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00100" y="51816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10757" y="52449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7718" y="5514499"/>
              <a:ext cx="1840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真实 Provider 调用失败时，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7718" y="5724049"/>
              <a:ext cx="1690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要不要自动降级到 Mock？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4991100" y="5029200"/>
            <a:ext cx="6591300" cy="914400"/>
            <a:chOff x="4991100" y="5029200"/>
            <a:chExt cx="6591300" cy="914400"/>
          </a:xfrm>
        </p:grpSpPr>
        <p:sp>
          <p:nvSpPr>
            <p:cNvPr id="69" name="Rectangle 69"/>
            <p:cNvSpPr/>
            <p:nvPr/>
          </p:nvSpPr>
          <p:spPr>
            <a:xfrm>
              <a:off x="4991100" y="5029200"/>
              <a:ext cx="6591300" cy="914400"/>
            </a:xfrm>
            <a:prstGeom prst="roundRect">
              <a:avLst>
                <a:gd name="adj" fmla="val 8333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4991100" y="5029200"/>
              <a:ext cx="38100" cy="9144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181600" y="51816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292257" y="52449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169218" y="5514499"/>
              <a:ext cx="5499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绝不降级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。静默降级会把规则模板的输出伪装成 AI 评估结果，既误导用户又掩盖故障。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169218" y="5724049"/>
              <a:ext cx="53219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失败即 </a:t>
              </a:r>
              <a:r>
                <a:rPr lang="zh-CN" sz="97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502 AI_PROVIDER_ERROR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，由用户重试 —— 「没有」与「坏了」必须可区分。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45" grpId="0"/>
      <p:bldP spid="53" grpId="0"/>
      <p:bldP spid="61" grpId="0"/>
      <p:bldP spid="68" grpId="0"/>
      <p:bldP spid="7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6869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模块② interview：出题组装的确定性抽取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P22 / 35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9600" y="1409700"/>
            <a:ext cx="5715000" cy="4533900"/>
            <a:chOff x="609600" y="1409700"/>
            <a:chExt cx="5715000" cy="4533900"/>
          </a:xfrm>
        </p:grpSpPr>
        <p:sp>
          <p:nvSpPr>
            <p:cNvPr id="11" name="Rectangle 11"/>
            <p:cNvSpPr/>
            <p:nvPr/>
          </p:nvSpPr>
          <p:spPr>
            <a:xfrm>
              <a:off x="609600" y="1733550"/>
              <a:ext cx="5715000" cy="42100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" y="1409700"/>
              <a:ext cx="5715000" cy="323850"/>
            </a:xfrm>
            <a:custGeom>
              <a:avLst/>
              <a:gdLst/>
              <a:ahLst/>
              <a:cxnLst/>
              <a:rect l="l" t="t" r="r" b="b"/>
              <a:pathLst>
                <a:path w="5715000" h="323850">
                  <a:moveTo>
                    <a:pt x="76200" y="0"/>
                  </a:moveTo>
                  <a:lnTo>
                    <a:pt x="5638800" y="0"/>
                  </a:lnTo>
                  <a:cubicBezTo>
                    <a:pt x="5680884" y="0"/>
                    <a:pt x="5715000" y="34116"/>
                    <a:pt x="5715000" y="76200"/>
                  </a:cubicBezTo>
                  <a:lnTo>
                    <a:pt x="57150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3EDF9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85812" y="1517650"/>
              <a:ext cx="127001" cy="127000"/>
              <a:chOff x="785812" y="1517650"/>
              <a:chExt cx="127001" cy="127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85812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15875" y="0"/>
                    </a:moveTo>
                    <a:lnTo>
                      <a:pt x="0" y="15875"/>
                    </a:lnTo>
                    <a:lnTo>
                      <a:pt x="15875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7250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0" y="0"/>
                    </a:moveTo>
                    <a:lnTo>
                      <a:pt x="15875" y="15875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5500" y="15176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1688" y="15335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95250" y="0"/>
                    </a:move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95250"/>
                    </a:lnTo>
                    <a:cubicBezTo>
                      <a:pt x="111125" y="104018"/>
                      <a:pt x="104018" y="111125"/>
                      <a:pt x="9525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8"/>
                      <a:pt x="0" y="95250"/>
                    </a:cubicBez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7270" y="1531620"/>
              <a:ext cx="31775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backend/app/interview/service.py:217-238 · 266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1409700"/>
              <a:ext cx="5715000" cy="4533900"/>
            </a:xfrm>
            <a:prstGeom prst="roundRect">
              <a:avLst>
                <a:gd name="adj" fmla="val 1681"/>
              </a:avLst>
            </a:prstGeom>
            <a:noFill/>
            <a:ln w="9525">
              <a:solidFill>
                <a:srgbClr val="DCE5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6765" y="1753552"/>
              <a:ext cx="35997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 xml:space="preserve">def </a:t>
              </a:r>
              <a:r>
                <a:rPr lang="zh-CN" sz="105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_round_robin_pick</a:t>
              </a:r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(groups: dict[str, list],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1915478"/>
              <a:ext cx="27026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dimensions: list[str], count: int):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765" y="2077402"/>
              <a:ext cx="35001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"""按维度轮询抽取，保证各维度题目数尽量平均。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2239328"/>
              <a:ext cx="41365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组内已按 id 升序 —— 抽取结果完全确定，便于测试断言。"""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2401252"/>
              <a:ext cx="30323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cursors = {dim: 0 for dim in dimensions}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256317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picked: list = []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2725102"/>
              <a:ext cx="1981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while len(picked) &lt; count: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2887028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progressed = False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765" y="3048952"/>
              <a:ext cx="16752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for dim in dimensions: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765" y="3210878"/>
              <a:ext cx="1820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if len(picked) &gt;= count: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6765" y="3372802"/>
              <a:ext cx="4483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break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765" y="3534728"/>
              <a:ext cx="1590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index = cursors[dim]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3696652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if index &lt; len(groups[dim]):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765" y="3858578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picked.append(groups[dim][index])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6765" y="4020502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cursors[dim] = index + 1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6765" y="4182428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progressed = True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6765" y="4344352"/>
              <a:ext cx="28330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if not progressed: # 所有维度都已抽空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6765" y="4506278"/>
              <a:ext cx="4483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break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765" y="4668202"/>
              <a:ext cx="10464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return picked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6765" y="4934902"/>
              <a:ext cx="38221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service.py:266 —— 差额补足公式，总题数恒为 N + 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6765" y="5096828"/>
              <a:ext cx="44048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need_ai = want_from_ai + (want_from_bank - len(picked))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6765" y="5373052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防御：AI 返回的维度若不在岗位维度列表内，丢弃该条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6765" y="5534978"/>
              <a:ext cx="4749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generated = [g for g in generated if g.dimension in dimensions]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553200" y="1409700"/>
            <a:ext cx="5029200" cy="800100"/>
            <a:chOff x="6553200" y="1409700"/>
            <a:chExt cx="5029200" cy="800100"/>
          </a:xfrm>
        </p:grpSpPr>
        <p:sp>
          <p:nvSpPr>
            <p:cNvPr id="44" name="Rectangle 44"/>
            <p:cNvSpPr/>
            <p:nvPr/>
          </p:nvSpPr>
          <p:spPr>
            <a:xfrm>
              <a:off x="6553200" y="1409700"/>
              <a:ext cx="5029200" cy="800100"/>
            </a:xfrm>
            <a:prstGeom prst="roundRect">
              <a:avLst>
                <a:gd name="adj" fmla="val 952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1315" y="15440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2268" y="1799749"/>
              <a:ext cx="25737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题库抽 </a:t>
              </a:r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N（默认 5）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+ AI 补 </a:t>
              </a:r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M（默认 3）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12268" y="200929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合并成题目列表，并逐题写入内容快照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553200" y="2333625"/>
            <a:ext cx="5029200" cy="800100"/>
            <a:chOff x="6553200" y="2333625"/>
            <a:chExt cx="5029200" cy="800100"/>
          </a:xfrm>
        </p:grpSpPr>
        <p:sp>
          <p:nvSpPr>
            <p:cNvPr id="49" name="Rectangle 49"/>
            <p:cNvSpPr/>
            <p:nvPr/>
          </p:nvSpPr>
          <p:spPr>
            <a:xfrm>
              <a:off x="6553200" y="2333625"/>
              <a:ext cx="5029200" cy="800100"/>
            </a:xfrm>
            <a:prstGeom prst="roundRect">
              <a:avLst>
                <a:gd name="adj" fmla="val 952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11315" y="2467928"/>
              <a:ext cx="13309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round-robin 抽取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12268" y="2723674"/>
              <a:ext cx="1797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按维度轮询，</a:t>
              </a:r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组内按 id 升序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12268" y="2933224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保证各维度抽到的题目数尽量平均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553200" y="3257550"/>
            <a:ext cx="5029200" cy="800100"/>
            <a:chOff x="6553200" y="3257550"/>
            <a:chExt cx="5029200" cy="800100"/>
          </a:xfrm>
        </p:grpSpPr>
        <p:sp>
          <p:nvSpPr>
            <p:cNvPr id="54" name="Rectangle 54"/>
            <p:cNvSpPr/>
            <p:nvPr/>
          </p:nvSpPr>
          <p:spPr>
            <a:xfrm>
              <a:off x="6553200" y="3257550"/>
              <a:ext cx="5029200" cy="800100"/>
            </a:xfrm>
            <a:prstGeom prst="roundRect">
              <a:avLst>
                <a:gd name="adj" fmla="val 952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11315" y="33918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可预测性是刻意追求的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12268" y="364759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相同数据状态下，出题结果</a:t>
              </a:r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完全确定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12268" y="385714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因此测试可以直接断言抽到哪几题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553200" y="4181475"/>
            <a:ext cx="5029200" cy="800100"/>
            <a:chOff x="6553200" y="4181475"/>
            <a:chExt cx="5029200" cy="800100"/>
          </a:xfrm>
        </p:grpSpPr>
        <p:sp>
          <p:nvSpPr>
            <p:cNvPr id="59" name="Rectangle 59"/>
            <p:cNvSpPr/>
            <p:nvPr/>
          </p:nvSpPr>
          <p:spPr>
            <a:xfrm>
              <a:off x="6553200" y="4181475"/>
              <a:ext cx="5029200" cy="800100"/>
            </a:xfrm>
            <a:prstGeom prst="roundRect">
              <a:avLst>
                <a:gd name="adj" fmla="val 952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11315" y="43157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差额补足公式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12268" y="4571524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need_ai = M + (N - K)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，K 为实际抽到的题库题数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12268" y="4781074"/>
              <a:ext cx="31432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总题数恒为 N + M = 8，题库不足时由 AI 补足差额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553200" y="5105400"/>
            <a:ext cx="5029200" cy="800100"/>
            <a:chOff x="6553200" y="5105400"/>
            <a:chExt cx="5029200" cy="800100"/>
          </a:xfrm>
        </p:grpSpPr>
        <p:sp>
          <p:nvSpPr>
            <p:cNvPr id="64" name="Rectangle 64"/>
            <p:cNvSpPr/>
            <p:nvPr/>
          </p:nvSpPr>
          <p:spPr>
            <a:xfrm>
              <a:off x="6553200" y="5105400"/>
              <a:ext cx="5029200" cy="800100"/>
            </a:xfrm>
            <a:prstGeom prst="roundRect">
              <a:avLst>
                <a:gd name="adj" fmla="val 952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11315" y="52397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事务边界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712268" y="5495449"/>
              <a:ext cx="29439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建面试 + 出题组装 + 置 </a:t>
              </a:r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ongoing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在</a:t>
              </a:r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同一事务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内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12268" y="5704999"/>
              <a:ext cx="2773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AI 出题失败 → 整体回滚，不留下半成品面试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8" grpId="0"/>
      <p:bldP spid="53" grpId="0"/>
      <p:bldP spid="58" grpId="0"/>
      <p:bldP spid="63" grpId="0"/>
      <p:bldP spid="6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70354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模块② interview：序列图与 N+M 差额补题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P23 / 35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524000"/>
            <a:ext cx="10953750" cy="2343150"/>
            <a:chOff x="571500" y="1524000"/>
            <a:chExt cx="10953750" cy="2343150"/>
          </a:xfrm>
        </p:grpSpPr>
        <p:sp>
          <p:nvSpPr>
            <p:cNvPr id="11" name="Rectangle 11"/>
            <p:cNvSpPr/>
            <p:nvPr/>
          </p:nvSpPr>
          <p:spPr>
            <a:xfrm>
              <a:off x="571500" y="15240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0617" y="1655445"/>
              <a:ext cx="8647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HR（浏览器）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143000" y="1905000"/>
              <a:ext cx="9525" cy="1962150"/>
            </a:xfrm>
            <a:custGeom>
              <a:avLst/>
              <a:gdLst/>
              <a:ahLst/>
              <a:cxnLst/>
              <a:rect l="l" t="t" r="r" b="b"/>
              <a:pathLst>
                <a:path w="9525" h="1962150">
                  <a:moveTo>
                    <a:pt x="0" y="0"/>
                  </a:moveTo>
                  <a:lnTo>
                    <a:pt x="0" y="19621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4" name="Rectangle 14"/>
            <p:cNvSpPr/>
            <p:nvPr/>
          </p:nvSpPr>
          <p:spPr>
            <a:xfrm>
              <a:off x="3086100" y="15240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38894" y="1655445"/>
              <a:ext cx="12374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interview.service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657600" y="1905000"/>
              <a:ext cx="9525" cy="1962150"/>
            </a:xfrm>
            <a:custGeom>
              <a:avLst/>
              <a:gdLst/>
              <a:ahLst/>
              <a:cxnLst/>
              <a:rect l="l" t="t" r="r" b="b"/>
              <a:pathLst>
                <a:path w="9525" h="1962150">
                  <a:moveTo>
                    <a:pt x="0" y="0"/>
                  </a:moveTo>
                  <a:lnTo>
                    <a:pt x="0" y="19621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7" name="Rectangle 17"/>
            <p:cNvSpPr/>
            <p:nvPr/>
          </p:nvSpPr>
          <p:spPr>
            <a:xfrm>
              <a:off x="5600700" y="15240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87998" y="1655445"/>
              <a:ext cx="1168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question.service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172200" y="1905000"/>
              <a:ext cx="9525" cy="1962150"/>
            </a:xfrm>
            <a:custGeom>
              <a:avLst/>
              <a:gdLst/>
              <a:ahLst/>
              <a:cxnLst/>
              <a:rect l="l" t="t" r="r" b="b"/>
              <a:pathLst>
                <a:path w="9525" h="1962150">
                  <a:moveTo>
                    <a:pt x="0" y="0"/>
                  </a:moveTo>
                  <a:lnTo>
                    <a:pt x="0" y="19621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0" name="Rectangle 20"/>
            <p:cNvSpPr/>
            <p:nvPr/>
          </p:nvSpPr>
          <p:spPr>
            <a:xfrm>
              <a:off x="8115300" y="15240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92310" y="1655445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ai（Provider）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686800" y="1905000"/>
              <a:ext cx="9525" cy="1962150"/>
            </a:xfrm>
            <a:custGeom>
              <a:avLst/>
              <a:gdLst/>
              <a:ahLst/>
              <a:cxnLst/>
              <a:rect l="l" t="t" r="r" b="b"/>
              <a:pathLst>
                <a:path w="9525" h="1962150">
                  <a:moveTo>
                    <a:pt x="0" y="0"/>
                  </a:moveTo>
                  <a:lnTo>
                    <a:pt x="0" y="19621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82250" y="15240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80025" y="1655445"/>
              <a:ext cx="7474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repository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0953750" y="1905000"/>
              <a:ext cx="9525" cy="1962150"/>
            </a:xfrm>
            <a:custGeom>
              <a:avLst/>
              <a:gdLst/>
              <a:ahLst/>
              <a:cxnLst/>
              <a:rect l="l" t="t" r="r" b="b"/>
              <a:pathLst>
                <a:path w="9525" h="1962150">
                  <a:moveTo>
                    <a:pt x="0" y="0"/>
                  </a:moveTo>
                  <a:lnTo>
                    <a:pt x="0" y="19621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085850" y="1981200"/>
            <a:ext cx="9925050" cy="1819275"/>
            <a:chOff x="1085850" y="1981200"/>
            <a:chExt cx="9925050" cy="1819275"/>
          </a:xfrm>
        </p:grpSpPr>
        <p:sp>
          <p:nvSpPr>
            <p:cNvPr id="27" name="Rectangle 27"/>
            <p:cNvSpPr/>
            <p:nvPr/>
          </p:nvSpPr>
          <p:spPr>
            <a:xfrm>
              <a:off x="1085850" y="1981200"/>
              <a:ext cx="114300" cy="1819275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600450" y="2000250"/>
              <a:ext cx="114300" cy="1800225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15050" y="2457450"/>
              <a:ext cx="114300" cy="152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115050" y="3171825"/>
              <a:ext cx="114300" cy="152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629650" y="2943225"/>
              <a:ext cx="114300" cy="152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896600" y="2228850"/>
              <a:ext cx="114300" cy="152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896600" y="3419475"/>
              <a:ext cx="114300" cy="152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1200150" y="1894999"/>
            <a:ext cx="9677400" cy="1864995"/>
            <a:chOff x="1200150" y="1894999"/>
            <a:chExt cx="9677400" cy="1864995"/>
          </a:xfrm>
        </p:grpSpPr>
        <p:sp>
          <p:nvSpPr>
            <p:cNvPr id="35" name="Line 35"/>
            <p:cNvSpPr/>
            <p:nvPr/>
          </p:nvSpPr>
          <p:spPr>
            <a:xfrm>
              <a:off x="1200150" y="2057400"/>
              <a:ext cx="23812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734038" y="1894999"/>
              <a:ext cx="1313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 POST /interviews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3714750" y="2295525"/>
              <a:ext cx="71628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19658" y="2133124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2 get_position() 读岗位与评估维度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3714750" y="2533650"/>
              <a:ext cx="23812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46683" y="2371249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3 list_candidates_for_position()</a:t>
              </a:r>
            </a:p>
          </p:txBody>
        </p:sp>
        <p:sp>
          <p:nvSpPr>
            <p:cNvPr id="41" name="Line 41"/>
            <p:cNvSpPr/>
            <p:nvPr/>
          </p:nvSpPr>
          <p:spPr>
            <a:xfrm flipH="1">
              <a:off x="3733800" y="2771775"/>
              <a:ext cx="2381250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107490" y="2609374"/>
              <a:ext cx="16338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4 候选池（已按 id 升序）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3714750" y="3009900"/>
              <a:ext cx="48958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068062" y="2847499"/>
              <a:ext cx="21892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5 generate_questions(need_ai)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3714750" y="3248025"/>
              <a:ext cx="23812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031480" y="3085624"/>
              <a:ext cx="17477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6 bulk_create_from_ai()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3714750" y="3486150"/>
              <a:ext cx="71628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3936" y="3323749"/>
              <a:ext cx="19044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7 create_questions(items)</a:t>
              </a:r>
            </a:p>
          </p:txBody>
        </p:sp>
        <p:sp>
          <p:nvSpPr>
            <p:cNvPr id="49" name="Line 49"/>
            <p:cNvSpPr/>
            <p:nvPr/>
          </p:nvSpPr>
          <p:spPr>
            <a:xfrm flipH="1">
              <a:off x="1219200" y="3724275"/>
              <a:ext cx="2381250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464731" y="3561874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8 置 ongoing + db.commit()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9600" y="4038600"/>
            <a:ext cx="4191000" cy="1102519"/>
            <a:chOff x="609600" y="4038600"/>
            <a:chExt cx="4191000" cy="1102519"/>
          </a:xfrm>
        </p:grpSpPr>
        <p:sp>
          <p:nvSpPr>
            <p:cNvPr id="52" name="Rectangle 52"/>
            <p:cNvSpPr/>
            <p:nvPr/>
          </p:nvSpPr>
          <p:spPr>
            <a:xfrm>
              <a:off x="609600" y="4038600"/>
              <a:ext cx="4191000" cy="914400"/>
            </a:xfrm>
            <a:prstGeom prst="roundRect">
              <a:avLst>
                <a:gd name="adj" fmla="val 8333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9600" y="4038600"/>
              <a:ext cx="38100" cy="9144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00100" y="41910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0757" y="42543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7718" y="4523899"/>
              <a:ext cx="25452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出题后题目列表就写死了 —— 没有换题、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7718" y="473344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也没有删题接口。但候选人的简历是在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7718" y="4942999"/>
              <a:ext cx="3015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面试创建之后才提交的，那时才知道该考什么。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991100" y="4038600"/>
            <a:ext cx="6591300" cy="1102519"/>
            <a:chOff x="4991100" y="4038600"/>
            <a:chExt cx="6591300" cy="1102519"/>
          </a:xfrm>
        </p:grpSpPr>
        <p:sp>
          <p:nvSpPr>
            <p:cNvPr id="60" name="Rectangle 60"/>
            <p:cNvSpPr/>
            <p:nvPr/>
          </p:nvSpPr>
          <p:spPr>
            <a:xfrm>
              <a:off x="4991100" y="4038600"/>
              <a:ext cx="6591300" cy="914400"/>
            </a:xfrm>
            <a:prstGeom prst="roundRect">
              <a:avLst>
                <a:gd name="adj" fmla="val 8333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991100" y="4038600"/>
              <a:ext cx="38100" cy="9144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181600" y="41910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92257" y="42543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169218" y="4523899"/>
              <a:ext cx="45815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把「按简历补题」设计为</a:t>
              </a:r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唯一的加题例外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，且</a:t>
              </a:r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只追加、不改动既有题目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：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169218" y="4733449"/>
              <a:ext cx="4125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seq 续接本场最大值，</a:t>
              </a:r>
              <a:r>
                <a:rPr lang="zh-CN" sz="975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source_snapshot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记为 resume_match，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169218" y="4942999"/>
              <a:ext cx="43323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match_reason 写入 AI 给出的理由 —— 补的每一题都能追溯到依据。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09600" y="5029200"/>
            <a:ext cx="4191000" cy="914400"/>
            <a:chOff x="609600" y="5029200"/>
            <a:chExt cx="4191000" cy="914400"/>
          </a:xfrm>
        </p:grpSpPr>
        <p:sp>
          <p:nvSpPr>
            <p:cNvPr id="68" name="Rectangle 68"/>
            <p:cNvSpPr/>
            <p:nvPr/>
          </p:nvSpPr>
          <p:spPr>
            <a:xfrm>
              <a:off x="609600" y="5029200"/>
              <a:ext cx="4191000" cy="914400"/>
            </a:xfrm>
            <a:prstGeom prst="roundRect">
              <a:avLst>
                <a:gd name="adj" fmla="val 8333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09600" y="5029200"/>
              <a:ext cx="38100" cy="9144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00100" y="51816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10757" y="52449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7718" y="5514499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连点几次「按简历补题」，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7718" y="57240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会不会出一堆重复题？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991100" y="5029200"/>
            <a:ext cx="6591300" cy="914400"/>
            <a:chOff x="4991100" y="5029200"/>
            <a:chExt cx="6591300" cy="914400"/>
          </a:xfrm>
        </p:grpSpPr>
        <p:sp>
          <p:nvSpPr>
            <p:cNvPr id="75" name="Rectangle 75"/>
            <p:cNvSpPr/>
            <p:nvPr/>
          </p:nvSpPr>
          <p:spPr>
            <a:xfrm>
              <a:off x="4991100" y="5029200"/>
              <a:ext cx="6591300" cy="914400"/>
            </a:xfrm>
            <a:prstGeom prst="roundRect">
              <a:avLst>
                <a:gd name="adj" fmla="val 8333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4991100" y="5029200"/>
              <a:ext cx="38100" cy="9144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181600" y="51816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292257" y="52449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169218" y="5514499"/>
              <a:ext cx="47025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幂等的准确含义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：候选池剔除本场已有的 </a:t>
              </a:r>
              <a:r>
                <a:rPr lang="zh-CN" sz="975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question_id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，故不会出重复题；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169218" y="5724049"/>
              <a:ext cx="5791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但池子变小后 AI 会挑下一批，所以每次调用都会再加 count 题 —— 界面必须显示本场总数。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4" grpId="0"/>
      <p:bldP spid="51" grpId="0"/>
      <p:bldP spid="59" grpId="0"/>
      <p:bldP spid="67" grpId="0"/>
      <p:bldP spid="74" grpId="0"/>
      <p:bldP spid="8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736667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模块③ evaluation：三阶段编排与运行注册表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P24 / 35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409700"/>
            <a:ext cx="5105400" cy="1047750"/>
            <a:chOff x="609600" y="1409700"/>
            <a:chExt cx="5105400" cy="1047750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51054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38100" cy="10477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57250" y="1581150"/>
              <a:ext cx="266700" cy="2667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3112" y="1648778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22058" y="16340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逐题评分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171950" y="1562100"/>
              <a:ext cx="1352550" cy="228600"/>
            </a:xfrm>
            <a:prstGeom prst="roundRect">
              <a:avLst>
                <a:gd name="adj" fmla="val 16667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12885" y="1626870"/>
              <a:ext cx="8706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question 事件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218" y="1971199"/>
              <a:ext cx="31860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对每道题分别调用 provider.evaluate_answer，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2180749"/>
              <a:ext cx="2972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产出 QuestionScoreResult；按 seq 升序推送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2609850"/>
            <a:ext cx="5105400" cy="1047750"/>
            <a:chOff x="609600" y="2609850"/>
            <a:chExt cx="5105400" cy="1047750"/>
          </a:xfrm>
        </p:grpSpPr>
        <p:sp>
          <p:nvSpPr>
            <p:cNvPr id="21" name="Rectangle 21"/>
            <p:cNvSpPr/>
            <p:nvPr/>
          </p:nvSpPr>
          <p:spPr>
            <a:xfrm>
              <a:off x="609600" y="2609850"/>
              <a:ext cx="51054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00897B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" y="2609850"/>
              <a:ext cx="38100" cy="104775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857250" y="2781300"/>
              <a:ext cx="266700" cy="266700"/>
            </a:xfrm>
            <a:prstGeom prst="ellipse">
              <a:avLst/>
            </a:prstGeom>
            <a:solidFill>
              <a:srgbClr val="00897B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2984" y="28489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2058" y="283416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多维评分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171950" y="2762250"/>
              <a:ext cx="1352550" cy="228600"/>
            </a:xfrm>
            <a:prstGeom prst="roundRect">
              <a:avLst>
                <a:gd name="adj" fmla="val 16667"/>
              </a:avLst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80024" y="2827020"/>
              <a:ext cx="936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dimension 事件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8218" y="317134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把该场全部回答按岗位评估维度汇总，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8218" y="3380899"/>
              <a:ext cx="1840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产出 DimensionScoreResult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3810000"/>
            <a:ext cx="5105400" cy="1047750"/>
            <a:chOff x="609600" y="3810000"/>
            <a:chExt cx="5105400" cy="1047750"/>
          </a:xfrm>
        </p:grpSpPr>
        <p:sp>
          <p:nvSpPr>
            <p:cNvPr id="31" name="Rectangle 31"/>
            <p:cNvSpPr/>
            <p:nvPr/>
          </p:nvSpPr>
          <p:spPr>
            <a:xfrm>
              <a:off x="609600" y="3810000"/>
              <a:ext cx="51054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2E7D3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9600" y="3810000"/>
              <a:ext cx="38100" cy="10477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57250" y="3981450"/>
              <a:ext cx="266700" cy="266700"/>
            </a:xfrm>
            <a:prstGeom prst="ellipse">
              <a:avLst/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2984" y="40490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22058" y="40343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汇总报告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171950" y="3962400"/>
              <a:ext cx="1352550" cy="228600"/>
            </a:xfrm>
            <a:prstGeom prst="roundRect">
              <a:avLst>
                <a:gd name="adj" fmla="val 16667"/>
              </a:avLst>
            </a:prstGeom>
            <a:solidFill>
              <a:srgbClr val="2E7D32">
                <a:alpha val="1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468749" y="4027170"/>
              <a:ext cx="758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report 事件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8218" y="4371499"/>
              <a:ext cx="2296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生成 overall_score + conclusion +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8218" y="4581049"/>
              <a:ext cx="2830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strengths / weaknesses，写入 report 表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943600" y="1409700"/>
            <a:ext cx="5638800" cy="3479006"/>
            <a:chOff x="5943600" y="1409700"/>
            <a:chExt cx="5638800" cy="3479006"/>
          </a:xfrm>
        </p:grpSpPr>
        <p:sp>
          <p:nvSpPr>
            <p:cNvPr id="41" name="Rectangle 41"/>
            <p:cNvSpPr/>
            <p:nvPr/>
          </p:nvSpPr>
          <p:spPr>
            <a:xfrm>
              <a:off x="5943600" y="1733550"/>
              <a:ext cx="5638800" cy="31242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5943600" y="1409700"/>
              <a:ext cx="5638800" cy="323850"/>
            </a:xfrm>
            <a:custGeom>
              <a:avLst/>
              <a:gdLst/>
              <a:ahLst/>
              <a:cxnLst/>
              <a:rect l="l" t="t" r="r" b="b"/>
              <a:pathLst>
                <a:path w="5638800" h="323850">
                  <a:moveTo>
                    <a:pt x="76200" y="0"/>
                  </a:moveTo>
                  <a:lnTo>
                    <a:pt x="5562600" y="0"/>
                  </a:lnTo>
                  <a:cubicBezTo>
                    <a:pt x="5604684" y="0"/>
                    <a:pt x="5638800" y="34116"/>
                    <a:pt x="5638800" y="76200"/>
                  </a:cubicBezTo>
                  <a:lnTo>
                    <a:pt x="56388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3EDF9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119812" y="1517650"/>
              <a:ext cx="127001" cy="127000"/>
              <a:chOff x="6119812" y="1517650"/>
              <a:chExt cx="127001" cy="127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119812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15875" y="0"/>
                    </a:moveTo>
                    <a:lnTo>
                      <a:pt x="0" y="15875"/>
                    </a:lnTo>
                    <a:lnTo>
                      <a:pt x="15875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191250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0" y="0"/>
                    </a:moveTo>
                    <a:lnTo>
                      <a:pt x="15875" y="15875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159500" y="15176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7938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135688" y="15335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95250" y="0"/>
                    </a:move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95250"/>
                    </a:lnTo>
                    <a:cubicBezTo>
                      <a:pt x="111125" y="104018"/>
                      <a:pt x="104018" y="111125"/>
                      <a:pt x="9525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8"/>
                      <a:pt x="0" y="95250"/>
                    </a:cubicBez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351270" y="1531620"/>
              <a:ext cx="31118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backend/app/evaluation/stream.py:137-154 · 114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943600" y="1409700"/>
              <a:ext cx="5638800" cy="3448050"/>
            </a:xfrm>
            <a:prstGeom prst="roundRect">
              <a:avLst>
                <a:gd name="adj" fmla="val 2210"/>
              </a:avLst>
            </a:prstGeom>
            <a:noFill/>
            <a:ln w="9525">
              <a:solidFill>
                <a:srgbClr val="DCE5EE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19812" y="1802606"/>
              <a:ext cx="46702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 xml:space="preserve">def </a:t>
              </a:r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_evaluate_in_thread</a:t>
              </a:r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(interview_id: int, run) -&gt; None: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19812" y="1945481"/>
              <a:ext cx="47770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"""后台线程：拥有独立的 DB 会话（Session 非线程安全）。"""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19812" y="2088356"/>
              <a:ext cx="23124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db: Session = SessionLocal()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19812" y="2231231"/>
              <a:ext cx="390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try: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19812" y="2374106"/>
              <a:ext cx="32489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evaluation_service.evaluate_interview(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19812" y="2516981"/>
              <a:ext cx="14333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db, interview_id,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19812" y="2659856"/>
              <a:ext cx="46455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lambda event: publish(run, event.name, event.payload),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19812" y="2802731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19812" y="2945606"/>
              <a:ext cx="39637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publish_terminal(run, "done", {...}, RUN_DONE)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19812" y="3088481"/>
              <a:ext cx="20331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except Exception as exc: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19812" y="3231356"/>
              <a:ext cx="41526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logger.exception("面试 %s 评估失败", interview_id)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119812" y="3374231"/>
              <a:ext cx="1121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db.rollback()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119812" y="3517106"/>
              <a:ext cx="25671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_rollback_status(interview_id)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119812" y="3659981"/>
              <a:ext cx="53849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publish_terminal(run, "error", _error_payload(exc), RUN_FAILED)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19812" y="3802856"/>
              <a:ext cx="6282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finally: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19812" y="3945731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db.close()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19812" y="4088606"/>
              <a:ext cx="13923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_signal_end(run)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19812" y="4231481"/>
              <a:ext cx="1983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_schedule_eviction(run)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19812" y="4517231"/>
              <a:ext cx="436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stream.py:114 —— 终结事件与运行状态在同一把锁内写入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119812" y="4660106"/>
              <a:ext cx="4793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def publish_terminal(run, name, payload, status) -&gt; None: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09600" y="5048250"/>
            <a:ext cx="3524250" cy="895350"/>
            <a:chOff x="609600" y="5048250"/>
            <a:chExt cx="3524250" cy="895350"/>
          </a:xfrm>
        </p:grpSpPr>
        <p:sp>
          <p:nvSpPr>
            <p:cNvPr id="71" name="Rectangle 71"/>
            <p:cNvSpPr/>
            <p:nvPr/>
          </p:nvSpPr>
          <p:spPr>
            <a:xfrm>
              <a:off x="609600" y="5048250"/>
              <a:ext cx="3524250" cy="895350"/>
            </a:xfrm>
            <a:prstGeom prst="roundRect">
              <a:avLst>
                <a:gd name="adj" fmla="val 8511"/>
              </a:avLst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823912" y="5232400"/>
              <a:ext cx="142875" cy="127000"/>
            </a:xfrm>
            <a:custGeom>
              <a:avLst/>
              <a:gdLst/>
              <a:ahLst/>
              <a:cxnLst/>
              <a:rect l="l" t="t" r="r" b="b"/>
              <a:pathLst>
                <a:path w="142875" h="127000">
                  <a:moveTo>
                    <a:pt x="0" y="63500"/>
                  </a:moveTo>
                  <a:lnTo>
                    <a:pt x="31750" y="63500"/>
                  </a:lnTo>
                  <a:lnTo>
                    <a:pt x="55562" y="127000"/>
                  </a:lnTo>
                  <a:lnTo>
                    <a:pt x="87313" y="0"/>
                  </a:lnTo>
                  <a:lnTo>
                    <a:pt x="111125" y="63500"/>
                  </a:lnTo>
                  <a:lnTo>
                    <a:pt x="142875" y="6350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53465" y="52397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先推后写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7718" y="5514499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结果在</a:t>
              </a:r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最后一次性落库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（单事务）——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7718" y="5724049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库里永不存在混合态；失败也不丢旧数据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4324350" y="5048250"/>
            <a:ext cx="3524250" cy="895350"/>
            <a:chOff x="4324350" y="5048250"/>
            <a:chExt cx="3524250" cy="895350"/>
          </a:xfrm>
        </p:grpSpPr>
        <p:sp>
          <p:nvSpPr>
            <p:cNvPr id="77" name="Rectangle 77"/>
            <p:cNvSpPr/>
            <p:nvPr/>
          </p:nvSpPr>
          <p:spPr>
            <a:xfrm>
              <a:off x="4324350" y="5048250"/>
              <a:ext cx="3524250" cy="895350"/>
            </a:xfrm>
            <a:prstGeom prst="roundRect">
              <a:avLst>
                <a:gd name="adj" fmla="val 8511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4546600" y="5229337"/>
              <a:ext cx="127000" cy="133126"/>
              <a:chOff x="4546600" y="5229337"/>
              <a:chExt cx="127000" cy="13312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4546600" y="5229337"/>
                <a:ext cx="127000" cy="58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58625">
                    <a:moveTo>
                      <a:pt x="127000" y="58625"/>
                    </a:moveTo>
                    <a:cubicBezTo>
                      <a:pt x="123010" y="29911"/>
                      <a:pt x="100297" y="7420"/>
                      <a:pt x="71546" y="3710"/>
                    </a:cubicBezTo>
                    <a:cubicBezTo>
                      <a:pt x="42795" y="0"/>
                      <a:pt x="15117" y="15990"/>
                      <a:pt x="3969" y="42750"/>
                    </a:cubicBezTo>
                    <a:moveTo>
                      <a:pt x="0" y="11000"/>
                    </a:moveTo>
                    <a:lnTo>
                      <a:pt x="0" y="42750"/>
                    </a:lnTo>
                    <a:lnTo>
                      <a:pt x="31750" y="42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4546600" y="5303838"/>
                <a:ext cx="127000" cy="58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58625">
                    <a:moveTo>
                      <a:pt x="0" y="0"/>
                    </a:moveTo>
                    <a:cubicBezTo>
                      <a:pt x="3990" y="28714"/>
                      <a:pt x="26703" y="51205"/>
                      <a:pt x="55454" y="54915"/>
                    </a:cubicBezTo>
                    <a:cubicBezTo>
                      <a:pt x="84205" y="58625"/>
                      <a:pt x="111883" y="42635"/>
                      <a:pt x="123031" y="15875"/>
                    </a:cubicBezTo>
                    <a:moveTo>
                      <a:pt x="127000" y="47625"/>
                    </a:moveTo>
                    <a:lnTo>
                      <a:pt x="127000" y="15875"/>
                    </a:lnTo>
                    <a:lnTo>
                      <a:pt x="95250" y="15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4768215" y="5239702"/>
              <a:ext cx="13228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运行注册表 _runs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502468" y="551449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dict[int, EvaluationRun]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502468" y="5724049"/>
              <a:ext cx="24384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守护线程 + 独立 Session，TTL 300 秒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039100" y="5048250"/>
            <a:ext cx="3524250" cy="895350"/>
            <a:chOff x="8039100" y="5048250"/>
            <a:chExt cx="3524250" cy="895350"/>
          </a:xfrm>
        </p:grpSpPr>
        <p:sp>
          <p:nvSpPr>
            <p:cNvPr id="85" name="Rectangle 85"/>
            <p:cNvSpPr/>
            <p:nvPr/>
          </p:nvSpPr>
          <p:spPr>
            <a:xfrm>
              <a:off x="8039100" y="5048250"/>
              <a:ext cx="3524250" cy="895350"/>
            </a:xfrm>
            <a:prstGeom prst="roundRect">
              <a:avLst>
                <a:gd name="adj" fmla="val 8511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8253412" y="5232400"/>
              <a:ext cx="142876" cy="127000"/>
              <a:chOff x="8253412" y="5232400"/>
              <a:chExt cx="142876" cy="1270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8253412" y="5295900"/>
                <a:ext cx="14287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9687">
                    <a:moveTo>
                      <a:pt x="142875" y="39687"/>
                    </a:moveTo>
                    <a:lnTo>
                      <a:pt x="79375" y="39687"/>
                    </a:lnTo>
                    <a:lnTo>
                      <a:pt x="51594" y="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305046" y="5256212"/>
                <a:ext cx="91242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1242" h="39687">
                    <a:moveTo>
                      <a:pt x="91242" y="0"/>
                    </a:moveTo>
                    <a:lnTo>
                      <a:pt x="27742" y="0"/>
                    </a:ln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372475" y="5232400"/>
                <a:ext cx="2381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7625">
                    <a:moveTo>
                      <a:pt x="0" y="47625"/>
                    </a:moveTo>
                    <a:lnTo>
                      <a:pt x="23812" y="238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372475" y="5311775"/>
                <a:ext cx="2381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7625">
                    <a:moveTo>
                      <a:pt x="0" y="47625"/>
                    </a:moveTo>
                    <a:lnTo>
                      <a:pt x="23812" y="238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8482965" y="52397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业务与传输分离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217218" y="551449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编排同步 · SSE 只是传输适配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217218" y="572404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业务逻辑因此可脱离异步设施单测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/>
      <p:bldP spid="40" grpId="0"/>
      <p:bldP spid="70" grpId="0"/>
      <p:bldP spid="76" grpId="0"/>
      <p:bldP spid="84" grpId="0"/>
      <p:bldP spid="9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661217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模块③ evaluation：SSE 对象交互序列图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P25 / 35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1485900"/>
            <a:ext cx="11030357" cy="2419350"/>
            <a:chOff x="552450" y="1485900"/>
            <a:chExt cx="11030357" cy="2419350"/>
          </a:xfrm>
        </p:grpSpPr>
        <p:sp>
          <p:nvSpPr>
            <p:cNvPr id="11" name="Rectangle 11"/>
            <p:cNvSpPr/>
            <p:nvPr/>
          </p:nvSpPr>
          <p:spPr>
            <a:xfrm>
              <a:off x="552450" y="1485900"/>
              <a:ext cx="118110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4544" y="161734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浏览器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143000" y="18478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4" name="Rectangle 14"/>
            <p:cNvSpPr/>
            <p:nvPr/>
          </p:nvSpPr>
          <p:spPr>
            <a:xfrm>
              <a:off x="3028950" y="1485900"/>
              <a:ext cx="118110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80342" y="1617345"/>
              <a:ext cx="4783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router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619500" y="18478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05450" y="1485900"/>
              <a:ext cx="118110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43040" y="1617345"/>
              <a:ext cx="505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stream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0" y="18478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0" name="Rectangle 20"/>
            <p:cNvSpPr/>
            <p:nvPr/>
          </p:nvSpPr>
          <p:spPr>
            <a:xfrm>
              <a:off x="7981950" y="1485900"/>
              <a:ext cx="118110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85035" y="16173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后台线程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572500" y="18478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63200" y="1485900"/>
              <a:ext cx="118110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24693" y="1617345"/>
              <a:ext cx="12581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repository·MySQL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0953750" y="18478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85850" y="1981200"/>
            <a:ext cx="9925050" cy="1866900"/>
            <a:chOff x="1085850" y="1981200"/>
            <a:chExt cx="9925050" cy="1866900"/>
          </a:xfrm>
        </p:grpSpPr>
        <p:sp>
          <p:nvSpPr>
            <p:cNvPr id="27" name="Rectangle 27"/>
            <p:cNvSpPr/>
            <p:nvPr/>
          </p:nvSpPr>
          <p:spPr>
            <a:xfrm>
              <a:off x="1085850" y="1981200"/>
              <a:ext cx="114300" cy="18669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562350" y="2019300"/>
              <a:ext cx="114300" cy="13335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38850" y="2057400"/>
              <a:ext cx="114300" cy="17907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515350" y="3238500"/>
              <a:ext cx="114300" cy="6096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896600" y="3486150"/>
              <a:ext cx="114300" cy="152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200150" y="1894999"/>
            <a:ext cx="9677400" cy="1931670"/>
            <a:chOff x="1200150" y="1894999"/>
            <a:chExt cx="9677400" cy="1931670"/>
          </a:xfrm>
        </p:grpSpPr>
        <p:sp>
          <p:nvSpPr>
            <p:cNvPr id="33" name="Line 33"/>
            <p:cNvSpPr/>
            <p:nvPr/>
          </p:nvSpPr>
          <p:spPr>
            <a:xfrm>
              <a:off x="1200150" y="2057400"/>
              <a:ext cx="23431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789747" y="18949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 POST /evaluate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3676650" y="2305050"/>
              <a:ext cx="23431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056209" y="2142649"/>
              <a:ext cx="15840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2 stream.start_run()</a:t>
              </a:r>
            </a:p>
          </p:txBody>
        </p:sp>
        <p:sp>
          <p:nvSpPr>
            <p:cNvPr id="37" name="Line 37"/>
            <p:cNvSpPr/>
            <p:nvPr/>
          </p:nvSpPr>
          <p:spPr>
            <a:xfrm flipH="1">
              <a:off x="1219200" y="2552700"/>
              <a:ext cx="4819650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149935" y="2390299"/>
              <a:ext cx="29581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3 202 + SSE 地址（立即返回，不起前台阻塞）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1200150" y="2800350"/>
              <a:ext cx="48196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141565" y="2637949"/>
              <a:ext cx="29368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4 GET /evaluation/stream（fetch 长连接）</a:t>
              </a:r>
            </a:p>
          </p:txBody>
        </p:sp>
        <p:sp>
          <p:nvSpPr>
            <p:cNvPr id="41" name="Line 41"/>
            <p:cNvSpPr/>
            <p:nvPr/>
          </p:nvSpPr>
          <p:spPr>
            <a:xfrm flipH="1">
              <a:off x="1219200" y="3048000"/>
              <a:ext cx="4819650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253174" y="2885599"/>
              <a:ext cx="27517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5 重放已推事件 → 转发新事件 → 终结后关闭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153150" y="3295650"/>
              <a:ext cx="23431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09394" y="3133249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6 evaluate_interview(db, id, publish)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629650" y="3543300"/>
              <a:ext cx="22479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182302" y="33808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7 落库（单事务）</a:t>
              </a:r>
            </a:p>
          </p:txBody>
        </p:sp>
        <p:sp>
          <p:nvSpPr>
            <p:cNvPr id="47" name="Line 47"/>
            <p:cNvSpPr/>
            <p:nvPr/>
          </p:nvSpPr>
          <p:spPr>
            <a:xfrm flipH="1">
              <a:off x="1219200" y="3790950"/>
              <a:ext cx="7296150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975229" y="3628549"/>
              <a:ext cx="3784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8 publish_terminal("done" / "error") → 浏览器关闭连接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0" y="2933700"/>
            <a:ext cx="2171700" cy="211931"/>
            <a:chOff x="6286500" y="2933700"/>
            <a:chExt cx="2171700" cy="211931"/>
          </a:xfrm>
        </p:grpSpPr>
        <p:sp>
          <p:nvSpPr>
            <p:cNvPr id="50" name="Rectangle 50"/>
            <p:cNvSpPr/>
            <p:nvPr/>
          </p:nvSpPr>
          <p:spPr>
            <a:xfrm>
              <a:off x="6286500" y="2933700"/>
              <a:ext cx="2171700" cy="190500"/>
            </a:xfrm>
            <a:prstGeom prst="roundRect">
              <a:avLst>
                <a:gd name="adj" fmla="val 20000"/>
              </a:avLst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79869" y="2977991"/>
              <a:ext cx="19849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订阅 + 取快照 + 读状态在同一把锁内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9600" y="4152900"/>
            <a:ext cx="10972800" cy="1790700"/>
            <a:chOff x="609600" y="4152900"/>
            <a:chExt cx="10972800" cy="1790700"/>
          </a:xfrm>
        </p:grpSpPr>
        <p:sp>
          <p:nvSpPr>
            <p:cNvPr id="53" name="Rectangle 53"/>
            <p:cNvSpPr/>
            <p:nvPr/>
          </p:nvSpPr>
          <p:spPr>
            <a:xfrm>
              <a:off x="609600" y="4152900"/>
              <a:ext cx="10972800" cy="1790700"/>
            </a:xfrm>
            <a:prstGeom prst="roundRect">
              <a:avLst>
                <a:gd name="adj" fmla="val 4255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3912" y="4317206"/>
              <a:ext cx="1055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SSE 事件契约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905000" y="4381500"/>
              <a:ext cx="9677400" cy="9525"/>
            </a:xfrm>
            <a:custGeom>
              <a:avLst/>
              <a:gdLst/>
              <a:ahLst/>
              <a:cxnLst/>
              <a:rect l="l" t="t" r="r" b="b"/>
              <a:pathLst>
                <a:path w="9677400" h="9525">
                  <a:moveTo>
                    <a:pt x="0" y="0"/>
                  </a:moveTo>
                  <a:lnTo>
                    <a:pt x="96774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38200" y="4591050"/>
              <a:ext cx="1333500" cy="32385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97090" y="46953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question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2209800" y="4752975"/>
              <a:ext cx="2857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59" name="Rectangle 59"/>
            <p:cNvSpPr/>
            <p:nvPr/>
          </p:nvSpPr>
          <p:spPr>
            <a:xfrm>
              <a:off x="2552700" y="4591050"/>
              <a:ext cx="1428750" cy="32385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923615" y="4695349"/>
              <a:ext cx="6869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dimension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4019550" y="4752975"/>
              <a:ext cx="2857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362450" y="4591050"/>
              <a:ext cx="1238250" cy="32385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734235" y="4695349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report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5638800" y="4752975"/>
              <a:ext cx="2857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981700" y="4591050"/>
              <a:ext cx="1866900" cy="323850"/>
            </a:xfrm>
            <a:prstGeom prst="roundRect">
              <a:avLst>
                <a:gd name="adj" fmla="val 17647"/>
              </a:avLst>
            </a:prstGeom>
            <a:solidFill>
              <a:srgbClr val="2E7D32">
                <a:alpha val="10000"/>
              </a:srgbClr>
            </a:solidFill>
            <a:ln w="14288">
              <a:solidFill>
                <a:srgbClr val="2E7D3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13094" y="4695349"/>
              <a:ext cx="1004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done ｜ error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41018" y="4600099"/>
              <a:ext cx="1996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done 与 error 互斥且必居其一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41018" y="4809649"/>
              <a:ext cx="1690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question 按 seq 升序推送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141018" y="5019199"/>
              <a:ext cx="2708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每 </a:t>
              </a:r>
              <a:r>
                <a:rPr lang="zh-CN" sz="975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15 秒</a:t>
              </a:r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一个 </a:t>
              </a:r>
              <a:r>
                <a:rPr lang="zh-CN" sz="97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: ping</a:t>
              </a:r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 心跳，防代理空闲断开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838200" y="535305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5818" y="5495449"/>
              <a:ext cx="59841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前端注意：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SSE 需要 </a:t>
              </a:r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Authorization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头，而浏览器原生 </a:t>
              </a:r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EventSource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无法设置自定义请求头。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5818" y="5704999"/>
              <a:ext cx="56851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因此必须用 </a:t>
              </a:r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fetch + ReadableStream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手动解析 SSE 分帧，而不能直接用 </a:t>
              </a:r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EventSource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49" grpId="0"/>
      <p:bldP spid="52" grpId="0"/>
      <p:bldP spid="7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515839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模块③ evaluation：问题与解决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P26 / 35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409700"/>
            <a:ext cx="10972800" cy="866775"/>
            <a:chOff x="609600" y="1409700"/>
            <a:chExt cx="10972800" cy="866775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4191000" cy="781050"/>
            </a:xfrm>
            <a:prstGeom prst="roundRect">
              <a:avLst>
                <a:gd name="adj" fmla="val 9756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28575" cy="7810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14859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7499" y="15397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175069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评估跑了一半，界面永远停在半截 —— 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192214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「终结事件」与「运行状态」分两次写，读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570" y="209359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侧会读到「状态已终结、事件尚未入列」。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53000" y="1409700"/>
              <a:ext cx="6629400" cy="781050"/>
            </a:xfrm>
            <a:prstGeom prst="roundRect">
              <a:avLst>
                <a:gd name="adj" fmla="val 9756"/>
              </a:avLst>
            </a:prstGeom>
            <a:solidFill>
              <a:srgbClr val="2E7D32">
                <a:alpha val="5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953000" y="1409700"/>
              <a:ext cx="28575" cy="7810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105400" y="14859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16057" y="15397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93970" y="1750695"/>
              <a:ext cx="60824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publish_terminal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把两者在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同一把锁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内写入；</a:t>
              </a:r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stream_events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也在同一把锁内读「事件列表 + 状态」。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93970" y="1922145"/>
              <a:ext cx="34732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两边配合保证「状态已终结 ⇒ 终结事件必在重放序列中」——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93970" y="2093595"/>
              <a:ext cx="28357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客户端不会既收不到 done / error、又不报错。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2247900"/>
            <a:ext cx="10972800" cy="866775"/>
            <a:chOff x="609600" y="2247900"/>
            <a:chExt cx="10972800" cy="866775"/>
          </a:xfrm>
        </p:grpSpPr>
        <p:sp>
          <p:nvSpPr>
            <p:cNvPr id="26" name="Rectangle 26"/>
            <p:cNvSpPr/>
            <p:nvPr/>
          </p:nvSpPr>
          <p:spPr>
            <a:xfrm>
              <a:off x="609600" y="2247900"/>
              <a:ext cx="4191000" cy="781050"/>
            </a:xfrm>
            <a:prstGeom prst="roundRect">
              <a:avLst>
                <a:gd name="adj" fmla="val 9756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" y="2247900"/>
              <a:ext cx="28575" cy="7810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23241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7499" y="23779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0570" y="258889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订阅与取快照之间的空隙会漏事件 —— 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0570" y="276034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先取快照再订阅，两步之间 publish 的事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0570" y="2931795"/>
              <a:ext cx="2125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件既不在快照里、也到不了订阅者。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953000" y="2247900"/>
              <a:ext cx="6629400" cy="781050"/>
            </a:xfrm>
            <a:prstGeom prst="roundRect">
              <a:avLst>
                <a:gd name="adj" fmla="val 9756"/>
              </a:avLst>
            </a:prstGeom>
            <a:solidFill>
              <a:srgbClr val="2E7D32">
                <a:alpha val="5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953000" y="2247900"/>
              <a:ext cx="28575" cy="7810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05400" y="23241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16057" y="23779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93970" y="2588895"/>
              <a:ext cx="43605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把「订阅 + 取快照 + 读状态」合并进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同一把锁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内原子完成 —— 三步之间不再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93970" y="2760345"/>
              <a:ext cx="54055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存在可被 publish 插入的窗口，因此不会出现「事件既不在快照、又没投给订阅者」的组合。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93970" y="293179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客户端因此不会看到跳号。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3086100"/>
            <a:ext cx="10972800" cy="866775"/>
            <a:chOff x="609600" y="3086100"/>
            <a:chExt cx="10972800" cy="866775"/>
          </a:xfrm>
        </p:grpSpPr>
        <p:sp>
          <p:nvSpPr>
            <p:cNvPr id="41" name="Rectangle 41"/>
            <p:cNvSpPr/>
            <p:nvPr/>
          </p:nvSpPr>
          <p:spPr>
            <a:xfrm>
              <a:off x="609600" y="3086100"/>
              <a:ext cx="4191000" cy="781050"/>
            </a:xfrm>
            <a:prstGeom prst="roundRect">
              <a:avLst>
                <a:gd name="adj" fmla="val 9756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" y="3086100"/>
              <a:ext cx="28575" cy="7810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2000" y="31623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7499" y="32161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0570" y="34270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客户端在重放期间断开，订阅者永久留在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0570" y="359854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名单里 —— 之后每个事件都往没人消费的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0570" y="376999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队列里投递，内存单调增长。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953000" y="3086100"/>
              <a:ext cx="6629400" cy="781050"/>
            </a:xfrm>
            <a:prstGeom prst="roundRect">
              <a:avLst>
                <a:gd name="adj" fmla="val 9756"/>
              </a:avLst>
            </a:prstGeom>
            <a:solidFill>
              <a:srgbClr val="2E7D32">
                <a:alpha val="5000"/>
              </a:srgb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953000" y="3086100"/>
              <a:ext cx="28575" cy="7810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105400" y="31623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16057" y="32161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93970" y="3427095"/>
              <a:ext cx="40450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try 必须覆盖重放循环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</a:t>
              </a:r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finally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里移除订阅者。若重放不在 try 内，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93970" y="3598545"/>
              <a:ext cx="35784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生成器在 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yield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处收到 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GeneratorExit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时 finally 不会执行。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93970" y="37699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这是「位置放错一行就漏内存」的典型。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9600" y="3924300"/>
            <a:ext cx="10972800" cy="866775"/>
            <a:chOff x="609600" y="3924300"/>
            <a:chExt cx="10972800" cy="866775"/>
          </a:xfrm>
        </p:grpSpPr>
        <p:sp>
          <p:nvSpPr>
            <p:cNvPr id="56" name="Rectangle 56"/>
            <p:cNvSpPr/>
            <p:nvPr/>
          </p:nvSpPr>
          <p:spPr>
            <a:xfrm>
              <a:off x="609600" y="3924300"/>
              <a:ext cx="4191000" cy="781050"/>
            </a:xfrm>
            <a:prstGeom prst="roundRect">
              <a:avLst>
                <a:gd name="adj" fmla="val 9756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9600" y="3924300"/>
              <a:ext cx="28575" cy="7810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62000" y="40005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7499" y="40543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0570" y="42652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重评时，上一轮的延时回收定时器会误删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0570" y="443674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新一轮的运行记录 —— 于是重连的人拿不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0570" y="4608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到进度。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953000" y="3924300"/>
              <a:ext cx="6629400" cy="781050"/>
            </a:xfrm>
            <a:prstGeom prst="roundRect">
              <a:avLst>
                <a:gd name="adj" fmla="val 9756"/>
              </a:avLst>
            </a:prstGeom>
            <a:solidFill>
              <a:srgbClr val="2E7D32">
                <a:alpha val="5000"/>
              </a:srgbClr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953000" y="3924300"/>
              <a:ext cx="28575" cy="7810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105400" y="40005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16057" y="40543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93970" y="4265295"/>
              <a:ext cx="43802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_evict_if_current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做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身份校验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_runs.get(id) is run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），只回收仍是当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093970" y="4436745"/>
              <a:ext cx="54449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前这一轮的记录。上一轮的定时器醒来时，发现「现在这个 run 不是我」，于是什么都不做。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093970" y="4608195"/>
              <a:ext cx="3571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判据是对象身份，而不是面试 id —— id 相同恰恰是问题所在。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09600" y="4762500"/>
            <a:ext cx="10972800" cy="866775"/>
            <a:chOff x="609600" y="4762500"/>
            <a:chExt cx="10972800" cy="866775"/>
          </a:xfrm>
        </p:grpSpPr>
        <p:sp>
          <p:nvSpPr>
            <p:cNvPr id="71" name="Rectangle 71"/>
            <p:cNvSpPr/>
            <p:nvPr/>
          </p:nvSpPr>
          <p:spPr>
            <a:xfrm>
              <a:off x="609600" y="4762500"/>
              <a:ext cx="4191000" cy="781050"/>
            </a:xfrm>
            <a:prstGeom prst="roundRect">
              <a:avLst>
                <a:gd name="adj" fmla="val 9756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09600" y="4762500"/>
              <a:ext cx="28575" cy="7810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62000" y="48387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47499" y="48925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问题五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0570" y="510349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进程重启遗留下的孤儿评估 —— 状态卡在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0570" y="527494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evaluating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，而运行注册表是空的：没人会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0570" y="5446395"/>
              <a:ext cx="22574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再来推进它，也永远不会有终结事件。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4953000" y="4762500"/>
              <a:ext cx="6629400" cy="781050"/>
            </a:xfrm>
            <a:prstGeom prst="roundRect">
              <a:avLst>
                <a:gd name="adj" fmla="val 9756"/>
              </a:avLst>
            </a:prstGeom>
            <a:solidFill>
              <a:srgbClr val="2E7D32">
                <a:alpha val="5000"/>
              </a:srgbClr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4953000" y="4762500"/>
              <a:ext cx="28575" cy="7810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105400" y="48387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216057" y="48925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093970" y="5103495"/>
              <a:ext cx="42422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heal_orphan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以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注册表为「评估是否真在跑」的唯一事实来源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，按与失败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093970" y="5274945"/>
              <a:ext cx="49257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回退相同的规则自愈：注册表里没有 ⇒ 认定它没在跑 ⇒ 按「库里有无旧报告」回退到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093970" y="5446395"/>
              <a:ext cx="39924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evaluated 或 completed。两个目标都在状态迁移表的允许范围内。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09600" y="5638800"/>
            <a:ext cx="10972800" cy="381000"/>
            <a:chOff x="609600" y="5638800"/>
            <a:chExt cx="10972800" cy="381000"/>
          </a:xfrm>
        </p:grpSpPr>
        <p:sp>
          <p:nvSpPr>
            <p:cNvPr id="86" name="Rectangle 86"/>
            <p:cNvSpPr/>
            <p:nvPr/>
          </p:nvSpPr>
          <p:spPr>
            <a:xfrm>
              <a:off x="609600" y="5638800"/>
              <a:ext cx="10972800" cy="381000"/>
            </a:xfrm>
            <a:prstGeom prst="roundRect">
              <a:avLst>
                <a:gd name="adj" fmla="val 20000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835025" y="5746556"/>
              <a:ext cx="139700" cy="146438"/>
              <a:chOff x="835025" y="5746556"/>
              <a:chExt cx="139700" cy="146438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835025" y="5746556"/>
                <a:ext cx="139700" cy="64488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64488">
                    <a:moveTo>
                      <a:pt x="139700" y="64488"/>
                    </a:moveTo>
                    <a:cubicBezTo>
                      <a:pt x="135311" y="32903"/>
                      <a:pt x="110327" y="8162"/>
                      <a:pt x="78701" y="4081"/>
                    </a:cubicBezTo>
                    <a:cubicBezTo>
                      <a:pt x="47074" y="0"/>
                      <a:pt x="16629" y="17589"/>
                      <a:pt x="4366" y="47025"/>
                    </a:cubicBezTo>
                    <a:moveTo>
                      <a:pt x="0" y="12100"/>
                    </a:moveTo>
                    <a:lnTo>
                      <a:pt x="0" y="47025"/>
                    </a:lnTo>
                    <a:lnTo>
                      <a:pt x="34925" y="4702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35025" y="5828506"/>
                <a:ext cx="139700" cy="64488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64488">
                    <a:moveTo>
                      <a:pt x="0" y="0"/>
                    </a:moveTo>
                    <a:cubicBezTo>
                      <a:pt x="4389" y="31585"/>
                      <a:pt x="29373" y="56326"/>
                      <a:pt x="60999" y="60407"/>
                    </a:cubicBezTo>
                    <a:cubicBezTo>
                      <a:pt x="92626" y="64488"/>
                      <a:pt x="123071" y="46899"/>
                      <a:pt x="135334" y="17463"/>
                    </a:cubicBezTo>
                    <a:moveTo>
                      <a:pt x="139700" y="52388"/>
                    </a:moveTo>
                    <a:lnTo>
                      <a:pt x="139700" y="17463"/>
                    </a:lnTo>
                    <a:lnTo>
                      <a:pt x="104775" y="17463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1091565" y="5763578"/>
              <a:ext cx="8622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重连会从头重放是</a:t>
              </a:r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设计特性而非缺陷</a:t>
              </a:r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前端必须按 </a:t>
              </a:r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interview_question_id</a:t>
              </a:r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覆盖，而不是「来一条加一条」，否则进度会翻倍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  <p:bldP spid="55" grpId="0"/>
      <p:bldP spid="70" grpId="0"/>
      <p:bldP spid="85" grpId="0"/>
      <p:bldP spid="9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650176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模块④ interview：作答邀请的并发接受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P27 / 35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1409700"/>
            <a:ext cx="5105400" cy="3352800"/>
            <a:chOff x="609600" y="1409700"/>
            <a:chExt cx="5105400" cy="3352800"/>
          </a:xfrm>
        </p:grpSpPr>
        <p:sp>
          <p:nvSpPr>
            <p:cNvPr id="11" name="Rectangle 11"/>
            <p:cNvSpPr/>
            <p:nvPr/>
          </p:nvSpPr>
          <p:spPr>
            <a:xfrm>
              <a:off x="609600" y="1733550"/>
              <a:ext cx="5105400" cy="3028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" y="1409700"/>
              <a:ext cx="5105400" cy="323850"/>
            </a:xfrm>
            <a:custGeom>
              <a:avLst/>
              <a:gdLst/>
              <a:ahLst/>
              <a:cxnLst/>
              <a:rect l="l" t="t" r="r" b="b"/>
              <a:pathLst>
                <a:path w="5105400" h="323850">
                  <a:moveTo>
                    <a:pt x="76200" y="0"/>
                  </a:moveTo>
                  <a:lnTo>
                    <a:pt x="5029200" y="0"/>
                  </a:lnTo>
                  <a:cubicBezTo>
                    <a:pt x="5071284" y="0"/>
                    <a:pt x="5105400" y="34116"/>
                    <a:pt x="5105400" y="76200"/>
                  </a:cubicBezTo>
                  <a:lnTo>
                    <a:pt x="5105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3EDF9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85812" y="1517650"/>
              <a:ext cx="127001" cy="127000"/>
              <a:chOff x="785812" y="1517650"/>
              <a:chExt cx="127001" cy="127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85812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15875" y="0"/>
                    </a:moveTo>
                    <a:lnTo>
                      <a:pt x="0" y="15875"/>
                    </a:lnTo>
                    <a:lnTo>
                      <a:pt x="15875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7250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0" y="0"/>
                    </a:moveTo>
                    <a:lnTo>
                      <a:pt x="15875" y="15875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5500" y="15176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1688" y="15335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95250" y="0"/>
                    </a:move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95250"/>
                    </a:lnTo>
                    <a:cubicBezTo>
                      <a:pt x="111125" y="104018"/>
                      <a:pt x="104018" y="111125"/>
                      <a:pt x="9525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8"/>
                      <a:pt x="0" y="95250"/>
                    </a:cubicBez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7270" y="1531620"/>
              <a:ext cx="28555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backend/app/interview/service.py:1094-1116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1409700"/>
              <a:ext cx="5105400" cy="3352800"/>
            </a:xfrm>
            <a:prstGeom prst="roundRect">
              <a:avLst>
                <a:gd name="adj" fmla="val 2273"/>
              </a:avLst>
            </a:prstGeom>
            <a:noFill/>
            <a:ln w="9525">
              <a:solidFill>
                <a:srgbClr val="DCE5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6765" y="1810702"/>
              <a:ext cx="40521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candidate = auth_service.create_candidate_account(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19631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db, username, password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765" y="21155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2267902"/>
              <a:ext cx="30707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# ---- 临界区：一次性接受必须串行化 ----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2420302"/>
              <a:ext cx="33084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加锁放在 create_candidate_account 之后：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2572702"/>
              <a:ext cx="31933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新建账号会 commit，而 commit 释放本事务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2725102"/>
              <a:ext cx="2411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已持有的锁 —— 先加锁等于白加。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2877502"/>
              <a:ext cx="42208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repository.lock_interview(db, invitation.interview_id)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765" y="3029902"/>
              <a:ext cx="3530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用当前读：本事务快照可能早于并发事务的提交，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765" y="3182302"/>
              <a:ext cx="29173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快照读会漏判这条已被写入的接受记录。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6765" y="3334702"/>
              <a:ext cx="3001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if repository.get_accepted_invitation(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765" y="3487102"/>
              <a:ext cx="45275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db, invitation.interview_id, candidate.id, for_update=True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3639502"/>
              <a:ext cx="10541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) is not None: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765" y="3791902"/>
              <a:ext cx="35384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raise BusinessError("你已接受过该面试的邀请")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6765" y="3944302"/>
              <a:ext cx="32240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同一条码被并发接受：拿到锁后重新当前读，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6765" y="4096702"/>
              <a:ext cx="16752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确认它仍是 pending。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6765" y="4249102"/>
              <a:ext cx="36457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invitation = repository.get_invitation_by_code(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6765" y="4401502"/>
              <a:ext cx="20585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db, code, for_update=True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172200" y="1600200"/>
            <a:ext cx="4953000" cy="1574006"/>
            <a:chOff x="6172200" y="1600200"/>
            <a:chExt cx="4953000" cy="1574006"/>
          </a:xfrm>
        </p:grpSpPr>
        <p:sp>
          <p:nvSpPr>
            <p:cNvPr id="39" name="Rectangle 39"/>
            <p:cNvSpPr/>
            <p:nvPr/>
          </p:nvSpPr>
          <p:spPr>
            <a:xfrm>
              <a:off x="6172200" y="1600200"/>
              <a:ext cx="2286000" cy="4191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9464" y="1675924"/>
              <a:ext cx="1491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请求 A accept(code₁)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02266" y="1854041"/>
              <a:ext cx="12258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同一候选人的第一条码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839200" y="1600200"/>
              <a:ext cx="2286000" cy="4191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36464" y="1675924"/>
              <a:ext cx="1491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请求 B accept(code₂)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69266" y="1854041"/>
              <a:ext cx="12258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同一候选人的第二条码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315200" y="2019300"/>
              <a:ext cx="1" cy="1524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6" name="Line 46"/>
            <p:cNvSpPr/>
            <p:nvPr/>
          </p:nvSpPr>
          <p:spPr>
            <a:xfrm>
              <a:off x="9982200" y="2019300"/>
              <a:ext cx="1" cy="1524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172200" y="2209800"/>
              <a:ext cx="4953000" cy="342900"/>
            </a:xfrm>
            <a:prstGeom prst="roundRect">
              <a:avLst>
                <a:gd name="adj" fmla="val 16667"/>
              </a:avLst>
            </a:prstGeom>
            <a:solidFill>
              <a:srgbClr val="C62828">
                <a:alpha val="10000"/>
              </a:srgbClr>
            </a:solidFill>
            <a:ln w="14288">
              <a:solidFill>
                <a:srgbClr val="C62828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379369" y="2316956"/>
              <a:ext cx="100012" cy="128588"/>
              <a:chOff x="6379369" y="2316956"/>
              <a:chExt cx="100012" cy="12858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379369" y="2374106"/>
                <a:ext cx="1000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71438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85725" y="0"/>
                    </a:lnTo>
                    <a:cubicBezTo>
                      <a:pt x="93616" y="0"/>
                      <a:pt x="100012" y="6397"/>
                      <a:pt x="100012" y="14288"/>
                    </a:cubicBezTo>
                    <a:lnTo>
                      <a:pt x="100012" y="57150"/>
                    </a:lnTo>
                    <a:cubicBezTo>
                      <a:pt x="100012" y="65041"/>
                      <a:pt x="93616" y="71438"/>
                      <a:pt x="85725" y="71438"/>
                    </a:cubicBezTo>
                    <a:lnTo>
                      <a:pt x="14288" y="71438"/>
                    </a:lnTo>
                    <a:cubicBezTo>
                      <a:pt x="6397" y="71438"/>
                      <a:pt x="0" y="65041"/>
                      <a:pt x="0" y="57150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422231" y="2402681"/>
                <a:ext cx="14288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14288">
                    <a:moveTo>
                      <a:pt x="0" y="7144"/>
                    </a:moveTo>
                    <a:cubicBezTo>
                      <a:pt x="0" y="11089"/>
                      <a:pt x="3198" y="14288"/>
                      <a:pt x="7144" y="14288"/>
                    </a:cubicBezTo>
                    <a:cubicBezTo>
                      <a:pt x="11089" y="14288"/>
                      <a:pt x="14288" y="11089"/>
                      <a:pt x="14288" y="7144"/>
                    </a:cubicBezTo>
                    <a:cubicBezTo>
                      <a:pt x="14288" y="3198"/>
                      <a:pt x="11089" y="0"/>
                      <a:pt x="7144" y="0"/>
                    </a:cubicBezTo>
                    <a:cubicBezTo>
                      <a:pt x="3198" y="0"/>
                      <a:pt x="0" y="3198"/>
                      <a:pt x="0" y="7144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400800" y="2316956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597968" y="2323624"/>
              <a:ext cx="1505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SELECT … FOR UPDATE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19483" y="2331720"/>
              <a:ext cx="2145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面试行锁 · 串行化同一场面试的接受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7315200" y="2552700"/>
              <a:ext cx="1" cy="1524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55" name="Line 55"/>
            <p:cNvSpPr/>
            <p:nvPr/>
          </p:nvSpPr>
          <p:spPr>
            <a:xfrm>
              <a:off x="9982200" y="2552700"/>
              <a:ext cx="1" cy="1524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172200" y="2743200"/>
              <a:ext cx="2286000" cy="419100"/>
            </a:xfrm>
            <a:prstGeom prst="roundRect">
              <a:avLst>
                <a:gd name="adj" fmla="val 13636"/>
              </a:avLst>
            </a:prstGeom>
            <a:solidFill>
              <a:srgbClr val="2E7D32">
                <a:alpha val="8000"/>
              </a:srgbClr>
            </a:solidFill>
            <a:ln w="14288">
              <a:solidFill>
                <a:srgbClr val="2E7D3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31871" y="2828449"/>
              <a:ext cx="17666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① 先到者：写入绑定 → 200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43249" y="3006566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接受记录落库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839200" y="2743200"/>
              <a:ext cx="2286000" cy="419100"/>
            </a:xfrm>
            <a:prstGeom prst="roundRect">
              <a:avLst>
                <a:gd name="adj" fmla="val 13636"/>
              </a:avLst>
            </a:prstGeom>
            <a:solidFill>
              <a:srgbClr val="C62828">
                <a:alpha val="8000"/>
              </a:srgbClr>
            </a:solidFill>
            <a:ln w="14288">
              <a:solidFill>
                <a:srgbClr val="C6282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072705" y="2828449"/>
              <a:ext cx="18189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② 后到者：复查命中 → 拒绝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88529" y="3006566"/>
              <a:ext cx="15873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「你已接受过该面试的邀请」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172200" y="3390900"/>
            <a:ext cx="5029200" cy="1371600"/>
            <a:chOff x="6172200" y="3390900"/>
            <a:chExt cx="5029200" cy="1371600"/>
          </a:xfrm>
        </p:grpSpPr>
        <p:sp>
          <p:nvSpPr>
            <p:cNvPr id="63" name="Rectangle 63"/>
            <p:cNvSpPr/>
            <p:nvPr/>
          </p:nvSpPr>
          <p:spPr>
            <a:xfrm>
              <a:off x="6172200" y="3390900"/>
              <a:ext cx="4953000" cy="1371600"/>
            </a:xfrm>
            <a:prstGeom prst="roundRect">
              <a:avLst>
                <a:gd name="adj" fmla="val 555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49365" y="3544252"/>
              <a:ext cx="2144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四种失效原因 · 返回同一文案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362700" y="3790950"/>
              <a:ext cx="1123950" cy="2667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50355" y="38747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码不存在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600950" y="3790950"/>
              <a:ext cx="1123950" cy="2667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954327" y="387477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已撤销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839200" y="3790950"/>
              <a:ext cx="1123950" cy="2667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192578" y="387477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已接受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077450" y="3790950"/>
              <a:ext cx="1123950" cy="2667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430828" y="387477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已过期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50318" y="4200049"/>
              <a:ext cx="46812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响应里</a:t>
              </a:r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不出现任何面试信息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否则这个公开端点会变成邀请码探测接口。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350318" y="4428649"/>
              <a:ext cx="4716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码为 </a:t>
              </a:r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secrets.token_urlsafe(16)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：22 个 URL-safe 字符、约 128 位熵。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609600" y="4953000"/>
            <a:ext cx="10972800" cy="1000125"/>
            <a:chOff x="609600" y="4953000"/>
            <a:chExt cx="10972800" cy="1000125"/>
          </a:xfrm>
        </p:grpSpPr>
        <p:sp>
          <p:nvSpPr>
            <p:cNvPr id="76" name="Rectangle 76"/>
            <p:cNvSpPr/>
            <p:nvPr/>
          </p:nvSpPr>
          <p:spPr>
            <a:xfrm>
              <a:off x="609600" y="4953000"/>
              <a:ext cx="3505200" cy="9906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823912" y="5129214"/>
              <a:ext cx="142873" cy="142873"/>
              <a:chOff x="823912" y="5129214"/>
              <a:chExt cx="142873" cy="14287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23912" y="5129214"/>
                <a:ext cx="142873" cy="142873"/>
              </a:xfrm>
              <a:custGeom>
                <a:avLst/>
                <a:gdLst/>
                <a:ahLst/>
                <a:cxnLst/>
                <a:rect l="l" t="t" r="r" b="b"/>
                <a:pathLst>
                  <a:path w="142873" h="142873">
                    <a:moveTo>
                      <a:pt x="107593" y="6690"/>
                    </a:moveTo>
                    <a:lnTo>
                      <a:pt x="136184" y="35281"/>
                    </a:lnTo>
                    <a:cubicBezTo>
                      <a:pt x="140467" y="39563"/>
                      <a:pt x="142873" y="45372"/>
                      <a:pt x="142873" y="51430"/>
                    </a:cubicBezTo>
                    <a:cubicBezTo>
                      <a:pt x="142873" y="57487"/>
                      <a:pt x="140467" y="63296"/>
                      <a:pt x="136184" y="67578"/>
                    </a:cubicBezTo>
                    <a:lnTo>
                      <a:pt x="115205" y="88557"/>
                    </a:lnTo>
                    <a:cubicBezTo>
                      <a:pt x="110922" y="92841"/>
                      <a:pt x="105113" y="95247"/>
                      <a:pt x="99056" y="95247"/>
                    </a:cubicBezTo>
                    <a:cubicBezTo>
                      <a:pt x="92999" y="95247"/>
                      <a:pt x="87190" y="92841"/>
                      <a:pt x="82907" y="88557"/>
                    </a:cubicBezTo>
                    <a:lnTo>
                      <a:pt x="80518" y="86168"/>
                    </a:lnTo>
                    <a:lnTo>
                      <a:pt x="28464" y="138222"/>
                    </a:lnTo>
                    <a:cubicBezTo>
                      <a:pt x="25826" y="140859"/>
                      <a:pt x="22345" y="142483"/>
                      <a:pt x="18629" y="142810"/>
                    </a:cubicBezTo>
                    <a:lnTo>
                      <a:pt x="17240" y="142873"/>
                    </a:lnTo>
                    <a:lnTo>
                      <a:pt x="7937" y="142873"/>
                    </a:lnTo>
                    <a:cubicBezTo>
                      <a:pt x="3913" y="142873"/>
                      <a:pt x="526" y="139861"/>
                      <a:pt x="56" y="135865"/>
                    </a:cubicBezTo>
                    <a:lnTo>
                      <a:pt x="0" y="134936"/>
                    </a:lnTo>
                    <a:lnTo>
                      <a:pt x="0" y="125633"/>
                    </a:lnTo>
                    <a:cubicBezTo>
                      <a:pt x="1" y="121906"/>
                      <a:pt x="1313" y="118298"/>
                      <a:pt x="3707" y="115441"/>
                    </a:cubicBezTo>
                    <a:lnTo>
                      <a:pt x="4651" y="114410"/>
                    </a:lnTo>
                    <a:lnTo>
                      <a:pt x="7937" y="111123"/>
                    </a:lnTo>
                    <a:lnTo>
                      <a:pt x="23812" y="111123"/>
                    </a:lnTo>
                    <a:lnTo>
                      <a:pt x="23812" y="95248"/>
                    </a:lnTo>
                    <a:lnTo>
                      <a:pt x="39688" y="95248"/>
                    </a:lnTo>
                    <a:lnTo>
                      <a:pt x="39688" y="79373"/>
                    </a:lnTo>
                    <a:lnTo>
                      <a:pt x="56706" y="62355"/>
                    </a:lnTo>
                    <a:lnTo>
                      <a:pt x="54316" y="59966"/>
                    </a:lnTo>
                    <a:cubicBezTo>
                      <a:pt x="50033" y="55684"/>
                      <a:pt x="47627" y="49875"/>
                      <a:pt x="47627" y="43817"/>
                    </a:cubicBezTo>
                    <a:cubicBezTo>
                      <a:pt x="47627" y="37760"/>
                      <a:pt x="50033" y="31951"/>
                      <a:pt x="54316" y="27669"/>
                    </a:cubicBezTo>
                    <a:lnTo>
                      <a:pt x="75295" y="6690"/>
                    </a:lnTo>
                    <a:cubicBezTo>
                      <a:pt x="79578" y="2406"/>
                      <a:pt x="85387" y="0"/>
                      <a:pt x="91444" y="0"/>
                    </a:cubicBezTo>
                    <a:cubicBezTo>
                      <a:pt x="97501" y="0"/>
                      <a:pt x="103310" y="2406"/>
                      <a:pt x="107593" y="6690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19162" y="51768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53465" y="5144452"/>
              <a:ext cx="14114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accept 是公开端点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88670" y="540829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拿码的人往往</a:t>
              </a:r>
              <a:r>
                <a:rPr lang="zh-CN" sz="9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还没有账号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；要求他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88670" y="559879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先登录才能激活，会让整条邀请链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88670" y="5770245"/>
              <a:ext cx="20208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自相矛盾（没账号 → 没 token）。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4343400" y="4953000"/>
              <a:ext cx="3505200" cy="9906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4581525" y="5129212"/>
              <a:ext cx="119062" cy="142876"/>
              <a:chOff x="4581525" y="5129212"/>
              <a:chExt cx="119062" cy="142876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4597400" y="512921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4581525" y="5224462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4652962" y="5240338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4787265" y="5144452"/>
              <a:ext cx="13953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账号创建委托 auth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522470" y="5408295"/>
              <a:ext cx="20273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调 </a:t>
              </a:r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create_candidate_account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4522470" y="5598795"/>
              <a:ext cx="2402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不在 interview 里复制「用户名唯一性 /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4522470" y="5770245"/>
              <a:ext cx="2145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密码哈希 / 角色约束」这三条规则。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077200" y="4953000"/>
              <a:ext cx="3505200" cy="9906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8288207" y="5129212"/>
              <a:ext cx="149486" cy="142875"/>
              <a:chOff x="8288207" y="5129212"/>
              <a:chExt cx="149486" cy="142875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8288207" y="5129212"/>
                <a:ext cx="149486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9486" h="142875">
                    <a:moveTo>
                      <a:pt x="74743" y="0"/>
                    </a:moveTo>
                    <a:cubicBezTo>
                      <a:pt x="93284" y="16403"/>
                      <a:pt x="117482" y="24944"/>
                      <a:pt x="142212" y="23812"/>
                    </a:cubicBezTo>
                    <a:cubicBezTo>
                      <a:pt x="149486" y="48558"/>
                      <a:pt x="146414" y="75195"/>
                      <a:pt x="133698" y="97635"/>
                    </a:cubicBezTo>
                    <a:cubicBezTo>
                      <a:pt x="120982" y="120075"/>
                      <a:pt x="99709" y="136399"/>
                      <a:pt x="74743" y="142875"/>
                    </a:cubicBezTo>
                    <a:cubicBezTo>
                      <a:pt x="49777" y="136399"/>
                      <a:pt x="28504" y="120075"/>
                      <a:pt x="15788" y="97635"/>
                    </a:cubicBezTo>
                    <a:cubicBezTo>
                      <a:pt x="3072" y="75195"/>
                      <a:pt x="0" y="48558"/>
                      <a:pt x="7274" y="23812"/>
                    </a:cubicBezTo>
                    <a:cubicBezTo>
                      <a:pt x="32004" y="24944"/>
                      <a:pt x="56202" y="16403"/>
                      <a:pt x="74743" y="0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355012" y="5184775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>
                    <a:moveTo>
                      <a:pt x="0" y="7937"/>
                    </a:moveTo>
                    <a:cubicBezTo>
                      <a:pt x="0" y="12321"/>
                      <a:pt x="3554" y="15875"/>
                      <a:pt x="7938" y="15875"/>
                    </a:cubicBezTo>
                    <a:cubicBezTo>
                      <a:pt x="12321" y="15875"/>
                      <a:pt x="15875" y="12321"/>
                      <a:pt x="15875" y="7937"/>
                    </a:cubicBezTo>
                    <a:cubicBezTo>
                      <a:pt x="15875" y="3554"/>
                      <a:pt x="12321" y="0"/>
                      <a:pt x="7938" y="0"/>
                    </a:cubicBezTo>
                    <a:cubicBezTo>
                      <a:pt x="3554" y="0"/>
                      <a:pt x="0" y="3554"/>
                      <a:pt x="0" y="7937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362950" y="5200650"/>
                <a:ext cx="9525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844">
                    <a:moveTo>
                      <a:pt x="0" y="0"/>
                    </a:moveTo>
                    <a:lnTo>
                      <a:pt x="0" y="19844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8521065" y="5144452"/>
              <a:ext cx="13953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签名刻意不接 user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256270" y="5408295"/>
              <a:ext cx="2244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绑定到哪个账号由请求体的 username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256270" y="55987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决定，与调用者身份无关。签名里放一个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256270" y="5770245"/>
              <a:ext cx="24940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不用的 user 会误导「绑定当前登录者」。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62" grpId="0"/>
      <p:bldP spid="75" grpId="0"/>
      <p:bldP spid="10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797394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模块④ interview：问题与解决（并发绑定双写）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P28 / 35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375" y="1524000"/>
            <a:ext cx="10191750" cy="1447800"/>
            <a:chOff x="714375" y="1524000"/>
            <a:chExt cx="10191750" cy="1447800"/>
          </a:xfrm>
        </p:grpSpPr>
        <p:sp>
          <p:nvSpPr>
            <p:cNvPr id="11" name="Rectangle 11"/>
            <p:cNvSpPr/>
            <p:nvPr/>
          </p:nvSpPr>
          <p:spPr>
            <a:xfrm>
              <a:off x="714375" y="1524000"/>
              <a:ext cx="123825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5395" y="1655445"/>
              <a:ext cx="4162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请求 A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33500" y="18859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4" name="Rectangle 14"/>
            <p:cNvSpPr/>
            <p:nvPr/>
          </p:nvSpPr>
          <p:spPr>
            <a:xfrm>
              <a:off x="3000375" y="1524000"/>
              <a:ext cx="123825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11395" y="1655445"/>
              <a:ext cx="4162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请求 B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619500" y="18859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38875" y="1524000"/>
              <a:ext cx="123825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53096" y="1655445"/>
              <a:ext cx="1209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accept_invitation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858000" y="18859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0" name="Rectangle 20"/>
            <p:cNvSpPr/>
            <p:nvPr/>
          </p:nvSpPr>
          <p:spPr>
            <a:xfrm>
              <a:off x="9667875" y="1524000"/>
              <a:ext cx="123825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068544" y="165544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面试行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0287000" y="18859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390650" y="1952149"/>
            <a:ext cx="8839200" cy="883920"/>
            <a:chOff x="1390650" y="1952149"/>
            <a:chExt cx="8839200" cy="883920"/>
          </a:xfrm>
        </p:grpSpPr>
        <p:sp>
          <p:nvSpPr>
            <p:cNvPr id="24" name="Line 24"/>
            <p:cNvSpPr/>
            <p:nvPr/>
          </p:nvSpPr>
          <p:spPr>
            <a:xfrm>
              <a:off x="1390650" y="2114550"/>
              <a:ext cx="52959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474422" y="1952149"/>
              <a:ext cx="1128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 accept(code₁)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676650" y="2343150"/>
              <a:ext cx="30099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66269" y="2180749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2 accept(code₂) 同一候选人的另一条码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915150" y="2571750"/>
              <a:ext cx="3314700" cy="1"/>
            </a:xfrm>
            <a:prstGeom prst="line">
              <a:avLst/>
            </a:prstGeom>
            <a:noFill/>
            <a:ln w="14288">
              <a:solidFill>
                <a:srgbClr val="F57C00"/>
              </a:solidFill>
              <a:tailEnd type="triangle" w="med" len="med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31607" y="2409349"/>
              <a:ext cx="22817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3 A 先获得面试行锁 → 写入接受记录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915150" y="2800350"/>
              <a:ext cx="3314700" cy="1"/>
            </a:xfrm>
            <a:prstGeom prst="line">
              <a:avLst/>
            </a:prstGeom>
            <a:noFill/>
            <a:ln w="14288">
              <a:solidFill>
                <a:srgbClr val="C62828"/>
              </a:solidFill>
              <a:tailEnd type="triangle" w="med" len="med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49728" y="263794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4 B 拿到锁后当前读复查 → 命中 → 拒绝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3200400"/>
            <a:ext cx="4191000" cy="1143000"/>
            <a:chOff x="609600" y="3200400"/>
            <a:chExt cx="4191000" cy="1143000"/>
          </a:xfrm>
        </p:grpSpPr>
        <p:sp>
          <p:nvSpPr>
            <p:cNvPr id="33" name="Rectangle 33"/>
            <p:cNvSpPr/>
            <p:nvPr/>
          </p:nvSpPr>
          <p:spPr>
            <a:xfrm>
              <a:off x="609600" y="3200400"/>
              <a:ext cx="4191000" cy="1143000"/>
            </a:xfrm>
            <a:prstGeom prst="roundRect">
              <a:avLst>
                <a:gd name="adj" fmla="val 6667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9600" y="3200400"/>
              <a:ext cx="38100" cy="11430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0100" y="33528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0757" y="34161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7718" y="3723799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同一候选人用两条不同的码并发接受同一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7718" y="3933349"/>
              <a:ext cx="25452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场面试 —— 仅靠「先查后写」在并发下会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7718" y="414289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双双通过，候选人列表里出现重复项。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991100" y="3200400"/>
            <a:ext cx="6591300" cy="1143000"/>
            <a:chOff x="4991100" y="3200400"/>
            <a:chExt cx="6591300" cy="1143000"/>
          </a:xfrm>
        </p:grpSpPr>
        <p:sp>
          <p:nvSpPr>
            <p:cNvPr id="41" name="Rectangle 41"/>
            <p:cNvSpPr/>
            <p:nvPr/>
          </p:nvSpPr>
          <p:spPr>
            <a:xfrm>
              <a:off x="4991100" y="3200400"/>
              <a:ext cx="6591300" cy="1143000"/>
            </a:xfrm>
            <a:prstGeom prst="roundRect">
              <a:avLst>
                <a:gd name="adj" fmla="val 6667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991100" y="3200400"/>
              <a:ext cx="38100" cy="1143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181600" y="33528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92257" y="34161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69218" y="3723799"/>
              <a:ext cx="41400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用</a:t>
              </a:r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面试行锁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zh-CN" sz="975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SELECT … FOR UPDATE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）串行化同一场面试的接受，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69218" y="3933349"/>
              <a:ext cx="42967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并在锁内以</a:t>
              </a:r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当前读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复查；拿锁后还要重新当前读邀请行，确认它仍是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169218" y="4142899"/>
              <a:ext cx="47666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pending —— 挡住「同一条码被并发接受」与「两条码并发接受」两条路径。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09600" y="4495800"/>
            <a:ext cx="3505200" cy="1447800"/>
            <a:chOff x="609600" y="4495800"/>
            <a:chExt cx="3505200" cy="1447800"/>
          </a:xfrm>
        </p:grpSpPr>
        <p:sp>
          <p:nvSpPr>
            <p:cNvPr id="49" name="Rectangle 49"/>
            <p:cNvSpPr/>
            <p:nvPr/>
          </p:nvSpPr>
          <p:spPr>
            <a:xfrm>
              <a:off x="609600" y="4495800"/>
              <a:ext cx="3505200" cy="1447800"/>
            </a:xfrm>
            <a:prstGeom prst="roundRect">
              <a:avLst>
                <a:gd name="adj" fmla="val 5263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6765" y="466820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为什么必须当前读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00100" y="48958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8670" y="50653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本事务的快照可能早于并发事务的提交，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8670" y="527494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快照读读不到并发事务刚写入的那条接受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8670" y="5484495"/>
              <a:ext cx="1692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记录 —— 于是复核形同虚设。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8670" y="5713095"/>
              <a:ext cx="20142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快照读 ≠ 能看见别人刚提交的写。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343400" y="4495800"/>
            <a:ext cx="3505200" cy="1447800"/>
            <a:chOff x="4343400" y="4495800"/>
            <a:chExt cx="3505200" cy="1447800"/>
          </a:xfrm>
        </p:grpSpPr>
        <p:sp>
          <p:nvSpPr>
            <p:cNvPr id="57" name="Rectangle 57"/>
            <p:cNvSpPr/>
            <p:nvPr/>
          </p:nvSpPr>
          <p:spPr>
            <a:xfrm>
              <a:off x="4343400" y="4495800"/>
              <a:ext cx="3505200" cy="1447800"/>
            </a:xfrm>
            <a:prstGeom prst="roundRect">
              <a:avLst>
                <a:gd name="adj" fmla="val 5263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520565" y="46682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为什么锁面试行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4533900" y="48958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522470" y="506539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对「尚不存在的接受记录」加锁，只会拿到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22470" y="527494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间隙锁，挡不住并发；面试行才是这场绑定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22470" y="548449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的真实归属，锁它才有意义。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22470" y="571309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锁的对象要选并发的真正争用点。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77200" y="4495800"/>
            <a:ext cx="3505200" cy="1447800"/>
            <a:chOff x="8077200" y="4495800"/>
            <a:chExt cx="3505200" cy="1447800"/>
          </a:xfrm>
        </p:grpSpPr>
        <p:sp>
          <p:nvSpPr>
            <p:cNvPr id="65" name="Rectangle 65"/>
            <p:cNvSpPr/>
            <p:nvPr/>
          </p:nvSpPr>
          <p:spPr>
            <a:xfrm>
              <a:off x="8077200" y="4495800"/>
              <a:ext cx="3505200" cy="1447800"/>
            </a:xfrm>
            <a:prstGeom prst="roundRect">
              <a:avLst>
                <a:gd name="adj" fmla="val 5263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54365" y="46682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为什么加锁位置在后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8267700" y="48958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256270" y="5065395"/>
              <a:ext cx="23625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新建账号会 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commit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，而 commit 会释放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56270" y="527494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本事务已持有的锁 —— 先加锁等于白加。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56270" y="5484495"/>
              <a:ext cx="25531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所以必须放在 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create_candidate_account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56270" y="571309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之后，而不是事务一开始。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2" grpId="0"/>
      <p:bldP spid="40" grpId="0"/>
      <p:bldP spid="48" grpId="0"/>
      <p:bldP spid="56" grpId="0"/>
      <p:bldP spid="64" grpId="0"/>
      <p:bldP spid="7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681460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模块⑤ resume：上传取文字的纯转换端点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P29 / 35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1409700"/>
            <a:ext cx="5164788" cy="3352800"/>
            <a:chOff x="609600" y="1409700"/>
            <a:chExt cx="5164788" cy="3352800"/>
          </a:xfrm>
        </p:grpSpPr>
        <p:sp>
          <p:nvSpPr>
            <p:cNvPr id="11" name="Rectangle 11"/>
            <p:cNvSpPr/>
            <p:nvPr/>
          </p:nvSpPr>
          <p:spPr>
            <a:xfrm>
              <a:off x="609600" y="1733550"/>
              <a:ext cx="5105400" cy="3028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" y="1409700"/>
              <a:ext cx="5105400" cy="323850"/>
            </a:xfrm>
            <a:custGeom>
              <a:avLst/>
              <a:gdLst/>
              <a:ahLst/>
              <a:cxnLst/>
              <a:rect l="l" t="t" r="r" b="b"/>
              <a:pathLst>
                <a:path w="5105400" h="323850">
                  <a:moveTo>
                    <a:pt x="76200" y="0"/>
                  </a:moveTo>
                  <a:lnTo>
                    <a:pt x="5029200" y="0"/>
                  </a:lnTo>
                  <a:cubicBezTo>
                    <a:pt x="5071284" y="0"/>
                    <a:pt x="5105400" y="34116"/>
                    <a:pt x="5105400" y="76200"/>
                  </a:cubicBezTo>
                  <a:lnTo>
                    <a:pt x="5105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3EDF9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85812" y="1517650"/>
              <a:ext cx="127001" cy="127000"/>
              <a:chOff x="785812" y="1517650"/>
              <a:chExt cx="127001" cy="127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85812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15875" y="0"/>
                    </a:moveTo>
                    <a:lnTo>
                      <a:pt x="0" y="15875"/>
                    </a:lnTo>
                    <a:lnTo>
                      <a:pt x="15875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7250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0" y="0"/>
                    </a:moveTo>
                    <a:lnTo>
                      <a:pt x="15875" y="15875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5500" y="15176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1688" y="15335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95250" y="0"/>
                    </a:move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95250"/>
                    </a:lnTo>
                    <a:cubicBezTo>
                      <a:pt x="111125" y="104018"/>
                      <a:pt x="104018" y="111125"/>
                      <a:pt x="9525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8"/>
                      <a:pt x="0" y="95250"/>
                    </a:cubicBez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7270" y="1531620"/>
              <a:ext cx="27700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backend/app/resume/parser.py:31 · 53-67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1409700"/>
              <a:ext cx="5105400" cy="3352800"/>
            </a:xfrm>
            <a:prstGeom prst="roundRect">
              <a:avLst>
                <a:gd name="adj" fmla="val 2273"/>
              </a:avLst>
            </a:prstGeom>
            <a:noFill/>
            <a:ln w="9525">
              <a:solidFill>
                <a:srgbClr val="DCE5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6765" y="1810702"/>
              <a:ext cx="4128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_MAGIC = {".pdf": b"%PDF-", ".docx": b"PK\x03\x04"}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2001202"/>
              <a:ext cx="49876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 xml:space="preserve">def </a:t>
              </a:r>
              <a:r>
                <a:rPr lang="zh-CN" sz="105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parse_resume_file</a:t>
              </a:r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(data: bytes, filename: str | None) -&gt; str: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765" y="2153602"/>
              <a:ext cx="4036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"""失败抛 ValidationError（400）—— 不新增状态码。"""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2344102"/>
              <a:ext cx="27793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extension = _extension_of(filename)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2496502"/>
              <a:ext cx="44662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if extension not in SUPPORTED_EXTENSIONS: # ① 扩展名白名单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2648902"/>
              <a:ext cx="29020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raise ValidationError(_TYPE_MESSAGE)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2839402"/>
              <a:ext cx="29173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扩展名由客户端提供，改个名字就能绕过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2991802"/>
              <a:ext cx="4780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if not data.startswith(_MAGIC[extension]): # ② 文件头魔数复核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765" y="3144202"/>
              <a:ext cx="29020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raise ValidationError(_TYPE_MESSAGE)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765" y="3334702"/>
              <a:ext cx="3852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text = (_parse_docx(data) if extension == ".docx"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6765" y="348710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else _parse_pdf(data)) # ③ 解析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765" y="3677602"/>
              <a:ext cx="30707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normalized = _normalize(text) # ④ 归一化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38300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if not normalized: # 非空校验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765" y="3982402"/>
              <a:ext cx="3185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raise ValidationError(_NO_TEXT_MESSAGE)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6765" y="4134802"/>
              <a:ext cx="13761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return normalized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6765" y="4401502"/>
              <a:ext cx="3622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本模块不接 session、不落盘、不读配置 —— 纯函数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943600" y="1409700"/>
            <a:ext cx="5638800" cy="3524250"/>
            <a:chOff x="5943600" y="1409700"/>
            <a:chExt cx="5638800" cy="3524250"/>
          </a:xfrm>
        </p:grpSpPr>
        <p:sp>
          <p:nvSpPr>
            <p:cNvPr id="37" name="Rectangle 37"/>
            <p:cNvSpPr/>
            <p:nvPr/>
          </p:nvSpPr>
          <p:spPr>
            <a:xfrm>
              <a:off x="5943600" y="1409700"/>
              <a:ext cx="56388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086475" y="1524000"/>
              <a:ext cx="247650" cy="24765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78167" y="1598295"/>
              <a:ext cx="642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5565" y="15059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上传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422" y="1701641"/>
              <a:ext cx="19307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POST /candidate/resumes/parse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210300" y="1885950"/>
              <a:ext cx="1" cy="9525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943600" y="2019300"/>
              <a:ext cx="56388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086475" y="2133600"/>
              <a:ext cx="247650" cy="24765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60915" y="22078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25565" y="21155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四道校验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28422" y="2311241"/>
              <a:ext cx="2725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扩展名白名单 → 文件头魔数 → 解析 → 归一化后非空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210300" y="2495550"/>
              <a:ext cx="1" cy="9525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943600" y="2628900"/>
              <a:ext cx="56388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086475" y="2743200"/>
              <a:ext cx="247650" cy="24765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60915" y="28174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25565" y="27251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解析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28422" y="2920841"/>
              <a:ext cx="19849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DOCX → python-docx · PDF → pypdf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6210300" y="3105150"/>
              <a:ext cx="1" cy="9525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943600" y="3238500"/>
              <a:ext cx="56388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6086475" y="3352800"/>
              <a:ext cx="247650" cy="24765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60915" y="34270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25565" y="333470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归一化（只做四件事）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28422" y="3530441"/>
              <a:ext cx="28464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统一换行 · 去行尾空白 · 折叠连续空行 · 去首尾空白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210300" y="3714750"/>
              <a:ext cx="1" cy="9525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943600" y="3848100"/>
              <a:ext cx="56388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6086475" y="3962400"/>
              <a:ext cx="247650" cy="247650"/>
            </a:xfrm>
            <a:prstGeom prst="ellipse">
              <a:avLst/>
            </a:prstGeom>
            <a:solidFill>
              <a:srgbClr val="F57C00">
                <a:alpha val="12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60915" y="40366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25565" y="39443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回填正文框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28422" y="4140041"/>
              <a:ext cx="26717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解析结果填进候选人可见的编辑框，他可自行修改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6210300" y="4324350"/>
              <a:ext cx="1" cy="9525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943600" y="4457700"/>
              <a:ext cx="56388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2E7D32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6086475" y="4572000"/>
              <a:ext cx="247650" cy="247650"/>
            </a:xfrm>
            <a:prstGeom prst="ellipse">
              <a:avLst/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160915" y="46462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25565" y="45539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候选人确认保存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28422" y="4749641"/>
              <a:ext cx="25331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另走创建 / 更新端点 —— 与解析这一步完全分开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09600" y="4953000"/>
            <a:ext cx="3505200" cy="1019175"/>
            <a:chOff x="609600" y="4953000"/>
            <a:chExt cx="3505200" cy="1019175"/>
          </a:xfrm>
        </p:grpSpPr>
        <p:sp>
          <p:nvSpPr>
            <p:cNvPr id="73" name="Rectangle 73"/>
            <p:cNvSpPr/>
            <p:nvPr/>
          </p:nvSpPr>
          <p:spPr>
            <a:xfrm>
              <a:off x="609600" y="4953000"/>
              <a:ext cx="3505200" cy="990600"/>
            </a:xfrm>
            <a:prstGeom prst="roundRect">
              <a:avLst>
                <a:gd name="adj" fmla="val 7692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839788" y="5129212"/>
              <a:ext cx="111125" cy="142875"/>
              <a:chOff x="839788" y="5129212"/>
              <a:chExt cx="111125" cy="14287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911225" y="5129212"/>
                <a:ext cx="39687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39687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7"/>
                      <a:pt x="7937" y="39687"/>
                    </a:cubicBezTo>
                    <a:lnTo>
                      <a:pt x="39687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9788" y="512921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7"/>
                    </a:lnTo>
                    <a:lnTo>
                      <a:pt x="111125" y="127000"/>
                    </a:lnTo>
                    <a:cubicBezTo>
                      <a:pt x="111125" y="135768"/>
                      <a:pt x="104018" y="142875"/>
                      <a:pt x="95250" y="1428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95350" y="519271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5506" y="5220494"/>
                <a:ext cx="39687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19844">
                    <a:moveTo>
                      <a:pt x="0" y="0"/>
                    </a:moveTo>
                    <a:lnTo>
                      <a:pt x="19844" y="19844"/>
                    </a:lnTo>
                    <a:lnTo>
                      <a:pt x="39687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53465" y="51444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不落库、不落盘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88670" y="5408295"/>
              <a:ext cx="22574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不建简历、不改简历，服务器上不留那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88670" y="5617845"/>
              <a:ext cx="20865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个文件，也不存解析产物 —— 简历表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88670" y="57892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结构因此完全不变。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4343400" y="4953000"/>
            <a:ext cx="3505200" cy="1019175"/>
            <a:chOff x="4343400" y="4953000"/>
            <a:chExt cx="3505200" cy="1019175"/>
          </a:xfrm>
        </p:grpSpPr>
        <p:sp>
          <p:nvSpPr>
            <p:cNvPr id="84" name="Rectangle 84"/>
            <p:cNvSpPr/>
            <p:nvPr/>
          </p:nvSpPr>
          <p:spPr>
            <a:xfrm>
              <a:off x="4343400" y="4953000"/>
              <a:ext cx="3505200" cy="990600"/>
            </a:xfrm>
            <a:prstGeom prst="roundRect">
              <a:avLst>
                <a:gd name="adj" fmla="val 7692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4557712" y="5129212"/>
              <a:ext cx="142875" cy="142875"/>
              <a:chOff x="4557712" y="5129212"/>
              <a:chExt cx="142875" cy="142875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4557712" y="51292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127000" y="0"/>
                    </a:lnTo>
                    <a:cubicBezTo>
                      <a:pt x="135768" y="0"/>
                      <a:pt x="142875" y="7107"/>
                      <a:pt x="142875" y="15875"/>
                    </a:cubicBezTo>
                    <a:lnTo>
                      <a:pt x="142875" y="127000"/>
                    </a:lnTo>
                    <a:cubicBezTo>
                      <a:pt x="142875" y="135768"/>
                      <a:pt x="135768" y="142875"/>
                      <a:pt x="127000" y="142875"/>
                    </a:cubicBez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4557712" y="5184775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4613275" y="5129212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4787265" y="5144452"/>
              <a:ext cx="12665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DOCX 表格也要取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522470" y="5408295"/>
              <a:ext cx="24217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只取 document.paragraphs 会整块丢掉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4522470" y="5617845"/>
              <a:ext cx="23625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表格；须按 body 子元素顺序遍历，保持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4522470" y="578929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版序，并递归取嵌套表格。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077200" y="4953000"/>
            <a:ext cx="3505200" cy="1019175"/>
            <a:chOff x="8077200" y="4953000"/>
            <a:chExt cx="3505200" cy="1019175"/>
          </a:xfrm>
        </p:grpSpPr>
        <p:sp>
          <p:nvSpPr>
            <p:cNvPr id="94" name="Rectangle 94"/>
            <p:cNvSpPr/>
            <p:nvPr/>
          </p:nvSpPr>
          <p:spPr>
            <a:xfrm>
              <a:off x="8077200" y="4953000"/>
              <a:ext cx="3505200" cy="990600"/>
            </a:xfrm>
            <a:prstGeom prst="roundRect">
              <a:avLst>
                <a:gd name="adj" fmla="val 7692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8299450" y="5137150"/>
              <a:ext cx="127000" cy="127000"/>
              <a:chOff x="8299450" y="5137150"/>
              <a:chExt cx="127000" cy="1270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8299450" y="516890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315325" y="51371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315325" y="5200650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8347075" y="52165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8362950" y="5137150"/>
                <a:ext cx="952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9375">
                    <a:moveTo>
                      <a:pt x="0" y="0"/>
                    </a:moveTo>
                    <a:lnTo>
                      <a:pt x="0" y="793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362950" y="5248275"/>
                <a:ext cx="952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">
                    <a:moveTo>
                      <a:pt x="0" y="0"/>
                    </a:move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394700" y="5145088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410575" y="5137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410575" y="5176838"/>
                <a:ext cx="9525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312">
                    <a:moveTo>
                      <a:pt x="0" y="0"/>
                    </a:moveTo>
                    <a:lnTo>
                      <a:pt x="0" y="87312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8521065" y="51444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归一化不做重排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256270" y="5408295"/>
              <a:ext cx="22574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任何「更聪明」的处理都会让系统偷偷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256270" y="5617845"/>
              <a:ext cx="2217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改掉候选人的原文 —— 而他看到的正文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256270" y="5789295"/>
              <a:ext cx="1527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正是要被 AI 消费的内容。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72" grpId="0"/>
      <p:bldP spid="83" grpId="0"/>
      <p:bldP spid="93" grpId="0"/>
      <p:bldP spid="10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791874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模块⑤ resume：问题与解决（上传的安全边界）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P30 / 35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409700"/>
            <a:ext cx="10972800" cy="885825"/>
            <a:chOff x="609600" y="1409700"/>
            <a:chExt cx="10972800" cy="885825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4191000" cy="857250"/>
            </a:xfrm>
            <a:prstGeom prst="roundRect">
              <a:avLst>
                <a:gd name="adj" fmla="val 8889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38100" cy="8572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00100" y="150495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85599" y="155876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8670" y="176974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改了扩展名就能绕过类型检查 —— 扩展名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8670" y="19411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由客户端提供，把任意文件改个名字上传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8670" y="21126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即可通过第一道检查。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53000" y="1409700"/>
              <a:ext cx="6629400" cy="857250"/>
            </a:xfrm>
            <a:prstGeom prst="roundRect">
              <a:avLst>
                <a:gd name="adj" fmla="val 888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953000" y="1409700"/>
              <a:ext cx="38100" cy="8572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105400" y="150495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16057" y="155876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93970" y="1769745"/>
              <a:ext cx="40056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扩展名白名单之外，再按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文件头魔数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复核：PDF 必须以 </a:t>
              </a:r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%PDF-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开头，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93970" y="1941195"/>
              <a:ext cx="41239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DOCX 是 ZIP 容器、必须以 </a:t>
              </a:r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PK\x03\x04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开头。两道都过才进入解析 ——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93970" y="2112645"/>
              <a:ext cx="22574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客户端提供的文件名从此不再被信任。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2343150"/>
            <a:ext cx="10972800" cy="885825"/>
            <a:chOff x="609600" y="2343150"/>
            <a:chExt cx="10972800" cy="885825"/>
          </a:xfrm>
        </p:grpSpPr>
        <p:sp>
          <p:nvSpPr>
            <p:cNvPr id="26" name="Rectangle 26"/>
            <p:cNvSpPr/>
            <p:nvPr/>
          </p:nvSpPr>
          <p:spPr>
            <a:xfrm>
              <a:off x="609600" y="2343150"/>
              <a:ext cx="4191000" cy="857250"/>
            </a:xfrm>
            <a:prstGeom prst="roundRect">
              <a:avLst>
                <a:gd name="adj" fmla="val 8889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" y="2343150"/>
              <a:ext cx="38100" cy="8572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00100" y="24384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5599" y="24922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8670" y="2703195"/>
              <a:ext cx="22311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ZIP bomb —— 上传体积上限拦不住它：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8670" y="2874645"/>
              <a:ext cx="2461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5 MB 的压缩包可以解出几个 GB。而 DOCX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8670" y="304609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本质上就是一个 ZIP 容器。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953000" y="2343150"/>
              <a:ext cx="6629400" cy="857250"/>
            </a:xfrm>
            <a:prstGeom prst="roundRect">
              <a:avLst>
                <a:gd name="adj" fmla="val 888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953000" y="2343150"/>
              <a:ext cx="38100" cy="8572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05400" y="24384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16057" y="24922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93970" y="2703195"/>
              <a:ext cx="46497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单独设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解压后展开体积上限 50 MB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，用 ZIP 中央目录的 </a:t>
              </a:r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file_size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求和来判断 ——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93970" y="2874645"/>
              <a:ext cx="48863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不解压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，所以这道检查本身几乎不吃内存。上传体积与展开体积是两把不同的尺子：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93970" y="3046095"/>
              <a:ext cx="2651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前者防带宽与磁盘，后者防内存与解压炸弹。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3276600"/>
            <a:ext cx="10972800" cy="885825"/>
            <a:chOff x="609600" y="3276600"/>
            <a:chExt cx="10972800" cy="885825"/>
          </a:xfrm>
        </p:grpSpPr>
        <p:sp>
          <p:nvSpPr>
            <p:cNvPr id="41" name="Rectangle 41"/>
            <p:cNvSpPr/>
            <p:nvPr/>
          </p:nvSpPr>
          <p:spPr>
            <a:xfrm>
              <a:off x="609600" y="3276600"/>
              <a:ext cx="4191000" cy="857250"/>
            </a:xfrm>
            <a:prstGeom prst="roundRect">
              <a:avLst>
                <a:gd name="adj" fmla="val 8889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" y="3276600"/>
              <a:ext cx="38100" cy="8572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00100" y="337185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5599" y="342566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8670" y="363664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加密 PDF 被误判为损坏 —— 很多导出工具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8670" y="3808095"/>
              <a:ext cx="25071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默认给 PDF 加</a:t>
              </a:r>
              <a:r>
                <a:rPr lang="zh-CN" sz="9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空密码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，只看 is_encrypted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8670" y="39795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会误伤一批正常文件。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953000" y="3276600"/>
              <a:ext cx="6629400" cy="857250"/>
            </a:xfrm>
            <a:prstGeom prst="roundRect">
              <a:avLst>
                <a:gd name="adj" fmla="val 888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953000" y="3276600"/>
              <a:ext cx="38100" cy="8572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105400" y="337185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16057" y="342566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93970" y="3636645"/>
              <a:ext cx="44657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判定条件改为「已加密 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且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空密码解不开」：先尝试 </a:t>
              </a:r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reader.decrypt("")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93970" y="3808095"/>
              <a:ext cx="47154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成功就视为可读。只有真正需要密码的文件才拒收 —— 判据从「是否加密」收紧为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93970" y="39795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「是否连空密码都打不开」。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9600" y="4210050"/>
            <a:ext cx="10972800" cy="885825"/>
            <a:chOff x="609600" y="4210050"/>
            <a:chExt cx="10972800" cy="885825"/>
          </a:xfrm>
        </p:grpSpPr>
        <p:sp>
          <p:nvSpPr>
            <p:cNvPr id="56" name="Rectangle 56"/>
            <p:cNvSpPr/>
            <p:nvPr/>
          </p:nvSpPr>
          <p:spPr>
            <a:xfrm>
              <a:off x="609600" y="4210050"/>
              <a:ext cx="4191000" cy="857250"/>
            </a:xfrm>
            <a:prstGeom prst="roundRect">
              <a:avLst>
                <a:gd name="adj" fmla="val 8889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9600" y="4210050"/>
              <a:ext cx="38100" cy="8572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00100" y="43053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85599" y="43591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8670" y="457009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扫描件 PDF 解析出空字符串 —— 看起来像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8670" y="474154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「解析成功但没内容」，用户不知道下一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8670" y="49129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步该干什么。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953000" y="4210050"/>
              <a:ext cx="6629400" cy="857250"/>
            </a:xfrm>
            <a:prstGeom prst="roundRect">
              <a:avLst>
                <a:gd name="adj" fmla="val 888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953000" y="4210050"/>
              <a:ext cx="38100" cy="8572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105400" y="43053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16057" y="43591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93970" y="4570095"/>
              <a:ext cx="42225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归一化后为空即报 400，文案点明「这可能是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扫描件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」并提示改用粘贴；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093970" y="4741545"/>
              <a:ext cx="48994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.doc 旧格式、.txt、图片同样在类型检查处被点名拒收，而不是走到解析才失败 ——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093970" y="49129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错误要落在最接近原因的那一道检查上。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09600" y="5200650"/>
            <a:ext cx="10972800" cy="771525"/>
            <a:chOff x="609600" y="5200650"/>
            <a:chExt cx="10972800" cy="771525"/>
          </a:xfrm>
        </p:grpSpPr>
        <p:sp>
          <p:nvSpPr>
            <p:cNvPr id="71" name="Rectangle 71"/>
            <p:cNvSpPr/>
            <p:nvPr/>
          </p:nvSpPr>
          <p:spPr>
            <a:xfrm>
              <a:off x="609600" y="5200650"/>
              <a:ext cx="10972800" cy="742950"/>
            </a:xfrm>
            <a:prstGeom prst="roundRect">
              <a:avLst>
                <a:gd name="adj" fmla="val 10256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51633" y="5360194"/>
              <a:ext cx="106483" cy="157162"/>
              <a:chOff x="851633" y="5360194"/>
              <a:chExt cx="106483" cy="157162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78681" y="5360194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87412" y="5412581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51633" y="5360194"/>
                <a:ext cx="106483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6483" h="157162">
                    <a:moveTo>
                      <a:pt x="35779" y="0"/>
                    </a:moveTo>
                    <a:lnTo>
                      <a:pt x="35779" y="52388"/>
                    </a:lnTo>
                    <a:lnTo>
                      <a:pt x="854" y="148431"/>
                    </a:lnTo>
                    <a:cubicBezTo>
                      <a:pt x="0" y="150149"/>
                      <a:pt x="2" y="152169"/>
                      <a:pt x="860" y="153885"/>
                    </a:cubicBezTo>
                    <a:cubicBezTo>
                      <a:pt x="1719" y="155601"/>
                      <a:pt x="3333" y="156815"/>
                      <a:pt x="5220" y="157162"/>
                    </a:cubicBezTo>
                    <a:lnTo>
                      <a:pt x="101263" y="157162"/>
                    </a:lnTo>
                    <a:cubicBezTo>
                      <a:pt x="103150" y="156815"/>
                      <a:pt x="104765" y="155601"/>
                      <a:pt x="105623" y="153885"/>
                    </a:cubicBezTo>
                    <a:cubicBezTo>
                      <a:pt x="106481" y="152169"/>
                      <a:pt x="106483" y="150149"/>
                      <a:pt x="105629" y="148431"/>
                    </a:cubicBezTo>
                    <a:lnTo>
                      <a:pt x="70704" y="52388"/>
                    </a:lnTo>
                    <a:lnTo>
                      <a:pt x="70704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91565" y="5373052"/>
              <a:ext cx="20555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为什么这里可以写宽 except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93470" y="5598795"/>
              <a:ext cx="73509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pypdf 与 python-docx 在损坏文件上抛出的异常谱系不稳定（PdfReadError / ValueError / xml 层等），逐个枚举必然漏。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93470" y="5789295"/>
              <a:ext cx="6463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此处兜底是安全的：本模块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不落库、不落盘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，宽捕获不会掩盖数据损坏，只会把「读不出来」如实告诉上传方。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  <p:bldP spid="55" grpId="0"/>
      <p:bldP spid="70" grpId="0"/>
      <p:bldP spid="7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560005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模块⑥ auth：权限守卫与数据隔离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P31 / 35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1409700"/>
            <a:ext cx="5105400" cy="3352800"/>
            <a:chOff x="609600" y="1409700"/>
            <a:chExt cx="5105400" cy="3352800"/>
          </a:xfrm>
        </p:grpSpPr>
        <p:sp>
          <p:nvSpPr>
            <p:cNvPr id="11" name="Rectangle 11"/>
            <p:cNvSpPr/>
            <p:nvPr/>
          </p:nvSpPr>
          <p:spPr>
            <a:xfrm>
              <a:off x="609600" y="1733550"/>
              <a:ext cx="5105400" cy="3028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" y="1409700"/>
              <a:ext cx="5105400" cy="323850"/>
            </a:xfrm>
            <a:custGeom>
              <a:avLst/>
              <a:gdLst/>
              <a:ahLst/>
              <a:cxnLst/>
              <a:rect l="l" t="t" r="r" b="b"/>
              <a:pathLst>
                <a:path w="5105400" h="323850">
                  <a:moveTo>
                    <a:pt x="76200" y="0"/>
                  </a:moveTo>
                  <a:lnTo>
                    <a:pt x="5029200" y="0"/>
                  </a:lnTo>
                  <a:cubicBezTo>
                    <a:pt x="5071284" y="0"/>
                    <a:pt x="5105400" y="34116"/>
                    <a:pt x="5105400" y="76200"/>
                  </a:cubicBezTo>
                  <a:lnTo>
                    <a:pt x="5105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3EDF9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85812" y="1517650"/>
              <a:ext cx="127001" cy="127000"/>
              <a:chOff x="785812" y="1517650"/>
              <a:chExt cx="127001" cy="127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85812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15875" y="0"/>
                    </a:moveTo>
                    <a:lnTo>
                      <a:pt x="0" y="15875"/>
                    </a:lnTo>
                    <a:lnTo>
                      <a:pt x="15875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7250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0" y="0"/>
                    </a:moveTo>
                    <a:lnTo>
                      <a:pt x="15875" y="15875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5500" y="15176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1688" y="15335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95250" y="0"/>
                    </a:move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95250"/>
                    </a:lnTo>
                    <a:cubicBezTo>
                      <a:pt x="111125" y="104018"/>
                      <a:pt x="104018" y="111125"/>
                      <a:pt x="9525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8"/>
                      <a:pt x="0" y="95250"/>
                    </a:cubicBez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7270" y="1531620"/>
              <a:ext cx="21917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backend/app/core/deps.py:53-69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1409700"/>
              <a:ext cx="5105400" cy="3352800"/>
            </a:xfrm>
            <a:prstGeom prst="roundRect">
              <a:avLst>
                <a:gd name="adj" fmla="val 2273"/>
              </a:avLst>
            </a:prstGeom>
            <a:noFill/>
            <a:ln w="9525">
              <a:solidFill>
                <a:srgbClr val="DCE5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6765" y="1810702"/>
              <a:ext cx="43282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 xml:space="preserve">def </a:t>
              </a:r>
              <a:r>
                <a:rPr lang="zh-CN" sz="105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require_roles</a:t>
              </a:r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(*roles: str) -&gt; Callable[..., "User"]: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1963102"/>
              <a:ext cx="31933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"""依赖工厂：校验当前用户角色在允许集内。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765" y="2115502"/>
              <a:ext cx="38758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精确匹配，不做层级包含 —— 不存在「admin 包含 hr」。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2267902"/>
              <a:ext cx="45735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显式列出是最容易评审的形式：新增角色时不会有意外的放行。"""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2420302"/>
              <a:ext cx="20585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allowed = frozenset(roles)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2610802"/>
              <a:ext cx="47652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def _dependency(user: "User" = Depends(get_current_user)):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276320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if user.role not in allowed: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2915602"/>
              <a:ext cx="29557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raise ForbiddenError() # 403，不是 400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765" y="3068002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return user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765" y="3334702"/>
              <a:ext cx="15065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return _dependency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6765" y="3525202"/>
              <a:ext cx="2825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用法：HR 侧路由必须显式写出两个角色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765" y="3677602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require_roles("admin", "hr") # HR 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3830002"/>
              <a:ext cx="28943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require_roles("candidate") # 候选人侧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765" y="4096702"/>
              <a:ext cx="36841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JWT 载荷不放角色：每次请求从库里回读，改角色 /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6765" y="4249102"/>
              <a:ext cx="2971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禁用账号立即生效，不必等 token 过期。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930265" y="1486852"/>
            <a:ext cx="5652135" cy="4456748"/>
            <a:chOff x="5930265" y="1486852"/>
            <a:chExt cx="5652135" cy="4456748"/>
          </a:xfrm>
        </p:grpSpPr>
        <p:sp>
          <p:nvSpPr>
            <p:cNvPr id="36" name="TextBox 36"/>
            <p:cNvSpPr txBox="1"/>
            <p:nvPr/>
          </p:nvSpPr>
          <p:spPr>
            <a:xfrm>
              <a:off x="5930265" y="14868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三条数据隔离路径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562850" y="1543050"/>
              <a:ext cx="4019550" cy="9525"/>
            </a:xfrm>
            <a:custGeom>
              <a:avLst/>
              <a:gdLst/>
              <a:ahLst/>
              <a:cxnLst/>
              <a:rect l="l" t="t" r="r" b="b"/>
              <a:pathLst>
                <a:path w="4019550" h="9525">
                  <a:moveTo>
                    <a:pt x="0" y="0"/>
                  </a:moveTo>
                  <a:lnTo>
                    <a:pt x="4019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943600" y="1714500"/>
              <a:ext cx="5638800" cy="857250"/>
            </a:xfrm>
            <a:prstGeom prst="roundRect">
              <a:avLst>
                <a:gd name="adj" fmla="val 8889"/>
              </a:avLst>
            </a:prstGeom>
            <a:solidFill>
              <a:srgbClr val="F2F6F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186488" y="1893094"/>
              <a:ext cx="139700" cy="165893"/>
              <a:chOff x="6186488" y="1893094"/>
              <a:chExt cx="139700" cy="16589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186488" y="1997869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52388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5A6B7D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265069" y="1993503"/>
                <a:ext cx="61119" cy="65484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65484">
                    <a:moveTo>
                      <a:pt x="61119" y="13097"/>
                    </a:moveTo>
                    <a:cubicBezTo>
                      <a:pt x="61119" y="48022"/>
                      <a:pt x="39291" y="65484"/>
                      <a:pt x="30559" y="65484"/>
                    </a:cubicBezTo>
                    <a:cubicBezTo>
                      <a:pt x="21828" y="65484"/>
                      <a:pt x="0" y="48022"/>
                      <a:pt x="0" y="13097"/>
                    </a:cubicBezTo>
                    <a:cubicBezTo>
                      <a:pt x="8731" y="13097"/>
                      <a:pt x="21828" y="8731"/>
                      <a:pt x="30559" y="0"/>
                    </a:cubicBezTo>
                    <a:cubicBezTo>
                      <a:pt x="39291" y="8731"/>
                      <a:pt x="52388" y="13097"/>
                      <a:pt x="61119" y="13097"/>
                    </a:cubicBezTo>
                  </a:path>
                </a:pathLst>
              </a:custGeom>
              <a:noFill/>
              <a:ln w="19050">
                <a:solidFill>
                  <a:srgbClr val="5A6B7D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203950" y="1893094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5A6B7D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424612" y="1907381"/>
              <a:ext cx="4943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admin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98018" y="1923574"/>
              <a:ext cx="12351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返回 None，不过滤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22670" y="2207895"/>
              <a:ext cx="28752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归属判据为空 —— 系统管理员可以看到全部资源，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22670" y="2379345"/>
              <a:ext cx="23034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查询层收到 None 就跳过 where 条件。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943600" y="2667000"/>
              <a:ext cx="5638800" cy="857250"/>
            </a:xfrm>
            <a:prstGeom prst="roundRect">
              <a:avLst>
                <a:gd name="adj" fmla="val 8889"/>
              </a:avLst>
            </a:prstGeom>
            <a:solidFill>
              <a:srgbClr val="F2F6F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160294" y="2845594"/>
              <a:ext cx="157162" cy="148431"/>
              <a:chOff x="6160294" y="2845594"/>
              <a:chExt cx="157162" cy="14843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160294" y="2880519"/>
                <a:ext cx="157162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13506">
                    <a:moveTo>
                      <a:pt x="0" y="17462"/>
                    </a:moveTo>
                    <a:cubicBezTo>
                      <a:pt x="0" y="7818"/>
                      <a:pt x="7818" y="0"/>
                      <a:pt x="17463" y="0"/>
                    </a:cubicBezTo>
                    <a:lnTo>
                      <a:pt x="139700" y="0"/>
                    </a:lnTo>
                    <a:cubicBezTo>
                      <a:pt x="149344" y="0"/>
                      <a:pt x="157162" y="7818"/>
                      <a:pt x="157162" y="17462"/>
                    </a:cubicBezTo>
                    <a:lnTo>
                      <a:pt x="157162" y="96044"/>
                    </a:lnTo>
                    <a:cubicBezTo>
                      <a:pt x="157162" y="105688"/>
                      <a:pt x="149344" y="113506"/>
                      <a:pt x="139700" y="113506"/>
                    </a:cubicBezTo>
                    <a:lnTo>
                      <a:pt x="17463" y="113506"/>
                    </a:lnTo>
                    <a:cubicBezTo>
                      <a:pt x="7818" y="113506"/>
                      <a:pt x="0" y="105688"/>
                      <a:pt x="0" y="96044"/>
                    </a:cubicBezTo>
                    <a:lnTo>
                      <a:pt x="0" y="17462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203950" y="2845594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  <a:lnTo>
                      <a:pt x="52388" y="0"/>
                    </a:lnTo>
                    <a:cubicBezTo>
                      <a:pt x="62032" y="0"/>
                      <a:pt x="69850" y="7818"/>
                      <a:pt x="69850" y="17462"/>
                    </a:cubicBezTo>
                    <a:lnTo>
                      <a:pt x="69850" y="3492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238875" y="2924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160294" y="2932906"/>
                <a:ext cx="157162" cy="24907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4907">
                    <a:moveTo>
                      <a:pt x="0" y="0"/>
                    </a:moveTo>
                    <a:cubicBezTo>
                      <a:pt x="49427" y="24907"/>
                      <a:pt x="107735" y="24907"/>
                      <a:pt x="157162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424612" y="2859881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hr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83718" y="2876074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按 created_by 过滤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22670" y="3160395"/>
              <a:ext cx="28752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只看自己建的岗位与面试。这条判据对 HR 成立，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22670" y="3331845"/>
              <a:ext cx="27832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但下一张卡片会说明：它对候选人完全不成立。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943600" y="3619500"/>
              <a:ext cx="5638800" cy="1143000"/>
            </a:xfrm>
            <a:prstGeom prst="roundRect">
              <a:avLst>
                <a:gd name="adj" fmla="val 6667"/>
              </a:avLst>
            </a:prstGeom>
            <a:solidFill>
              <a:srgbClr val="F2F6F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186488" y="3798094"/>
              <a:ext cx="130969" cy="157163"/>
              <a:chOff x="6186488" y="3798094"/>
              <a:chExt cx="130969" cy="15716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203950" y="3798094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186488" y="3902869"/>
                <a:ext cx="69850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52388">
                    <a:moveTo>
                      <a:pt x="0" y="52388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265069" y="3920331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424612" y="3812381"/>
              <a:ext cx="8394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candidate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83768" y="3828574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resource 归属 + 有效邀请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22670" y="4112895"/>
              <a:ext cx="35653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练习与简历按资源归属（owner）；面试则按「</a:t>
              </a:r>
              <a:r>
                <a:rPr lang="zh-CN" sz="9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持有该面试的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22670" y="4284345"/>
              <a:ext cx="3256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有效邀请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」判定，走 </a:t>
              </a:r>
              <a:r>
                <a:rPr lang="zh-CN" sz="900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get_interview_for_candidate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22670" y="44938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不引入新机制，直接复用既有的邀请链。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943600" y="4876800"/>
              <a:ext cx="5638800" cy="1066800"/>
            </a:xfrm>
            <a:prstGeom prst="roundRect">
              <a:avLst>
                <a:gd name="adj" fmla="val 7143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148510" y="5074444"/>
              <a:ext cx="170506" cy="157162"/>
              <a:chOff x="6148510" y="5074444"/>
              <a:chExt cx="170506" cy="157162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148510" y="5074444"/>
                <a:ext cx="170506" cy="155818"/>
              </a:xfrm>
              <a:custGeom>
                <a:avLst/>
                <a:gdLst/>
                <a:ahLst/>
                <a:cxnLst/>
                <a:rect l="l" t="t" r="r" b="b"/>
                <a:pathLst>
                  <a:path w="170506" h="155818">
                    <a:moveTo>
                      <a:pt x="85650" y="155818"/>
                    </a:moveTo>
                    <a:cubicBezTo>
                      <a:pt x="30952" y="138863"/>
                      <a:pt x="0" y="81134"/>
                      <a:pt x="16149" y="26194"/>
                    </a:cubicBezTo>
                    <a:cubicBezTo>
                      <a:pt x="43351" y="27439"/>
                      <a:pt x="69970" y="18044"/>
                      <a:pt x="90365" y="0"/>
                    </a:cubicBezTo>
                    <a:cubicBezTo>
                      <a:pt x="110759" y="18044"/>
                      <a:pt x="137378" y="27439"/>
                      <a:pt x="164580" y="26194"/>
                    </a:cubicBezTo>
                    <a:cubicBezTo>
                      <a:pt x="170506" y="46355"/>
                      <a:pt x="170232" y="67833"/>
                      <a:pt x="163794" y="87836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265069" y="5196681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2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425565" y="5096828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结论：集合精确匹配，无继承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122670" y="5370195"/>
              <a:ext cx="30855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HR 侧必须显式写 </a:t>
              </a:r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require_roles("admin", "hr")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；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122670" y="5560695"/>
              <a:ext cx="35324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admin 不能调候选人端接口，candidate 不能调 HR 端接口，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122670" y="5751195"/>
              <a:ext cx="38873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两个方向都返回 403。守卫先于请求体校验：body 为空也先 403。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7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74402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模块⑥ auth：问题与解决（候选人隔离判据）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P32 / 35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409700"/>
            <a:ext cx="10972800" cy="990600"/>
            <a:chOff x="609600" y="1409700"/>
            <a:chExt cx="10972800" cy="9906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4191000" cy="990600"/>
            </a:xfrm>
            <a:prstGeom prst="roundRect">
              <a:avLst>
                <a:gd name="adj" fmla="val 7692"/>
              </a:avLst>
            </a:prstGeom>
            <a:solidFill>
              <a:srgbClr val="5A6B7D">
                <a:alpha val="7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38100" cy="990600"/>
            </a:xfrm>
            <a:prstGeom prst="rect">
              <a:avLst/>
            </a:prstGeom>
            <a:solidFill>
              <a:srgbClr val="5A6B7D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00100" y="15240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5A6B7D">
                <a:alpha val="16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0441" y="15778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错误做法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8670" y="178879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加入 candidate 角色后，原有的 HR 侧路由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8670" y="1998345"/>
              <a:ext cx="2618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只校验「已登录」—— 候选人 token 可以直接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8670" y="2207895"/>
              <a:ext cx="9035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调用 HR 接口。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91100" y="1409700"/>
              <a:ext cx="6591300" cy="990600"/>
            </a:xfrm>
            <a:prstGeom prst="roundRect">
              <a:avLst>
                <a:gd name="adj" fmla="val 7692"/>
              </a:avLst>
            </a:prstGeom>
            <a:solidFill>
              <a:srgbClr val="1565C0">
                <a:alpha val="7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991100" y="1409700"/>
              <a:ext cx="38100" cy="9906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181600" y="15240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1565C0">
                <a:alpha val="16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41941" y="15778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正确做法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70170" y="1788795"/>
              <a:ext cx="54975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权限守卫</a:t>
              </a:r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收紧为多角色判定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：HR 侧全部接口显式校验 admin / hr，候选人侧校验 candidate。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70170" y="1998345"/>
              <a:ext cx="44131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这是本期</a:t>
              </a:r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强制项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，不是可选项 —— 不收紧等于把整组 HR 接口对候选人开放。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70170" y="2207895"/>
              <a:ext cx="29146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接口一旦多出一个角色，这条检查必须同步收紧。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2476500"/>
            <a:ext cx="10972800" cy="990600"/>
            <a:chOff x="609600" y="2476500"/>
            <a:chExt cx="10972800" cy="990600"/>
          </a:xfrm>
        </p:grpSpPr>
        <p:sp>
          <p:nvSpPr>
            <p:cNvPr id="26" name="Rectangle 26"/>
            <p:cNvSpPr/>
            <p:nvPr/>
          </p:nvSpPr>
          <p:spPr>
            <a:xfrm>
              <a:off x="609600" y="2476500"/>
              <a:ext cx="4191000" cy="990600"/>
            </a:xfrm>
            <a:prstGeom prst="roundRect">
              <a:avLst>
                <a:gd name="adj" fmla="val 7692"/>
              </a:avLst>
            </a:prstGeom>
            <a:solidFill>
              <a:srgbClr val="5A6B7D">
                <a:alpha val="7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" y="2476500"/>
              <a:ext cx="38100" cy="990600"/>
            </a:xfrm>
            <a:prstGeom prst="rect">
              <a:avLst/>
            </a:prstGeom>
            <a:solidFill>
              <a:srgbClr val="5A6B7D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00100" y="25908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5A6B7D">
                <a:alpha val="16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0441" y="26446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错误做法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8670" y="2855595"/>
              <a:ext cx="22705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候选人数据隔离</a:t>
              </a:r>
              <a:r>
                <a:rPr lang="zh-CN" sz="9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复用 created_by 判据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8670" y="3065145"/>
              <a:ext cx="24940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—— 候选人不是面试的创建者（那是 HR），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8670" y="3274695"/>
              <a:ext cx="2651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按它过滤会让候选人看不到自己的任何面试。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991100" y="2476500"/>
              <a:ext cx="6591300" cy="990600"/>
            </a:xfrm>
            <a:prstGeom prst="roundRect">
              <a:avLst>
                <a:gd name="adj" fmla="val 7692"/>
              </a:avLst>
            </a:prstGeom>
            <a:solidFill>
              <a:srgbClr val="00897B">
                <a:alpha val="7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991100" y="2476500"/>
              <a:ext cx="38100" cy="99060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81600" y="25908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00897B">
                <a:alpha val="1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41941" y="26446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正确做法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70170" y="2855595"/>
              <a:ext cx="34404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候选人侧新增「</a:t>
              </a:r>
              <a:r>
                <a:rPr lang="zh-CN" sz="9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持有该面试的有效邀请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」这条独立校验路径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70170" y="3065145"/>
              <a:ext cx="32169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zh-CN" sz="900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get_interview_for_candidate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）：不引入新机制，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70170" y="3274695"/>
              <a:ext cx="30066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直接复用既有的邀请链 —— 归属关系本来就在那里。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3543300"/>
            <a:ext cx="10972800" cy="990600"/>
            <a:chOff x="609600" y="3543300"/>
            <a:chExt cx="10972800" cy="990600"/>
          </a:xfrm>
        </p:grpSpPr>
        <p:sp>
          <p:nvSpPr>
            <p:cNvPr id="41" name="Rectangle 41"/>
            <p:cNvSpPr/>
            <p:nvPr/>
          </p:nvSpPr>
          <p:spPr>
            <a:xfrm>
              <a:off x="609600" y="3543300"/>
              <a:ext cx="4191000" cy="990600"/>
            </a:xfrm>
            <a:prstGeom prst="roundRect">
              <a:avLst>
                <a:gd name="adj" fmla="val 7692"/>
              </a:avLst>
            </a:prstGeom>
            <a:solidFill>
              <a:srgbClr val="5A6B7D">
                <a:alpha val="7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" y="3543300"/>
              <a:ext cx="38100" cy="990600"/>
            </a:xfrm>
            <a:prstGeom prst="rect">
              <a:avLst/>
            </a:prstGeom>
            <a:solidFill>
              <a:srgbClr val="5A6B7D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00100" y="36576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5A6B7D">
                <a:alpha val="16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0441" y="37114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错误做法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8670" y="3922395"/>
              <a:ext cx="25597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用户名已被 candidate 占用时，直接复用该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8670" y="4131945"/>
              <a:ext cx="24808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账号 —— 于是「知道对方用户名」就等价于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8670" y="434149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能把他的账号绑到自己的邀请上。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991100" y="3543300"/>
              <a:ext cx="6591300" cy="990600"/>
            </a:xfrm>
            <a:prstGeom prst="roundRect">
              <a:avLst>
                <a:gd name="adj" fmla="val 7692"/>
              </a:avLst>
            </a:prstGeom>
            <a:solidFill>
              <a:srgbClr val="1565C0">
                <a:alpha val="7000"/>
              </a:srgb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991100" y="3543300"/>
              <a:ext cx="38100" cy="9906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181600" y="36576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1565C0">
                <a:alpha val="16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41941" y="37114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正确做法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170170" y="3922395"/>
              <a:ext cx="5241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必须校验密码一致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才复用，不符即 401「用户名或密码错误」。否则被读到的不只是账号，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170170" y="4131945"/>
              <a:ext cx="54778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还有对方的面试。用户名已被 hr / admin 占用则返回 409（沿用「用户名已被占用」语义）。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170170" y="4341495"/>
              <a:ext cx="32695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401 的文案对「密码错」与「用户名不存在」故意一致。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9600" y="4610100"/>
            <a:ext cx="10972800" cy="990600"/>
            <a:chOff x="609600" y="4610100"/>
            <a:chExt cx="10972800" cy="990600"/>
          </a:xfrm>
        </p:grpSpPr>
        <p:sp>
          <p:nvSpPr>
            <p:cNvPr id="56" name="Rectangle 56"/>
            <p:cNvSpPr/>
            <p:nvPr/>
          </p:nvSpPr>
          <p:spPr>
            <a:xfrm>
              <a:off x="609600" y="4610100"/>
              <a:ext cx="4191000" cy="990600"/>
            </a:xfrm>
            <a:prstGeom prst="roundRect">
              <a:avLst>
                <a:gd name="adj" fmla="val 7692"/>
              </a:avLst>
            </a:prstGeom>
            <a:solidFill>
              <a:srgbClr val="5A6B7D">
                <a:alpha val="7000"/>
              </a:srgbClr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9600" y="4610100"/>
              <a:ext cx="38100" cy="990600"/>
            </a:xfrm>
            <a:prstGeom prst="rect">
              <a:avLst/>
            </a:prstGeom>
            <a:solidFill>
              <a:srgbClr val="5A6B7D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00100" y="47244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5A6B7D">
                <a:alpha val="16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60441" y="47782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错误做法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8670" y="4989195"/>
              <a:ext cx="24808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被禁用的候选人账号被复用绑定 —— 绑定会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8670" y="5198745"/>
              <a:ext cx="2461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消耗掉一次性邀请码，而该账号此后 login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8670" y="5408295"/>
              <a:ext cx="20471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与 get_current_user 都拒绝它。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991100" y="4610100"/>
              <a:ext cx="6591300" cy="990600"/>
            </a:xfrm>
            <a:prstGeom prst="roundRect">
              <a:avLst>
                <a:gd name="adj" fmla="val 7692"/>
              </a:avLst>
            </a:prstGeom>
            <a:solidFill>
              <a:srgbClr val="C62828">
                <a:alpha val="7000"/>
              </a:srgbClr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991100" y="4610100"/>
              <a:ext cx="38100" cy="9906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181600" y="47244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6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41941" y="47782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正确做法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170170" y="4989195"/>
              <a:ext cx="43211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不得复用，返回 401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。禁用账号一旦被绑定，候选人永远打不开这场面试，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170170" y="5198745"/>
              <a:ext cx="41107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也无法重新发码 —— 邀请码是</a:t>
              </a:r>
              <a:r>
                <a:rPr lang="zh-CN" sz="9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一次性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的，消耗掉就没有第二次机会。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170170" y="5408295"/>
              <a:ext cx="31775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这是一条无法自行恢复的死路，所以必须在入口拦住。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09600" y="5715000"/>
            <a:ext cx="10972800" cy="381000"/>
            <a:chOff x="609600" y="5715000"/>
            <a:chExt cx="10972800" cy="381000"/>
          </a:xfrm>
        </p:grpSpPr>
        <p:sp>
          <p:nvSpPr>
            <p:cNvPr id="71" name="Rectangle 71"/>
            <p:cNvSpPr/>
            <p:nvPr/>
          </p:nvSpPr>
          <p:spPr>
            <a:xfrm>
              <a:off x="609600" y="5715000"/>
              <a:ext cx="10972800" cy="381000"/>
            </a:xfrm>
            <a:prstGeom prst="roundRect">
              <a:avLst>
                <a:gd name="adj" fmla="val 20000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22658" y="5817394"/>
              <a:ext cx="164435" cy="157162"/>
              <a:chOff x="822658" y="5817394"/>
              <a:chExt cx="164435" cy="157162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22658" y="5817394"/>
                <a:ext cx="16443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64435" h="157162">
                    <a:moveTo>
                      <a:pt x="82217" y="0"/>
                    </a:moveTo>
                    <a:cubicBezTo>
                      <a:pt x="102612" y="18044"/>
                      <a:pt x="129231" y="27439"/>
                      <a:pt x="156433" y="26194"/>
                    </a:cubicBezTo>
                    <a:cubicBezTo>
                      <a:pt x="164435" y="53414"/>
                      <a:pt x="161055" y="82715"/>
                      <a:pt x="147068" y="107399"/>
                    </a:cubicBezTo>
                    <a:cubicBezTo>
                      <a:pt x="133080" y="132083"/>
                      <a:pt x="109680" y="150039"/>
                      <a:pt x="82217" y="157162"/>
                    </a:cubicBezTo>
                    <a:cubicBezTo>
                      <a:pt x="54754" y="150039"/>
                      <a:pt x="31354" y="132083"/>
                      <a:pt x="17367" y="107399"/>
                    </a:cubicBezTo>
                    <a:cubicBezTo>
                      <a:pt x="3379" y="82715"/>
                      <a:pt x="0" y="53414"/>
                      <a:pt x="8002" y="26194"/>
                    </a:cubicBezTo>
                    <a:cubicBezTo>
                      <a:pt x="35204" y="27439"/>
                      <a:pt x="61823" y="18044"/>
                      <a:pt x="82217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96144" y="5878512"/>
                <a:ext cx="17463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17463">
                    <a:moveTo>
                      <a:pt x="0" y="8731"/>
                    </a:moveTo>
                    <a:cubicBezTo>
                      <a:pt x="0" y="13553"/>
                      <a:pt x="3909" y="17463"/>
                      <a:pt x="8731" y="17463"/>
                    </a:cubicBezTo>
                    <a:cubicBezTo>
                      <a:pt x="13553" y="17463"/>
                      <a:pt x="17463" y="13553"/>
                      <a:pt x="17463" y="8731"/>
                    </a:cubicBezTo>
                    <a:cubicBezTo>
                      <a:pt x="17463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04875" y="5895975"/>
                <a:ext cx="9525" cy="2182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828">
                    <a:moveTo>
                      <a:pt x="0" y="0"/>
                    </a:moveTo>
                    <a:lnTo>
                      <a:pt x="0" y="2182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91565" y="5839778"/>
              <a:ext cx="61607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贯穿六条改动的原则：把「谁有权看到什么」写成</a:t>
              </a:r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可执行的路径与判据</a:t>
              </a:r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，而不是写在注释里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  <p:bldP spid="55" grpId="0"/>
      <p:bldP spid="70" grpId="0"/>
      <p:bldP spid="7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工程收获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87609" y="667702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05 收获与展望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P33 / 35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1409700"/>
            <a:ext cx="10984230" cy="892969"/>
            <a:chOff x="609600" y="1409700"/>
            <a:chExt cx="10984230" cy="892969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10972800" cy="838200"/>
            </a:xfrm>
            <a:prstGeom prst="roundRect">
              <a:avLst>
                <a:gd name="adj" fmla="val 9091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38100" cy="838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28675" y="1666875"/>
              <a:ext cx="323850" cy="32385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0434" y="1754981"/>
              <a:ext cx="80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8260" y="1642110"/>
              <a:ext cx="33428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架构约束要能被测试钉住，而不是靠自觉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24168" y="1674495"/>
              <a:ext cx="18696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tests/test_architecture.py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1118" y="1914049"/>
              <a:ext cx="5144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直接检查「router 不得引用 repository」「service 不得出现 db.execute」——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1118" y="2104549"/>
              <a:ext cx="28727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写在文档里的约束会腐化，</a:t>
              </a:r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写成测试的不会</a:t>
              </a:r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2324100"/>
            <a:ext cx="10984230" cy="892969"/>
            <a:chOff x="609600" y="2324100"/>
            <a:chExt cx="10984230" cy="892969"/>
          </a:xfrm>
        </p:grpSpPr>
        <p:sp>
          <p:nvSpPr>
            <p:cNvPr id="20" name="Rectangle 20"/>
            <p:cNvSpPr/>
            <p:nvPr/>
          </p:nvSpPr>
          <p:spPr>
            <a:xfrm>
              <a:off x="609600" y="2324100"/>
              <a:ext cx="10972800" cy="838200"/>
            </a:xfrm>
            <a:prstGeom prst="roundRect">
              <a:avLst>
                <a:gd name="adj" fmla="val 9091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2324100"/>
              <a:ext cx="38100" cy="83820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28675" y="2581275"/>
              <a:ext cx="323850" cy="323850"/>
            </a:xfrm>
            <a:prstGeom prst="ellipse">
              <a:avLst/>
            </a:prstGeom>
            <a:solidFill>
              <a:srgbClr val="00897B">
                <a:alpha val="12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869" y="266938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8260" y="2556510"/>
              <a:ext cx="27908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让不该发生的事在结构上无从表达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67341" y="258889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ai/base.py · 输出 schema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1118" y="2828449"/>
              <a:ext cx="59200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MatchedQuestion 只有 id 与理由、没有题面字段；CandidateFeedbackOut 是</a:t>
              </a:r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白名单模型</a:t>
              </a:r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1118" y="3018949"/>
              <a:ext cx="5578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分数不在里面就</a:t>
              </a:r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根本没发给浏览器</a:t>
              </a:r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。靠「前端不渲染」脱敏，等于发出去再要求它别看。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3238500"/>
            <a:ext cx="10984230" cy="892969"/>
            <a:chOff x="609600" y="3238500"/>
            <a:chExt cx="10984230" cy="892969"/>
          </a:xfrm>
        </p:grpSpPr>
        <p:sp>
          <p:nvSpPr>
            <p:cNvPr id="29" name="Rectangle 29"/>
            <p:cNvSpPr/>
            <p:nvPr/>
          </p:nvSpPr>
          <p:spPr>
            <a:xfrm>
              <a:off x="609600" y="3238500"/>
              <a:ext cx="10972800" cy="838200"/>
            </a:xfrm>
            <a:prstGeom prst="roundRect">
              <a:avLst>
                <a:gd name="adj" fmla="val 9091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9600" y="3238500"/>
              <a:ext cx="38100" cy="8382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828675" y="3495675"/>
              <a:ext cx="323850" cy="323850"/>
            </a:xfrm>
            <a:prstGeom prst="ellipse">
              <a:avLst/>
            </a:prstGeom>
            <a:solidFill>
              <a:srgbClr val="F57C00">
                <a:alpha val="12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8869" y="358378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18260" y="347091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失败要显式，不要静默降级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55613" y="3503295"/>
              <a:ext cx="17382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ai/factory.py · evaluation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1118" y="3742849"/>
              <a:ext cx="46598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真实 Provider 失败</a:t>
              </a:r>
              <a:r>
                <a:rPr lang="zh-CN" sz="975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不降级到 Mock</a:t>
              </a:r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，而是 502；AI 判分失败不阻塞作答，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21118" y="3933349"/>
              <a:ext cx="41116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标记为「未判分」并可重判 —— 「没有」与「坏了」必须可区分。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4152900"/>
            <a:ext cx="10984230" cy="892969"/>
            <a:chOff x="609600" y="4152900"/>
            <a:chExt cx="10984230" cy="892969"/>
          </a:xfrm>
        </p:grpSpPr>
        <p:sp>
          <p:nvSpPr>
            <p:cNvPr id="38" name="Rectangle 38"/>
            <p:cNvSpPr/>
            <p:nvPr/>
          </p:nvSpPr>
          <p:spPr>
            <a:xfrm>
              <a:off x="609600" y="4152900"/>
              <a:ext cx="10972800" cy="838200"/>
            </a:xfrm>
            <a:prstGeom prst="roundRect">
              <a:avLst>
                <a:gd name="adj" fmla="val 9091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9600" y="4152900"/>
              <a:ext cx="38100" cy="838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28675" y="4410075"/>
              <a:ext cx="323850" cy="32385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8869" y="449818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18260" y="438531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先写设计契约，再写实现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17994" y="4417695"/>
              <a:ext cx="9758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模块计划书 × 30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21118" y="4657249"/>
              <a:ext cx="44960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30 份模块计划书先定签名与字段表，再落代码。前端重建期抓到的五处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21118" y="4847749"/>
              <a:ext cx="45815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「原型与真实契约对不上」，根因都是照着原型的内存 mock 写字段名。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5067300"/>
            <a:ext cx="10984230" cy="892969"/>
            <a:chOff x="609600" y="5067300"/>
            <a:chExt cx="10984230" cy="892969"/>
          </a:xfrm>
        </p:grpSpPr>
        <p:sp>
          <p:nvSpPr>
            <p:cNvPr id="47" name="Rectangle 47"/>
            <p:cNvSpPr/>
            <p:nvPr/>
          </p:nvSpPr>
          <p:spPr>
            <a:xfrm>
              <a:off x="609600" y="5067300"/>
              <a:ext cx="10972800" cy="838200"/>
            </a:xfrm>
            <a:prstGeom prst="roundRect">
              <a:avLst>
                <a:gd name="adj" fmla="val 9091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9600" y="5067300"/>
              <a:ext cx="38100" cy="83820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28675" y="5324475"/>
              <a:ext cx="323850" cy="323850"/>
            </a:xfrm>
            <a:prstGeom prst="ellipse">
              <a:avLst/>
            </a:prstGeom>
            <a:solidFill>
              <a:srgbClr val="00897B">
                <a:alpha val="12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8869" y="541258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18260" y="529971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测试方法本身要能被审查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49439" y="5332095"/>
              <a:ext cx="8443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变异检查 × 33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21118" y="5571649"/>
              <a:ext cx="54359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前端测试台曾用取按钮的辅助函数按文字找「登录」，命中的却是文档顺序靠前的模式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321118" y="5762149"/>
              <a:ext cx="5535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切换控件 —— 两条断言全绿，但什么都没测到。</a:t>
              </a:r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「绿」可能只是「没测」的另一种说法。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8" grpId="0"/>
      <p:bldP spid="37" grpId="0"/>
      <p:bldP spid="46" grpId="0"/>
      <p:bldP spid="5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337337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已知局限与踩过的坑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87609" y="667702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05 收获与展望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P34 / 35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1409700"/>
            <a:ext cx="10972800" cy="771525"/>
            <a:chOff x="609600" y="1409700"/>
            <a:chExt cx="10972800" cy="771525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38100" cy="7620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64394" y="1597025"/>
              <a:ext cx="157162" cy="139700"/>
              <a:chOff x="864394" y="1597025"/>
              <a:chExt cx="157162" cy="1397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64394" y="1597025"/>
                <a:ext cx="157162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69850">
                    <a:moveTo>
                      <a:pt x="0" y="26194"/>
                    </a:moveTo>
                    <a:cubicBezTo>
                      <a:pt x="0" y="11727"/>
                      <a:pt x="11727" y="0"/>
                      <a:pt x="26194" y="0"/>
                    </a:cubicBezTo>
                    <a:lnTo>
                      <a:pt x="130969" y="0"/>
                    </a:lnTo>
                    <a:cubicBezTo>
                      <a:pt x="145435" y="0"/>
                      <a:pt x="157162" y="11727"/>
                      <a:pt x="157162" y="26194"/>
                    </a:cubicBezTo>
                    <a:lnTo>
                      <a:pt x="157162" y="43656"/>
                    </a:lnTo>
                    <a:cubicBezTo>
                      <a:pt x="157162" y="58123"/>
                      <a:pt x="145435" y="69850"/>
                      <a:pt x="130969" y="69850"/>
                    </a:cubicBezTo>
                    <a:lnTo>
                      <a:pt x="26194" y="69850"/>
                    </a:lnTo>
                    <a:cubicBezTo>
                      <a:pt x="11727" y="69850"/>
                      <a:pt x="0" y="58123"/>
                      <a:pt x="0" y="43656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64394" y="1666875"/>
                <a:ext cx="157162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69850">
                    <a:moveTo>
                      <a:pt x="0" y="26194"/>
                    </a:moveTo>
                    <a:cubicBezTo>
                      <a:pt x="0" y="11727"/>
                      <a:pt x="11727" y="0"/>
                      <a:pt x="26194" y="0"/>
                    </a:cubicBezTo>
                    <a:lnTo>
                      <a:pt x="130969" y="0"/>
                    </a:lnTo>
                    <a:cubicBezTo>
                      <a:pt x="145435" y="0"/>
                      <a:pt x="157162" y="11727"/>
                      <a:pt x="157162" y="26194"/>
                    </a:cubicBezTo>
                    <a:lnTo>
                      <a:pt x="157162" y="43656"/>
                    </a:lnTo>
                    <a:cubicBezTo>
                      <a:pt x="157162" y="58123"/>
                      <a:pt x="145435" y="69850"/>
                      <a:pt x="130969" y="69850"/>
                    </a:cubicBezTo>
                    <a:lnTo>
                      <a:pt x="26194" y="69850"/>
                    </a:lnTo>
                    <a:cubicBezTo>
                      <a:pt x="11727" y="69850"/>
                      <a:pt x="0" y="58123"/>
                      <a:pt x="0" y="43656"/>
                    </a:cubicBezTo>
                    <a:lnTo>
                      <a:pt x="0" y="26194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9319" y="1631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99319" y="170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65860" y="15849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单进程部署是硬约束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69670" y="1826895"/>
              <a:ext cx="40976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SSE 运行注册表与刷题限流计数都在进程内，因此必须 </a:t>
              </a:r>
              <a:r>
                <a:rPr lang="zh-CN" sz="9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--workers 1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9670" y="1998345"/>
              <a:ext cx="4301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代价：要支持多 worker，须改用 Redis pub/sub 或 Celery + 结果后端。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2247900"/>
            <a:ext cx="10972800" cy="771525"/>
            <a:chOff x="609600" y="2247900"/>
            <a:chExt cx="10972800" cy="771525"/>
          </a:xfrm>
        </p:grpSpPr>
        <p:sp>
          <p:nvSpPr>
            <p:cNvPr id="22" name="Rectangle 22"/>
            <p:cNvSpPr/>
            <p:nvPr/>
          </p:nvSpPr>
          <p:spPr>
            <a:xfrm>
              <a:off x="609600" y="22479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2247900"/>
              <a:ext cx="38100" cy="7620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64830" y="2425274"/>
              <a:ext cx="161109" cy="164808"/>
              <a:chOff x="864830" y="2425274"/>
              <a:chExt cx="161109" cy="16480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42975" y="2470150"/>
                <a:ext cx="1746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52388">
                    <a:moveTo>
                      <a:pt x="0" y="0"/>
                    </a:moveTo>
                    <a:lnTo>
                      <a:pt x="0" y="34925"/>
                    </a:lnTo>
                    <a:lnTo>
                      <a:pt x="17462" y="52388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64830" y="2425274"/>
                <a:ext cx="161109" cy="164808"/>
              </a:xfrm>
              <a:custGeom>
                <a:avLst/>
                <a:gdLst/>
                <a:ahLst/>
                <a:cxnLst/>
                <a:rect l="l" t="t" r="r" b="b"/>
                <a:pathLst>
                  <a:path w="161109" h="164808">
                    <a:moveTo>
                      <a:pt x="0" y="71069"/>
                    </a:moveTo>
                    <a:cubicBezTo>
                      <a:pt x="4051" y="31302"/>
                      <a:pt x="37309" y="913"/>
                      <a:pt x="77279" y="457"/>
                    </a:cubicBezTo>
                    <a:cubicBezTo>
                      <a:pt x="117249" y="0"/>
                      <a:pt x="151193" y="29622"/>
                      <a:pt x="156151" y="69286"/>
                    </a:cubicBezTo>
                    <a:cubicBezTo>
                      <a:pt x="161109" y="108950"/>
                      <a:pt x="135501" y="146016"/>
                      <a:pt x="96649" y="155412"/>
                    </a:cubicBezTo>
                    <a:cubicBezTo>
                      <a:pt x="57796" y="164808"/>
                      <a:pt x="18081" y="143541"/>
                      <a:pt x="4366" y="105994"/>
                    </a:cubicBezTo>
                    <a:moveTo>
                      <a:pt x="0" y="149651"/>
                    </a:moveTo>
                    <a:lnTo>
                      <a:pt x="0" y="105994"/>
                    </a:lnTo>
                    <a:lnTo>
                      <a:pt x="43656" y="105994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165860" y="242316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评估与作答都不留历史版本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69670" y="2665095"/>
              <a:ext cx="44131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同一面试只保留最近一次评估结果；HR 覆盖候选人作答时只保留最新内容。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69670" y="2836545"/>
              <a:ext cx="4491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代价：无法回溯「上一次评估给了多少分」，也无从对比候选人的修改轨迹。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3086100"/>
            <a:ext cx="10972800" cy="771525"/>
            <a:chOff x="609600" y="3086100"/>
            <a:chExt cx="10972800" cy="771525"/>
          </a:xfrm>
        </p:grpSpPr>
        <p:sp>
          <p:nvSpPr>
            <p:cNvPr id="31" name="Rectangle 31"/>
            <p:cNvSpPr/>
            <p:nvPr/>
          </p:nvSpPr>
          <p:spPr>
            <a:xfrm>
              <a:off x="609600" y="30861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9600" y="3086100"/>
              <a:ext cx="38100" cy="7620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64394" y="3264695"/>
              <a:ext cx="157161" cy="157161"/>
              <a:chOff x="864394" y="3264695"/>
              <a:chExt cx="157161" cy="1571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64394" y="3264695"/>
                <a:ext cx="157161" cy="157161"/>
              </a:xfrm>
              <a:custGeom>
                <a:avLst/>
                <a:gdLst/>
                <a:ahLst/>
                <a:cxnLst/>
                <a:rect l="l" t="t" r="r" b="b"/>
                <a:pathLst>
                  <a:path w="157161" h="157161">
                    <a:moveTo>
                      <a:pt x="118352" y="7359"/>
                    </a:moveTo>
                    <a:lnTo>
                      <a:pt x="149802" y="38809"/>
                    </a:lnTo>
                    <a:cubicBezTo>
                      <a:pt x="154514" y="43520"/>
                      <a:pt x="157161" y="49910"/>
                      <a:pt x="157161" y="56572"/>
                    </a:cubicBezTo>
                    <a:cubicBezTo>
                      <a:pt x="157161" y="63235"/>
                      <a:pt x="154514" y="69625"/>
                      <a:pt x="149802" y="74336"/>
                    </a:cubicBezTo>
                    <a:lnTo>
                      <a:pt x="126725" y="97413"/>
                    </a:lnTo>
                    <a:cubicBezTo>
                      <a:pt x="122014" y="102125"/>
                      <a:pt x="115624" y="104772"/>
                      <a:pt x="108962" y="104772"/>
                    </a:cubicBezTo>
                    <a:cubicBezTo>
                      <a:pt x="102299" y="104772"/>
                      <a:pt x="95909" y="102125"/>
                      <a:pt x="91198" y="97413"/>
                    </a:cubicBezTo>
                    <a:lnTo>
                      <a:pt x="88570" y="94785"/>
                    </a:lnTo>
                    <a:lnTo>
                      <a:pt x="31310" y="152044"/>
                    </a:lnTo>
                    <a:cubicBezTo>
                      <a:pt x="28409" y="154945"/>
                      <a:pt x="24579" y="156732"/>
                      <a:pt x="20492" y="157091"/>
                    </a:cubicBezTo>
                    <a:lnTo>
                      <a:pt x="18964" y="157161"/>
                    </a:lnTo>
                    <a:lnTo>
                      <a:pt x="8731" y="157161"/>
                    </a:lnTo>
                    <a:cubicBezTo>
                      <a:pt x="4305" y="157160"/>
                      <a:pt x="579" y="153847"/>
                      <a:pt x="61" y="149451"/>
                    </a:cubicBezTo>
                    <a:lnTo>
                      <a:pt x="0" y="148430"/>
                    </a:lnTo>
                    <a:lnTo>
                      <a:pt x="0" y="138197"/>
                    </a:lnTo>
                    <a:cubicBezTo>
                      <a:pt x="1" y="134097"/>
                      <a:pt x="1444" y="130128"/>
                      <a:pt x="4077" y="126986"/>
                    </a:cubicBezTo>
                    <a:lnTo>
                      <a:pt x="5117" y="125851"/>
                    </a:lnTo>
                    <a:lnTo>
                      <a:pt x="8731" y="122236"/>
                    </a:lnTo>
                    <a:lnTo>
                      <a:pt x="26194" y="122236"/>
                    </a:lnTo>
                    <a:lnTo>
                      <a:pt x="26194" y="104773"/>
                    </a:lnTo>
                    <a:lnTo>
                      <a:pt x="43656" y="104773"/>
                    </a:lnTo>
                    <a:lnTo>
                      <a:pt x="43656" y="87311"/>
                    </a:lnTo>
                    <a:lnTo>
                      <a:pt x="62376" y="68591"/>
                    </a:lnTo>
                    <a:lnTo>
                      <a:pt x="59748" y="65963"/>
                    </a:lnTo>
                    <a:cubicBezTo>
                      <a:pt x="55036" y="61252"/>
                      <a:pt x="52389" y="54862"/>
                      <a:pt x="52389" y="48199"/>
                    </a:cubicBezTo>
                    <a:cubicBezTo>
                      <a:pt x="52389" y="41536"/>
                      <a:pt x="55036" y="35146"/>
                      <a:pt x="59748" y="30435"/>
                    </a:cubicBezTo>
                    <a:lnTo>
                      <a:pt x="82825" y="7359"/>
                    </a:lnTo>
                    <a:cubicBezTo>
                      <a:pt x="87536" y="2647"/>
                      <a:pt x="93926" y="0"/>
                      <a:pt x="100588" y="0"/>
                    </a:cubicBezTo>
                    <a:cubicBezTo>
                      <a:pt x="107251" y="0"/>
                      <a:pt x="113641" y="2647"/>
                      <a:pt x="118352" y="7359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9169" y="33170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165860" y="326136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邀请码明文存储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69670" y="3503295"/>
              <a:ext cx="29672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需要在系统内复制并转达，因此无法哈希存储。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69670" y="3674745"/>
              <a:ext cx="43802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缓解：长码（约 128 位熵）+ 短有效期 + 一次性 + 可撤销，四者叠加使用。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9600" y="3924300"/>
            <a:ext cx="10972800" cy="771525"/>
            <a:chOff x="609600" y="3924300"/>
            <a:chExt cx="10972800" cy="771525"/>
          </a:xfrm>
        </p:grpSpPr>
        <p:sp>
          <p:nvSpPr>
            <p:cNvPr id="40" name="Rectangle 40"/>
            <p:cNvSpPr/>
            <p:nvPr/>
          </p:nvSpPr>
          <p:spPr>
            <a:xfrm>
              <a:off x="609600" y="39243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9600" y="3924300"/>
              <a:ext cx="38100" cy="7620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60028" y="4102894"/>
              <a:ext cx="165894" cy="157162"/>
              <a:chOff x="860028" y="4102894"/>
              <a:chExt cx="165894" cy="15716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60028" y="4102894"/>
                <a:ext cx="16589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65894" h="157162">
                    <a:moveTo>
                      <a:pt x="82947" y="0"/>
                    </a:moveTo>
                    <a:lnTo>
                      <a:pt x="165894" y="61119"/>
                    </a:lnTo>
                    <a:lnTo>
                      <a:pt x="135334" y="157162"/>
                    </a:lnTo>
                    <a:lnTo>
                      <a:pt x="30559" y="157162"/>
                    </a:lnTo>
                    <a:lnTo>
                      <a:pt x="0" y="61119"/>
                    </a:lnTo>
                    <a:lnTo>
                      <a:pt x="82947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94953" y="4142184"/>
                <a:ext cx="96044" cy="82947"/>
              </a:xfrm>
              <a:custGeom>
                <a:avLst/>
                <a:gdLst/>
                <a:ahLst/>
                <a:cxnLst/>
                <a:rect l="l" t="t" r="r" b="b"/>
                <a:pathLst>
                  <a:path w="96044" h="82947">
                    <a:moveTo>
                      <a:pt x="48022" y="0"/>
                    </a:moveTo>
                    <a:lnTo>
                      <a:pt x="96044" y="34925"/>
                    </a:lnTo>
                    <a:lnTo>
                      <a:pt x="74216" y="82947"/>
                    </a:lnTo>
                    <a:lnTo>
                      <a:pt x="17463" y="82947"/>
                    </a:lnTo>
                    <a:lnTo>
                      <a:pt x="0" y="34925"/>
                    </a:lnTo>
                    <a:lnTo>
                      <a:pt x="48022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60028" y="4164012"/>
                <a:ext cx="165894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65894" h="26194">
                    <a:moveTo>
                      <a:pt x="0" y="0"/>
                    </a:moveTo>
                    <a:lnTo>
                      <a:pt x="82947" y="26194"/>
                    </a:lnTo>
                    <a:lnTo>
                      <a:pt x="165894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42975" y="4102894"/>
                <a:ext cx="52388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57162">
                    <a:moveTo>
                      <a:pt x="0" y="0"/>
                    </a:moveTo>
                    <a:lnTo>
                      <a:pt x="0" y="87313"/>
                    </a:lnTo>
                    <a:lnTo>
                      <a:pt x="52388" y="157162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90588" y="4190206"/>
                <a:ext cx="523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69850">
                    <a:moveTo>
                      <a:pt x="0" y="6985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165860" y="40995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刷题推荐只从池内挑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69670" y="4341495"/>
              <a:ext cx="47023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候选池是 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min(size×4, 100)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条；超出池上限时，排在后面的题永远进不了推荐。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69670" y="4512945"/>
              <a:ext cx="40582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代价：题库越大，长尾题目越难被练到 —— 这是一次有意的成本取舍。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" y="4762500"/>
            <a:ext cx="10972800" cy="771525"/>
            <a:chOff x="609600" y="4762500"/>
            <a:chExt cx="10972800" cy="771525"/>
          </a:xfrm>
        </p:grpSpPr>
        <p:sp>
          <p:nvSpPr>
            <p:cNvPr id="52" name="Rectangle 52"/>
            <p:cNvSpPr/>
            <p:nvPr/>
          </p:nvSpPr>
          <p:spPr>
            <a:xfrm>
              <a:off x="609600" y="47625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9600" y="4762500"/>
              <a:ext cx="38100" cy="7620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73125" y="4949825"/>
              <a:ext cx="139700" cy="148431"/>
              <a:chOff x="873125" y="4949825"/>
              <a:chExt cx="139700" cy="148431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73125" y="5063331"/>
                <a:ext cx="13970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34925">
                    <a:moveTo>
                      <a:pt x="0" y="0"/>
                    </a:moveTo>
                    <a:lnTo>
                      <a:pt x="0" y="17462"/>
                    </a:lnTo>
                    <a:cubicBezTo>
                      <a:pt x="0" y="27107"/>
                      <a:pt x="7818" y="34925"/>
                      <a:pt x="17462" y="34925"/>
                    </a:cubicBezTo>
                    <a:lnTo>
                      <a:pt x="122237" y="34925"/>
                    </a:lnTo>
                    <a:cubicBezTo>
                      <a:pt x="131882" y="34925"/>
                      <a:pt x="139700" y="27107"/>
                      <a:pt x="139700" y="17462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99319" y="4949825"/>
                <a:ext cx="87312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43656">
                    <a:moveTo>
                      <a:pt x="0" y="43656"/>
                    </a:moveTo>
                    <a:lnTo>
                      <a:pt x="43656" y="0"/>
                    </a:lnTo>
                    <a:lnTo>
                      <a:pt x="87312" y="43656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42975" y="4949825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165860" y="4937760"/>
              <a:ext cx="4078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上传体积上限拦不住「服务器已经收完的请求体」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69670" y="5179695"/>
              <a:ext cx="60233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Starlette 在进入视图函数前已把请求体缓冲下来，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read(limit+1)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省的是</a:t>
              </a:r>
              <a:r>
                <a:rPr lang="zh-CN" sz="9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我们的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内存，不是服务器的。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69670" y="5351145"/>
              <a:ext cx="52149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真正在请求发出前拦住大文件的是前端那道 </a:t>
              </a:r>
              <a:r>
                <a:rPr lang="zh-CN" sz="90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file.size</a:t>
              </a:r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 预检 —— 这是前后端各一半的防线。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09600" y="5638800"/>
            <a:ext cx="11970782" cy="381000"/>
            <a:chOff x="609600" y="5638800"/>
            <a:chExt cx="11970782" cy="381000"/>
          </a:xfrm>
        </p:grpSpPr>
        <p:sp>
          <p:nvSpPr>
            <p:cNvPr id="62" name="Rectangle 62"/>
            <p:cNvSpPr/>
            <p:nvPr/>
          </p:nvSpPr>
          <p:spPr>
            <a:xfrm>
              <a:off x="609600" y="5638800"/>
              <a:ext cx="10972800" cy="3810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7000"/>
              </a:srgbClr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826294" y="5758656"/>
              <a:ext cx="157162" cy="130970"/>
              <a:chOff x="826294" y="5758656"/>
              <a:chExt cx="157162" cy="13097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78681" y="5758656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34925"/>
                    </a:move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cubicBezTo>
                      <a:pt x="40660" y="0"/>
                      <a:pt x="52388" y="11727"/>
                      <a:pt x="52388" y="26194"/>
                    </a:cubicBezTo>
                    <a:lnTo>
                      <a:pt x="52388" y="34925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61219" y="5793581"/>
                <a:ext cx="87312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96044">
                    <a:moveTo>
                      <a:pt x="8731" y="0"/>
                    </a:moveTo>
                    <a:lnTo>
                      <a:pt x="78581" y="0"/>
                    </a:lnTo>
                    <a:cubicBezTo>
                      <a:pt x="83782" y="7793"/>
                      <a:pt x="86797" y="16839"/>
                      <a:pt x="87312" y="26194"/>
                    </a:cubicBezTo>
                    <a:lnTo>
                      <a:pt x="87312" y="52388"/>
                    </a:lnTo>
                    <a:cubicBezTo>
                      <a:pt x="87312" y="76498"/>
                      <a:pt x="67767" y="96044"/>
                      <a:pt x="43656" y="96044"/>
                    </a:cubicBezTo>
                    <a:cubicBezTo>
                      <a:pt x="19546" y="96044"/>
                      <a:pt x="0" y="76498"/>
                      <a:pt x="0" y="52388"/>
                    </a:cubicBezTo>
                    <a:lnTo>
                      <a:pt x="0" y="26194"/>
                    </a:lnTo>
                    <a:cubicBezTo>
                      <a:pt x="516" y="16839"/>
                      <a:pt x="3531" y="7793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26294" y="582850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48531" y="582850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04875" y="5837238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5238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5025" y="5863431"/>
                <a:ext cx="29250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2">
                    <a:moveTo>
                      <a:pt x="0" y="17462"/>
                    </a:moveTo>
                    <a:lnTo>
                      <a:pt x="2925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45475" y="5863431"/>
                <a:ext cx="29250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2">
                    <a:moveTo>
                      <a:pt x="29250" y="174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5025" y="577611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0" y="0"/>
                    </a:moveTo>
                    <a:lnTo>
                      <a:pt x="32742" y="20955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41983" y="577611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32742" y="0"/>
                    </a:moveTo>
                    <a:lnTo>
                      <a:pt x="0" y="20955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92518" y="5771674"/>
              <a:ext cx="114878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一条测试方法上的教训：变异检查（把缺陷植回去、断言必须失败）至今做了 </a:t>
              </a:r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33 次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，抓出 5 个真 bug + 6 处原型与真实契约的偏差 —— 其中一个是</a:t>
              </a:r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看截图看出来的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，断言当时是绿的。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0" grpId="0"/>
      <p:bldP spid="39" grpId="0"/>
      <p:bldP spid="51" grpId="0"/>
      <p:bldP spid="61" grpId="0"/>
      <p:bldP spid="7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190119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展望与结语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87609" y="667702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05 收获与展望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P35 / 35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6265" y="1524952"/>
            <a:ext cx="1177964" cy="4009073"/>
            <a:chOff x="596265" y="1524952"/>
            <a:chExt cx="1177964" cy="4009073"/>
          </a:xfrm>
        </p:grpSpPr>
        <p:sp>
          <p:nvSpPr>
            <p:cNvPr id="11" name="TextBox 11"/>
            <p:cNvSpPr txBox="1"/>
            <p:nvPr/>
          </p:nvSpPr>
          <p:spPr>
            <a:xfrm>
              <a:off x="596265" y="1524952"/>
              <a:ext cx="1177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V1.1 规划 · 六项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90600" y="1866900"/>
              <a:ext cx="9525" cy="3467100"/>
            </a:xfrm>
            <a:custGeom>
              <a:avLst/>
              <a:gdLst/>
              <a:ahLst/>
              <a:cxnLst/>
              <a:rect l="l" t="t" r="r" b="b"/>
              <a:pathLst>
                <a:path w="9525" h="3467100">
                  <a:moveTo>
                    <a:pt x="0" y="0"/>
                  </a:moveTo>
                  <a:lnTo>
                    <a:pt x="0" y="3467100"/>
                  </a:lnTo>
                </a:path>
              </a:pathLst>
            </a:custGeom>
            <a:noFill/>
            <a:ln w="19050">
              <a:gradFill>
                <a:gsLst>
                  <a:gs pos="0">
                    <a:srgbClr val="1565C0"/>
                  </a:gs>
                  <a:gs pos="100000">
                    <a:srgbClr val="93A1B0">
                      <a:alpha val="35000"/>
                    </a:srgbClr>
                  </a:gs>
                </a:gsLst>
                <a:lin ang="5400000" scaled="1"/>
              </a:gra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23925" y="18764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93A1B0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923925" y="258127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93A1B0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23925" y="32861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93A1B0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23925" y="399097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93A1B0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23925" y="46958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93A1B0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23925" y="540067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93A1B0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243012" y="1790700"/>
            <a:ext cx="3443288" cy="409575"/>
            <a:chOff x="1243012" y="1790700"/>
            <a:chExt cx="3443288" cy="409575"/>
          </a:xfrm>
        </p:grpSpPr>
        <p:sp>
          <p:nvSpPr>
            <p:cNvPr id="20" name="TextBox 20"/>
            <p:cNvSpPr txBox="1"/>
            <p:nvPr/>
          </p:nvSpPr>
          <p:spPr>
            <a:xfrm>
              <a:off x="1243012" y="180260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报告分享链接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590800" y="1790700"/>
              <a:ext cx="533400" cy="171450"/>
            </a:xfrm>
            <a:prstGeom prst="roundRect">
              <a:avLst>
                <a:gd name="adj" fmla="val 50000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683669" y="1833562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规划中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45870" y="2017395"/>
              <a:ext cx="34404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一条只读链接，外部可直接查看报告（带有效期与撤销）。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43012" y="2495550"/>
            <a:ext cx="3574733" cy="409575"/>
            <a:chOff x="1243012" y="2495550"/>
            <a:chExt cx="3574733" cy="409575"/>
          </a:xfrm>
        </p:grpSpPr>
        <p:sp>
          <p:nvSpPr>
            <p:cNvPr id="25" name="TextBox 25"/>
            <p:cNvSpPr txBox="1"/>
            <p:nvPr/>
          </p:nvSpPr>
          <p:spPr>
            <a:xfrm>
              <a:off x="1243012" y="2507456"/>
              <a:ext cx="21247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语音 / 视频面试与录音转写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505200" y="2495550"/>
              <a:ext cx="533400" cy="171450"/>
            </a:xfrm>
            <a:prstGeom prst="roundRect">
              <a:avLst>
                <a:gd name="adj" fmla="val 50000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98069" y="2538412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规划中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45870" y="2722245"/>
              <a:ext cx="3571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把作答从键盘输入扩展到语音通道，转写后进入同一套评估。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43012" y="3200400"/>
            <a:ext cx="3024188" cy="409575"/>
            <a:chOff x="1243012" y="3200400"/>
            <a:chExt cx="3024188" cy="409575"/>
          </a:xfrm>
        </p:grpSpPr>
        <p:sp>
          <p:nvSpPr>
            <p:cNvPr id="30" name="TextBox 30"/>
            <p:cNvSpPr txBox="1"/>
            <p:nvPr/>
          </p:nvSpPr>
          <p:spPr>
            <a:xfrm>
              <a:off x="1243012" y="3212306"/>
              <a:ext cx="24438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保留简历原文件与「回看原件」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733800" y="3200400"/>
              <a:ext cx="533400" cy="171450"/>
            </a:xfrm>
            <a:prstGeom prst="roundRect">
              <a:avLst>
                <a:gd name="adj" fmla="val 50000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26669" y="3243262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规划中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45870" y="342709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与之配套的还有存储清理策略与访问审计。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43012" y="3905250"/>
            <a:ext cx="3048953" cy="409575"/>
            <a:chOff x="1243012" y="3905250"/>
            <a:chExt cx="3048953" cy="409575"/>
          </a:xfrm>
        </p:grpSpPr>
        <p:sp>
          <p:nvSpPr>
            <p:cNvPr id="35" name="TextBox 35"/>
            <p:cNvSpPr txBox="1"/>
            <p:nvPr/>
          </p:nvSpPr>
          <p:spPr>
            <a:xfrm>
              <a:off x="1243012" y="3917156"/>
              <a:ext cx="14087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多候选人横向对比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590800" y="3905250"/>
              <a:ext cx="533400" cy="171450"/>
            </a:xfrm>
            <a:prstGeom prst="roundRect">
              <a:avLst>
                <a:gd name="adj" fmla="val 50000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683669" y="3948112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规划中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45870" y="4131945"/>
              <a:ext cx="3046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同一岗位下按评估维度并列，而不只是逐份报告看。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43012" y="4610100"/>
            <a:ext cx="3535299" cy="409575"/>
            <a:chOff x="1243012" y="4610100"/>
            <a:chExt cx="3535299" cy="409575"/>
          </a:xfrm>
        </p:grpSpPr>
        <p:sp>
          <p:nvSpPr>
            <p:cNvPr id="40" name="TextBox 40"/>
            <p:cNvSpPr txBox="1"/>
            <p:nvPr/>
          </p:nvSpPr>
          <p:spPr>
            <a:xfrm>
              <a:off x="1243012" y="4622006"/>
              <a:ext cx="11068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后端 PDF 生成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590800" y="4610100"/>
              <a:ext cx="533400" cy="171450"/>
            </a:xfrm>
            <a:prstGeom prst="roundRect">
              <a:avLst>
                <a:gd name="adj" fmla="val 50000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683669" y="4652962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规划中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45870" y="4836795"/>
              <a:ext cx="35324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脱离浏览器的批量导出 —— 补上当前只能浏览器打印的短板。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43012" y="5314950"/>
            <a:ext cx="3048953" cy="409575"/>
            <a:chOff x="1243012" y="5314950"/>
            <a:chExt cx="3048953" cy="409575"/>
          </a:xfrm>
        </p:grpSpPr>
        <p:sp>
          <p:nvSpPr>
            <p:cNvPr id="45" name="TextBox 45"/>
            <p:cNvSpPr txBox="1"/>
            <p:nvPr/>
          </p:nvSpPr>
          <p:spPr>
            <a:xfrm>
              <a:off x="1243012" y="5326856"/>
              <a:ext cx="22713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候选人端导出自己的脱敏反馈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733800" y="5314950"/>
              <a:ext cx="533400" cy="171450"/>
            </a:xfrm>
            <a:prstGeom prst="roundRect">
              <a:avLst>
                <a:gd name="adj" fmla="val 50000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826669" y="5357812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规划中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45870" y="5541645"/>
              <a:ext cx="3046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让反馈真正可以被带走，而不只是在系统里看一眼。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819900" y="1409700"/>
            <a:ext cx="4762500" cy="4533900"/>
            <a:chOff x="6819900" y="1409700"/>
            <a:chExt cx="4762500" cy="4533900"/>
          </a:xfrm>
        </p:grpSpPr>
        <p:sp>
          <p:nvSpPr>
            <p:cNvPr id="50" name="Rectangle 50"/>
            <p:cNvSpPr/>
            <p:nvPr/>
          </p:nvSpPr>
          <p:spPr>
            <a:xfrm>
              <a:off x="6819900" y="1409700"/>
              <a:ext cx="9525" cy="4533900"/>
            </a:xfrm>
            <a:prstGeom prst="rect">
              <a:avLst/>
            </a:prstGeom>
            <a:solidFill>
              <a:srgbClr val="DCE5EE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26618" y="16663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结语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16140" y="2244090"/>
              <a:ext cx="389640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把「出题工具」与「刷题 App」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16140" y="2606040"/>
              <a:ext cx="280606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简单拼装</a:t>
              </a:r>
              <a:r>
                <a:rPr lang="zh-CN" sz="18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区分开</a:t>
              </a:r>
              <a:r>
                <a:rPr lang="zh-CN" sz="18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的产品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24712" y="3193256"/>
              <a:ext cx="34297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简历由候选人单侧提交，同时驱动 HR 侧的补题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24712" y="3459956"/>
              <a:ext cx="3265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与候选人侧的推荐 —— 把原本互不相干的两端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24712" y="37266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缝成一个闭环。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7239000" y="41529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239000" y="4400550"/>
              <a:ext cx="457200" cy="381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22808" y="4643914"/>
              <a:ext cx="2408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AI 在其中始终扮演辅助角色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26618" y="4942999"/>
              <a:ext cx="30934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每一个 AI 产物都有人确认 —— HR 确认参考答案、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26618" y="5152549"/>
              <a:ext cx="2018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确认准备提纲、确认最终报告。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26618" y="5438299"/>
              <a:ext cx="31788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AI 负责把草稿摆到桌面上，决定权始终在人手里。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9" grpId="0"/>
      <p:bldP spid="34" grpId="0"/>
      <p:bldP spid="39" grpId="0"/>
      <p:bldP spid="44" grpId="0"/>
      <p:bldP spid="49" grpId="0"/>
      <p:bldP spid="6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